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2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3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4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5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6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3958c02ff064666" /><Relationship Type="http://schemas.openxmlformats.org/officeDocument/2006/relationships/extended-properties" Target="/docProps/app.xml" Id="R615632f85a754157" /><Relationship Type="http://schemas.openxmlformats.org/officeDocument/2006/relationships/officeDocument" Target="/ppt/presentation.xml" Id="R53e1972705e5468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f6213db29d54582"/>
  </p:sldMasterIdLst>
  <p:notesMasterIdLst>
    <p:notesMasterId xmlns:r="http://schemas.openxmlformats.org/officeDocument/2006/relationships" r:id="Rb8e5ccf52ad442f3"/>
  </p:notesMasterIdLst>
  <p:sldIdLst>
    <p:sldId xmlns:r="http://schemas.openxmlformats.org/officeDocument/2006/relationships" id="256" r:id="Ra26784be004e48e4"/>
    <p:sldId xmlns:r="http://schemas.openxmlformats.org/officeDocument/2006/relationships" id="257" r:id="Rb7133aa6debc4754"/>
    <p:sldId xmlns:r="http://schemas.openxmlformats.org/officeDocument/2006/relationships" id="258" r:id="R68481cc63e644b83"/>
    <p:sldId xmlns:r="http://schemas.openxmlformats.org/officeDocument/2006/relationships" id="259" r:id="R5ce607d6623641f2"/>
    <p:sldId xmlns:r="http://schemas.openxmlformats.org/officeDocument/2006/relationships" id="260" r:id="Rcbc91807f05d4848"/>
    <p:sldId xmlns:r="http://schemas.openxmlformats.org/officeDocument/2006/relationships" id="261" r:id="Rcaee506302414dd7"/>
    <p:sldId xmlns:r="http://schemas.openxmlformats.org/officeDocument/2006/relationships" id="262" r:id="R2f8c833397c8444e"/>
    <p:sldId xmlns:r="http://schemas.openxmlformats.org/officeDocument/2006/relationships" id="263" r:id="Re6bfbab865124ad4"/>
    <p:sldId xmlns:r="http://schemas.openxmlformats.org/officeDocument/2006/relationships" id="264" r:id="R2d5164ff80c4432f"/>
    <p:sldId xmlns:r="http://schemas.openxmlformats.org/officeDocument/2006/relationships" id="265" r:id="R03cf7faf4b234836"/>
    <p:sldId xmlns:r="http://schemas.openxmlformats.org/officeDocument/2006/relationships" id="266" r:id="R53ff91d8dc1543eb"/>
    <p:sldId xmlns:r="http://schemas.openxmlformats.org/officeDocument/2006/relationships" id="267" r:id="R4c3f7a792f4041be"/>
    <p:sldId xmlns:r="http://schemas.openxmlformats.org/officeDocument/2006/relationships" id="268" r:id="Rd5e0cb919f0b4e18"/>
    <p:sldId xmlns:r="http://schemas.openxmlformats.org/officeDocument/2006/relationships" id="269" r:id="R8864ae9e623e4140"/>
    <p:sldId xmlns:r="http://schemas.openxmlformats.org/officeDocument/2006/relationships" id="270" r:id="R418074b6a1ed4d6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9fd24c76acf49a1" /><Relationship Type="http://schemas.openxmlformats.org/officeDocument/2006/relationships/slideMaster" Target="/ppt/slideMasters/slideMaster1.xml" Id="Rff6213db29d54582" /><Relationship Type="http://schemas.openxmlformats.org/officeDocument/2006/relationships/notesMaster" Target="/ppt/notesMasters/notesMaster1.xml" Id="Rb8e5ccf52ad442f3" /><Relationship Type="http://schemas.openxmlformats.org/officeDocument/2006/relationships/presProps" Target="/ppt/presProps.xml" Id="Rf79b17833fe14e25" /><Relationship Type="http://schemas.openxmlformats.org/officeDocument/2006/relationships/tableStyles" Target="/ppt/tableStyles.xml" Id="R2b816e42ce77487e" /><Relationship Type="http://schemas.openxmlformats.org/officeDocument/2006/relationships/slide" Target="/ppt/slides/slide1.xml" Id="Ra26784be004e48e4" /><Relationship Type="http://schemas.openxmlformats.org/officeDocument/2006/relationships/slide" Target="/ppt/slides/slide2.xml" Id="Rb7133aa6debc4754" /><Relationship Type="http://schemas.openxmlformats.org/officeDocument/2006/relationships/slide" Target="/ppt/slides/slide3.xml" Id="R68481cc63e644b83" /><Relationship Type="http://schemas.openxmlformats.org/officeDocument/2006/relationships/slide" Target="/ppt/slides/slide4.xml" Id="R5ce607d6623641f2" /><Relationship Type="http://schemas.openxmlformats.org/officeDocument/2006/relationships/slide" Target="/ppt/slides/slide5.xml" Id="Rcbc91807f05d4848" /><Relationship Type="http://schemas.openxmlformats.org/officeDocument/2006/relationships/slide" Target="/ppt/slides/slide6.xml" Id="Rcaee506302414dd7" /><Relationship Type="http://schemas.openxmlformats.org/officeDocument/2006/relationships/slide" Target="/ppt/slides/slide7.xml" Id="R2f8c833397c8444e" /><Relationship Type="http://schemas.openxmlformats.org/officeDocument/2006/relationships/slide" Target="/ppt/slides/slide8.xml" Id="Re6bfbab865124ad4" /><Relationship Type="http://schemas.openxmlformats.org/officeDocument/2006/relationships/slide" Target="/ppt/slides/slide9.xml" Id="R2d5164ff80c4432f" /><Relationship Type="http://schemas.openxmlformats.org/officeDocument/2006/relationships/slide" Target="/ppt/slides/slide10.xml" Id="R03cf7faf4b234836" /><Relationship Type="http://schemas.openxmlformats.org/officeDocument/2006/relationships/slide" Target="/ppt/slides/slide11.xml" Id="R53ff91d8dc1543eb" /><Relationship Type="http://schemas.openxmlformats.org/officeDocument/2006/relationships/slide" Target="/ppt/slides/slide12.xml" Id="R4c3f7a792f4041be" /><Relationship Type="http://schemas.openxmlformats.org/officeDocument/2006/relationships/slide" Target="/ppt/slides/slide13.xml" Id="Rd5e0cb919f0b4e18" /><Relationship Type="http://schemas.openxmlformats.org/officeDocument/2006/relationships/slide" Target="/ppt/slides/slide14.xml" Id="R8864ae9e623e4140" /><Relationship Type="http://schemas.openxmlformats.org/officeDocument/2006/relationships/slide" Target="/ppt/slides/slide15.xml" Id="R418074b6a1ed4d6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79bef66c9ad4be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d557f599aa84b1c" /><Relationship Type="http://schemas.openxmlformats.org/officeDocument/2006/relationships/notesMaster" Target="/ppt/notesMasters/notesMaster1.xml" Id="R45db6f2b9416495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f89efbf719c4c51" /><Relationship Type="http://schemas.openxmlformats.org/officeDocument/2006/relationships/notesMaster" Target="/ppt/notesMasters/notesMaster1.xml" Id="Rf7460e88957d4fc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cc12a128fa94bbd" /><Relationship Type="http://schemas.openxmlformats.org/officeDocument/2006/relationships/notesMaster" Target="/ppt/notesMasters/notesMaster1.xml" Id="R9eb985e3b4c848e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143068197b34758" /><Relationship Type="http://schemas.openxmlformats.org/officeDocument/2006/relationships/notesMaster" Target="/ppt/notesMasters/notesMaster1.xml" Id="Rd7b1ebd7aa364e4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398baa540604085" /><Relationship Type="http://schemas.openxmlformats.org/officeDocument/2006/relationships/notesMaster" Target="/ppt/notesMasters/notesMaster1.xml" Id="R88301a55764647e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04aed8860c148be" /><Relationship Type="http://schemas.openxmlformats.org/officeDocument/2006/relationships/notesMaster" Target="/ppt/notesMasters/notesMaster1.xml" Id="R49395a84d65e4b0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1da0375c84d4eb3" /><Relationship Type="http://schemas.openxmlformats.org/officeDocument/2006/relationships/notesMaster" Target="/ppt/notesMasters/notesMaster1.xml" Id="Ra8c1cde63505419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bd76f9afa2e44c8" /><Relationship Type="http://schemas.openxmlformats.org/officeDocument/2006/relationships/notesMaster" Target="/ppt/notesMasters/notesMaster1.xml" Id="Rcfdb7e817b1f4ec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bec1541e9504ad8" /><Relationship Type="http://schemas.openxmlformats.org/officeDocument/2006/relationships/notesMaster" Target="/ppt/notesMasters/notesMaster1.xml" Id="Rdf4e45c1845d413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3b464bb74d74ca7" /><Relationship Type="http://schemas.openxmlformats.org/officeDocument/2006/relationships/notesMaster" Target="/ppt/notesMasters/notesMaster1.xml" Id="R845116f9cd9e4f1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2c0ea6ae6e244dc" /><Relationship Type="http://schemas.openxmlformats.org/officeDocument/2006/relationships/notesMaster" Target="/ppt/notesMasters/notesMaster1.xml" Id="R1a4170ec67a8478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d41b2a3d94a4b12" /><Relationship Type="http://schemas.openxmlformats.org/officeDocument/2006/relationships/notesMaster" Target="/ppt/notesMasters/notesMaster1.xml" Id="R0767a9a1090842f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a25aba511bf406a" /><Relationship Type="http://schemas.openxmlformats.org/officeDocument/2006/relationships/notesMaster" Target="/ppt/notesMasters/notesMaster1.xml" Id="R47b94439ede9436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ea6aa2af34b429c" /><Relationship Type="http://schemas.openxmlformats.org/officeDocument/2006/relationships/notesMaster" Target="/ppt/notesMasters/notesMaster1.xml" Id="R0aa8c94b619c430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c1c4703ff384eae" /><Relationship Type="http://schemas.openxmlformats.org/officeDocument/2006/relationships/notesMaster" Target="/ppt/notesMasters/notesMaster1.xml" Id="R22171abf533b431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第一部分：问题与直觉。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我们研究把虚拟机放到哪台物理服务器。原论文利用预计运行时间改善放置，我们重点研究预测不准时会发生什么。今天先讲直觉，再讲实验和改进。组员顺序为Zhang Qi、Zhang Saining、Zheng Yitao。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Original project presentation v3, slide 1</a:t>
            </a:r>
          </a:p>
          <a:p xmlns:a="http://schemas.openxmlformats.org/drawingml/2006/main">
            <a:r>
              <a:t>https://github.com/xxxmian/CE7490-P2_Revisiting_LAVA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第一部分：问题与直觉。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先区分host和VM。CPU和内存必须同时满足，空闲资源还可能被切碎。图中CPU已用50%、内存已用100%是明确标注的容量示例，不是实验测量。CPU还有空位但内存已满，新VM仍放不进去。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LAVA MLSys 2025, Section 2.3</a:t>
            </a:r>
          </a:p>
          <a:p xmlns:a="http://schemas.openxmlformats.org/drawingml/2006/main">
            <a:r>
              <a:t>Project report, Introduction and metric definition</a:t>
            </a:r>
          </a:p>
          <a:p xmlns:a="http://schemas.openxmlformats.org/drawingml/2006/main">
            <a:r>
              <a:t>Illustrative capacity data: CPU 50%, memory 100%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第一部分：问题与直觉。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Best-Fit只看CPU和内存是否放得下，并选剩余空间最紧的可行主机，不利用运行时间。这是基于项目VM资源形状(0.25 CPU,0.125 RAM)的定量示例。A原有3个同形状VM、B有1个、C有4个，CPU分别使用75%、25%、100%，内存都不是瓶颈。新VM在A后CPU刚好满；B虽然也能放，但剩余空间更多；C不能放。图不是实验trace。实际评分最小化CPU和内存剩余平方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configs/report_scale.json: VM shapes</a:t>
            </a:r>
          </a:p>
          <a:p xmlns:a="http://schemas.openxmlformats.org/drawingml/2006/main">
            <a:r>
              <a:t>lava_reproduction/lava/simulator.py: Best-Fit scoring</a:t>
            </a:r>
          </a:p>
          <a:p xmlns:a="http://schemas.openxmlformats.org/drawingml/2006/main">
            <a:r>
              <a:t>Illustrative capacity data derived from identical VM shapes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第一部分：问题与直觉。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同一批VM采用不同排法，可能较早空出整台机器。这里4个VM同时到达、资源形状均为0.5 CPU和0.25 RAM，因此每台主机最多2个。混放时两台各有1个短VM和1个长VM，会都忙到10小时；按离开时间分配后，短VM所在主机在1小时清空，另一台忙到10小时。图只比较1小时这个时点：混放时没有空主机，按离开时间放置时有1台空主机。它是明确条件下的定量示例，不是说LAVA只把同寿命VM放在一起。LAVA实际还把更短VM填入较长主机，并使用主机状态和重新预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Ling et al., LAVA, MLSys 2025, Sections 4.2-4.3</a:t>
            </a:r>
          </a:p>
          <a:p xmlns:a="http://schemas.openxmlformats.org/drawingml/2006/main">
            <a:r>
              <a:t>configs/report_scale.json: shape (0.5,0.25)</a:t>
            </a:r>
          </a:p>
          <a:p xmlns:a="http://schemas.openxmlformats.org/drawingml/2006/main">
            <a:r>
              <a:t>Illustrative simultaneous-arrival workload: durations 1,1,10,10 hours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第一部分：问题与直觉。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预测只有1小时，但实际运行100小时的VM会拖住主机。其他VM已经退出也没用，只剩它就足以阻止主机清空。LAVA会对误预测做自适应处理，但预测质量仍决定能得到多少收益。图中1和100小时只是机制示例。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LAVA MLSys 2025, adaptation to mispredictions</a:t>
            </a:r>
          </a:p>
          <a:p xmlns:a="http://schemas.openxmlformats.org/drawingml/2006/main">
            <a:r>
              <a:t>Illustrative example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第二部分：我们怎样实验，结果是什么。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个随机种子生成一个工作场景。所有算法面对相同请求和相同带噪预测，再按种子成对比较。这里用180台主机、每条2500个VM；主测试有100个全新种子1000–1099。主指标为空主机数量随时间的占比，包含最后一次到达之后的排空尾段。约20%的稳态负载和长尾段使绝对结果不能解释为生产节能率。原代码和真实trace均未恢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configs/report_scale.json</a:t>
            </a:r>
          </a:p>
          <a:p xmlns:a="http://schemas.openxmlformats.org/drawingml/2006/main">
            <a:r>
              <a:t>configs/improvement_protocol.json</a:t>
            </a:r>
          </a:p>
          <a:p xmlns:a="http://schemas.openxmlformats.org/drawingml/2006/main">
            <a:r>
              <a:t>results/improvement/test/manifest.json</a:t>
            </a:r>
          </a:p>
          <a:p xmlns:a="http://schemas.openxmlformats.org/drawingml/2006/main">
            <a:r>
              <a:t>All numerical comparisons are paired within the same random seed. Unit: percentage points of time-weighted empty-host share. Synthetic reconstruction; not production measurements.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第二部分：我们怎样实验，结果是什么。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页只使用100个全新测试场景，不混初始20个种子。accuracy是接近真实值的噪声分量所占比例，不是短长分类正确率，也不是每个预测都偏差某个百分比。25%下LAVA相对Best-Fit显著为负；100%明显为正。图显示均值。对应95%成对区间：25%: -0.18734072732881402 [-0.24007250848442785, -0.13460894617320018]; 50%: -0.02495588121948927 [-0.07725643485268986, 0.02734467241371132]; 75%: 0.2181133508529291 [0.16190859537697583, 0.27431810632888237]; 85%: 0.309254969992174 [0.24978838323698505, 0.36872155674736296]; 100%: 0.5070590768200469 [0.4446893922272242, 0.5694287614128697]。pp是空主机时间占比的百分点差，不是相对速度提升。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results/improvement/test/summary.json: policy=lava, baseline=best_fit, metric=empty_pct</a:t>
            </a:r>
          </a:p>
          <a:p xmlns:a="http://schemas.openxmlformats.org/drawingml/2006/main">
            <a:r>
              <a:t>Controlled-noise protocol: LAVA Appendix G.1</a:t>
            </a:r>
          </a:p>
          <a:p xmlns:a="http://schemas.openxmlformats.org/drawingml/2006/main">
            <a:r>
              <a:t>All numerical comparisons are paired within the same random seed. Unit: percentage points of time-weighted empty-host share. Synthetic reconstruction; not production measurements.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第二部分：我们怎样实验，结果是什么。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A表示confidence-aware。这里的confidence是预计剩余寿命所在类别的概率，不等于该VM的实际误差。阈值固定0.3。VM方式为每次到达选LAVA或Best-Fit，但共享主机；Host方式保持主机模式直到清空，只有没有任何同模式主机或空主机可放置才跨模式。图省略容量回退细节，实验中回退为0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lava/model.py: confidence calculation</a:t>
            </a:r>
          </a:p>
          <a:p xmlns:a="http://schemas.openxmlformats.org/drawingml/2006/main">
            <a:r>
              <a:t>lava/simulator.py: vm_ca and host_ca</a:t>
            </a:r>
          </a:p>
          <a:p xmlns:a="http://schemas.openxmlformats.org/drawingml/2006/main">
            <a:r>
              <a:t>Project report, confidence-aware routing mechanism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第二部分：我们怎样实验，结果是什么。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三点来自不同条件，不能混成一个实验。默认profile预测器：Interactive VM有88%概率在1小时内结束，但门控置信度只有0.092；Service却是0.364。受控噪声：99.96%–100%的请求通过0.3阈值，因此基本等于LAVA。隔离主机还损失装箱自由度；到达期少约0.99pp空主机，尾段仅补回约72%。默认预测器的Host-CA对Best-Fit为-0.0901124159590242 [-0.14667169983639552, -0.03355313208165287] pp，n=100。跨模式放置归零表明隔离机制按设计生效，但不代表整体收益改善。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results/improvement/test/summary.json: synthetic host_ca vs best_fit</a:t>
            </a:r>
          </a:p>
          <a:p xmlns:a="http://schemas.openxmlformats.org/drawingml/2006/main">
            <a:r>
              <a:t>results/improvement/gate_by_bucket.json</a:t>
            </a:r>
          </a:p>
          <a:p xmlns:a="http://schemas.openxmlformats.org/drawingml/2006/main">
            <a:r>
              <a:t>Project report: three diagnostic mechanisms</a:t>
            </a:r>
          </a:p>
          <a:p xmlns:a="http://schemas.openxmlformats.org/drawingml/2006/main">
            <a:r>
              <a:t>All numerical comparisons are paired within the same random seed. Unit: percentage points of time-weighted empty-host share. Synthetic reconstruction; not production measurements.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第三部分：改进方法、结果与限制。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300小时对通常很短的interactive VM很可疑，所以结合群体规律后回到1.52小时。这个例子用25%准确率和原项目相同噪声模型计算，原始预测器直接使用300小时，profile先验均值1.07小时。融合不是把所有预测截短：service VM的2小时观测也会被拉到约27小时。Bayes是把先验常识与当前证据结合。先验来自合成生成分布，这会成为结论限制。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lava/model.py: BayesPredictor</a:t>
            </a:r>
          </a:p>
          <a:p xmlns:a="http://schemas.openxmlformats.org/drawingml/2006/main">
            <a:r>
              <a:t>build_report.py: predict_pair("interactive","0.25",300.)</a:t>
            </a:r>
          </a:p>
          <a:p xmlns:a="http://schemas.openxmlformats.org/drawingml/2006/main">
            <a:r>
              <a:t>Figure example computed by original builder; rounded to 1.52 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第三部分：改进方法、结果与限制。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只讲运行中持续更新预测：原先估计过短，VM仍在运行时就要利用新证据重估。以下保留实现细节，汇报可不展开。运行到现在还没结束，本身就是新证据。336小时是预测上限。严格说，落到这个上限代表未截断的带噪观测至少336小时，并非确定真实寿命至少336小时，更不代表恰好336小时结束。这叫删失censoring：知道观测下界，不知道精确值。示例使用100%近准确噪声设置，原预测器在uptime300小时给36小时剩余，而融合预测给约151小时。151是模型估计，不是真实剩余时间，也不是所有VM的固定修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build_report.py: predict_pair("service","1.0",336.,300.)</a:t>
            </a:r>
          </a:p>
          <a:p xmlns:a="http://schemas.openxmlformats.org/drawingml/2006/main">
            <a:r>
              <a:t>lava/model.py: BayesPredictor censoring and uptime conditioning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第三部分：改进方法、结果与限制。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先在0–19种子开发，测试前将方法、阈值0.3、判定规则和代码哈希写入本地带时间记录的文件，再运行100个新场景。八个计划检验用Holm校正，不能只凭均值大于0宣布成功。对LAVA四个检验为0.25: 0.22432881678660663 [0.17352732682162114, 0.2751303067515921], Holm p=3.2716067461443057e-13; 0.5: 0.14667114680402804 [0.08814061313268129, 0.2052016804753748], Holm p=0.000013915499195045679; 0.75: 0.05363307829278227 [-0.0013488952051875641, 0.1086150517907521], Holm p=0.11155467465028561; 0.85: 0.08824763466648193 [0.03704201041567266, 0.1394532589172912], Holm p=0.0027365579646860525。对Best-Fit四个为0.25: 0.036988089457792625 [-0.011807740559829763, 0.08578391947541501], Holm p=0.13574668244188715; 0.5: 0.12171526558453877 [0.06378672190193595, 0.17964380926714157], Holm p=0.00026237318774533994; 0.75: 0.2717464291457114 [0.2169308044022407, 0.3265620538891821], Holm p=1.7394575879646581e-15; 0.85: 0.39750260465865594 [0.33793067363165935, 0.45707453568565254], Holm p=9.83850424092432e-23。相对两个基线各3/4，共6/8。75%对LAVA区间[-0.001,+0.109]跨0，Holm p约0.11，未证实；25%对Best-Fit+0.037也未证实。页面用四行概览相对LAVA的判定：25%、50%、85%为Better；75%为Not confirmed。3/4只针对相对LAVA这四个计划检验。相对Best-Fit在25%仍未证实。上述区间为未校正95%区间，判定使用Holm校正。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configs/improvement_protocol.json</a:t>
            </a:r>
          </a:p>
          <a:p xmlns:a="http://schemas.openxmlformats.org/drawingml/2006/main">
            <a:r>
              <a:t>results/improvement/test/summary.json: primary=true</a:t>
            </a:r>
          </a:p>
          <a:p xmlns:a="http://schemas.openxmlformats.org/drawingml/2006/main">
            <a:r>
              <a:t>Holm (1979), multiple-test correction</a:t>
            </a:r>
          </a:p>
          <a:p xmlns:a="http://schemas.openxmlformats.org/drawingml/2006/main">
            <a:r>
              <a:t>All numerical comparisons are paired within the same random seed. Unit: percentage points of time-weighted empty-host share. Synthetic reconstruction; not production measurements.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第三部分：改进方法、结果与限制。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是测试后的事后分解，不是预注册主结论。在使用融合估计之后，再加门控的变化约-0.018到+0.011pp，每个95%区间都跨0，半宽约0.05pp。因此证据更支持估计在起作用，但不能证明门控永远无效，也不能排除约0.05pp的影响。不要把没有显著差异说成完全等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results/improvement/test/raw.csv</a:t>
            </a:r>
          </a:p>
          <a:p xmlns:a="http://schemas.openxmlformats.org/drawingml/2006/main">
            <a:r>
              <a:t>build_report.py: posthoc("vm_ca_bayes","lava_bayes", setting)</a:t>
            </a:r>
          </a:p>
          <a:p xmlns:a="http://schemas.openxmlformats.org/drawingml/2006/main">
            <a:r>
              <a:t>Project report: post hoc decomposition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第三部分：改进方法、结果与限制。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当先验把长寿命系统性低估时，本来正确的长寿命观测可能被当成异常。先验均值乘0.5、85%准确率时，VM-CA-Bayes相对LAVA为-0.11580359171328183 [-0.19719956355554985, -0.0344076198710138]pp；相对Best-Fit仍为约+0.191pp。它是32个探索性稳健性单元格中唯一显著负值，没有多重校正，不能推广成所有低估都会失败。较轻的错误会缩小收益，更高到达负载可放大收益。现实需要从历史学习先验并检测漂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results/improvement/robust/summary.json: prior_means_x0.5, accuracy=0.85</a:t>
            </a:r>
          </a:p>
          <a:p xmlns:a="http://schemas.openxmlformats.org/drawingml/2006/main">
            <a:r>
              <a:t>Project report: threats to validity and robustness</a:t>
            </a:r>
          </a:p>
          <a:p xmlns:a="http://schemas.openxmlformats.org/drawingml/2006/main">
            <a:r>
              <a:t>All numerical comparisons are paired within the same random seed. Unit: percentage points of time-weighted empty-host share. Synthetic reconstruction; not production measurements.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第三部分：改进方法、结果与限制。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我们得到的是可复现的合成环境证据，不是生产集群提升比例。三点记忆：预测差会害LAVA；用置信度切换策略没有在这里解决问题；把常识放进预测本身，在四个计划对LAVA的检验中有三个成立。75%相对LAVA仍未证实，25%相对Best-Fit也未证实。后续需要用学习得到的先验和真实trace验证。全部代码、原始结果和报告在仓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https://github.com/xxxmian/CE7490-P2_Revisiting_LAVA</a:t>
            </a:r>
          </a:p>
          <a:p xmlns:a="http://schemas.openxmlformats.org/drawingml/2006/main">
            <a:r>
              <a:t>configs/improvement_protocol.json</a:t>
            </a:r>
          </a:p>
          <a:p xmlns:a="http://schemas.openxmlformats.org/drawingml/2006/main">
            <a:r>
              <a:t>results/improvement/test/summary.json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f81b12d65d44e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84d052f73c45e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c592da97e24cf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c8fc4a4c814f6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61e87ba56245f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f608bee6e7461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0601F3E-A1A0-497F-BB6D-B432CD2FB4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C226250D-2C65-479B-954F-A5CD5B9B189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D3FA1FA-0865-48B4-B7E5-EC11514231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0A24C6D-A775-43C5-AD7D-326F157BBDA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6CFFCD8-5B79-4846-8A8F-CCA9D055825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9D2E4C8-08E0-48A9-B185-C5104050A6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A40466C-0013-47D8-AF6E-E44397F6913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357022A-A1E7-4EA1-9A3A-EA43811CD41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F142610-3817-4704-BC4F-0C168439FA4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F23963B-FBE5-45F9-9360-906E21BB8A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5c3ed881de9462f" /><Relationship Type="http://schemas.openxmlformats.org/officeDocument/2006/relationships/slideLayout" Target="/ppt/slideLayouts/slideLayout1.xml" Id="R8884004a513647e6" /><Relationship Type="http://schemas.openxmlformats.org/officeDocument/2006/relationships/slideLayout" Target="/ppt/slideLayouts/slideLayout2.xml" Id="R3c31b009e9924dea" /><Relationship Type="http://schemas.openxmlformats.org/officeDocument/2006/relationships/slideLayout" Target="/ppt/slideLayouts/slideLayout3.xml" Id="R7261551b32d046d4" /><Relationship Type="http://schemas.openxmlformats.org/officeDocument/2006/relationships/slideLayout" Target="/ppt/slideLayouts/slideLayout4.xml" Id="Re0166977d1f54f8d" /><Relationship Type="http://schemas.openxmlformats.org/officeDocument/2006/relationships/slideLayout" Target="/ppt/slideLayouts/slideLayout5.xml" Id="R323da2d1c75c4664" /><Relationship Type="http://schemas.openxmlformats.org/officeDocument/2006/relationships/slideLayout" Target="/ppt/slideLayouts/slideLayout6.xml" Id="R96a77db93646425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884004a513647e6"/>
    <p:sldLayoutId xmlns:r="http://schemas.openxmlformats.org/officeDocument/2006/relationships" id="2147483650" r:id="R3c31b009e9924dea"/>
    <p:sldLayoutId xmlns:r="http://schemas.openxmlformats.org/officeDocument/2006/relationships" id="2147483651" r:id="R7261551b32d046d4"/>
    <p:sldLayoutId xmlns:r="http://schemas.openxmlformats.org/officeDocument/2006/relationships" id="2147483652" r:id="Re0166977d1f54f8d"/>
    <p:sldLayoutId xmlns:r="http://schemas.openxmlformats.org/officeDocument/2006/relationships" id="2147483653" r:id="R323da2d1c75c4664"/>
    <p:sldLayoutId xmlns:r="http://schemas.openxmlformats.org/officeDocument/2006/relationships" id="2147483654" r:id="R96a77db93646425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7973c56b374d6f" /><Relationship Type="http://schemas.openxmlformats.org/officeDocument/2006/relationships/image" Target="/ppt/media/image.png" Id="R2f6513b877eb401a" /><Relationship Type="http://schemas.openxmlformats.org/officeDocument/2006/relationships/notesSlide" Target="/ppt/notesSlides/notesSlide1.xml" Id="R878b9519c1c34ee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81925aef684672" /><Relationship Type="http://schemas.openxmlformats.org/officeDocument/2006/relationships/chart" Target="/ppt/slides/charts/chart1.xml" Id="R4075569aae254fbd" /><Relationship Type="http://schemas.openxmlformats.org/officeDocument/2006/relationships/notesSlide" Target="/ppt/notesSlides/notesSlide2.xml" Id="Ree865cb6848c4a1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12d40d97c5f4dcb" /><Relationship Type="http://schemas.openxmlformats.org/officeDocument/2006/relationships/chart" Target="/ppt/slides/charts/chart2.xml" Id="R91668b9cd8a44b87" /><Relationship Type="http://schemas.openxmlformats.org/officeDocument/2006/relationships/notesSlide" Target="/ppt/notesSlides/notesSlide3.xml" Id="R15134c2652c547b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aa617b3379d4d9d" /><Relationship Type="http://schemas.openxmlformats.org/officeDocument/2006/relationships/chart" Target="/ppt/slides/charts/chart3.xml" Id="Rb38422cb51404601" /><Relationship Type="http://schemas.openxmlformats.org/officeDocument/2006/relationships/notesSlide" Target="/ppt/notesSlides/notesSlide4.xml" Id="R638fd0c6b71545c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ae727cce19d460e" /><Relationship Type="http://schemas.openxmlformats.org/officeDocument/2006/relationships/chart" Target="/ppt/slides/charts/chart4.xml" Id="Re7b0ca78ac4542e2" /><Relationship Type="http://schemas.openxmlformats.org/officeDocument/2006/relationships/notesSlide" Target="/ppt/notesSlides/notesSlide5.xml" Id="R6192ba28269e481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e467800a4ae4bb2" /><Relationship Type="http://schemas.openxmlformats.org/officeDocument/2006/relationships/notesSlide" Target="/ppt/notesSlides/notesSlide6.xml" Id="R525396a7615e428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5effa57e8f4246" /><Relationship Type="http://schemas.openxmlformats.org/officeDocument/2006/relationships/chart" Target="/ppt/slides/charts/chart5.xml" Id="Rbb43b0b786134b1a" /><Relationship Type="http://schemas.openxmlformats.org/officeDocument/2006/relationships/notesSlide" Target="/ppt/notesSlides/notesSlide7.xml" Id="R44c55936920c48b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8d72c0c81094fd5" /><Relationship Type="http://schemas.openxmlformats.org/officeDocument/2006/relationships/notesSlide" Target="/ppt/notesSlides/notesSlide8.xml" Id="Rf00fac5736a6424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47a240c7684ae6" /><Relationship Type="http://schemas.openxmlformats.org/officeDocument/2006/relationships/notesSlide" Target="/ppt/notesSlides/notesSlide9.xml" Id="R5efd522dbd2a47f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d2625baa1f483b" /><Relationship Type="http://schemas.openxmlformats.org/officeDocument/2006/relationships/notesSlide" Target="/ppt/notesSlides/notesSlide10.xml" Id="R10b31018605a477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19d70e1099f4a9d" /><Relationship Type="http://schemas.openxmlformats.org/officeDocument/2006/relationships/chart" Target="/ppt/slides/charts/chart6.xml" Id="R0fb1318baa784410" /><Relationship Type="http://schemas.openxmlformats.org/officeDocument/2006/relationships/notesSlide" Target="/ppt/notesSlides/notesSlide11.xml" Id="Rd7105e970a1845e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c83ff578ddc4ce6" /><Relationship Type="http://schemas.openxmlformats.org/officeDocument/2006/relationships/notesSlide" Target="/ppt/notesSlides/notesSlide12.xml" Id="R941bf4abc38a412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1d415f6c5e4203" /><Relationship Type="http://schemas.openxmlformats.org/officeDocument/2006/relationships/notesSlide" Target="/ppt/notesSlides/notesSlide13.xml" Id="Rffd02044656c4e1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8e2e723a8d4bb8" /><Relationship Type="http://schemas.openxmlformats.org/officeDocument/2006/relationships/notesSlide" Target="/ppt/notesSlides/notesSlide14.xml" Id="R7619f631b6cc431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990054392be4d80" /><Relationship Type="http://schemas.openxmlformats.org/officeDocument/2006/relationships/notesSlide" Target="/ppt/notesSlides/notesSlide15.xml" Id="Rdc6dd819445c488f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chart-data-snapshot-005.xlsx"/></Relationships>
</file>

<file path=ppt/slides/charts/_rels/chart6.xml.rels><Relationships xmlns="http://schemas.openxmlformats.org/package/2006/relationships"><Relationship Id="rIdChartSnapshot1" Type="http://schemas.openxmlformats.org/officeDocument/2006/relationships/package" Target="../../embeddings/chart-data-snapshot-006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Used capacity</c:v>
          </c:tx>
          <c:spPr>
            <a:solidFill xmlns:a="http://schemas.openxmlformats.org/drawingml/2006/main">
              <a:srgbClr val="2F5D8A"/>
            </a:solidFill>
          </c:spPr>
          <c:invertIfNegative val="0"/>
          <c:dPt>
            <c:idx val="1"/>
            <c:invertIfNegative val="0"/>
            <c:spPr>
              <a:solidFill xmlns:a="http://schemas.openxmlformats.org/drawingml/2006/main">
                <a:srgbClr val="C46A1D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CPU used</c:v>
                </c:pt>
                <c:pt idx="1">
                  <c:v>Memory used</c:v>
                </c:pt>
              </c:strCache>
            </c:strRef>
          </c:cat>
          <c:val>
            <c:numRef>
              <c:f>'Chart Data'!$B$2:$B$3</c:f>
              <c:numCache>
                <c:formatCode>0"%"</c:formatCode>
                <c:ptCount val="2"/>
                <c:pt idx="0">
                  <c:v>50</c:v>
                </c:pt>
                <c:pt idx="1">
                  <c:v>100</c:v>
                </c:pt>
              </c:numCache>
            </c:numRef>
          </c:val>
        </c:ser>
        <c:dLbls>
          <c:numFmt formatCode="0&quot;%&quot;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233142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5A657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10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7DDE3"/>
              </a:solidFill>
              <a:prstDash val="solid"/>
            </a:ln>
          </c:spPr>
        </c:majorGridlines>
        <c:numFmt formatCode="0&quot;%&quot;"/>
        <c:majorTickMark val="none"/>
        <c:minorTickMark val="none"/>
        <c:spPr>
          <a:ln xmlns:a="http://schemas.openxmlformats.org/drawingml/2006/main" w="9525">
            <a:solidFill>
              <a:srgbClr val="5A657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25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stacked"/>
        <c:varyColors val="0"/>
        <c:ser>
          <c:idx val="0"/>
          <c:order val="0"/>
          <c:tx>
            <c:v>Existing VMs</c:v>
          </c:tx>
          <c:spPr>
            <a:solidFill xmlns:a="http://schemas.openxmlformats.org/drawingml/2006/main">
              <a:srgbClr val="2F5D8A"/>
            </a:solidFill>
          </c:spPr>
          <c:invertIfNegative val="0"/>
          <c:cat>
            <c:strRef>
              <c:f>'Chart Data'!$A$2:$A$4</c:f>
              <c:strCache>
                <c:ptCount val="3"/>
                <c:pt idx="0">
                  <c:v>Host A: chosen</c:v>
                </c:pt>
                <c:pt idx="1">
                  <c:v>Host B: more room</c:v>
                </c:pt>
                <c:pt idx="2">
                  <c:v>Host C: full</c:v>
                </c:pt>
              </c:strCache>
            </c:strRef>
          </c:cat>
          <c:val>
            <c:numRef>
              <c:f>'Chart Data'!$B$2:$B$4</c:f>
              <c:numCache>
                <c:formatCode>0"%"</c:formatCode>
                <c:ptCount val="3"/>
                <c:pt idx="0">
                  <c:v>75</c:v>
                </c:pt>
                <c:pt idx="1">
                  <c:v>25</c:v>
                </c:pt>
                <c:pt idx="2">
                  <c:v>100</c:v>
                </c:pt>
              </c:numCache>
            </c:numRef>
          </c:val>
        </c:ser>
        <c:ser>
          <c:idx val="1"/>
          <c:order val="1"/>
          <c:tx>
            <c:v>New VM</c:v>
          </c:tx>
          <c:spPr>
            <a:solidFill xmlns:a="http://schemas.openxmlformats.org/drawingml/2006/main">
              <a:srgbClr val="C46A1D"/>
            </a:solidFill>
          </c:spPr>
          <c:invertIfNegative val="0"/>
          <c:cat>
            <c:strRef>
              <c:f>'Chart Data'!$C$2:$C$4</c:f>
              <c:strCache>
                <c:ptCount val="3"/>
                <c:pt idx="0">
                  <c:v>Host A: chosen</c:v>
                </c:pt>
                <c:pt idx="1">
                  <c:v>Host B: more room</c:v>
                </c:pt>
                <c:pt idx="2">
                  <c:v>Host C: full</c:v>
                </c:pt>
              </c:strCache>
            </c:strRef>
          </c:cat>
          <c:val>
            <c:numRef>
              <c:f>'Chart Data'!$D$2:$D$4</c:f>
              <c:numCache>
                <c:formatCode>0"%"</c:formatCode>
                <c:ptCount val="3"/>
                <c:pt idx="0">
                  <c:v>25</c:v>
                </c:pt>
                <c:pt idx="1">
                  <c:v>25</c:v>
                </c:pt>
                <c:pt idx="2">
                  <c:v>0</c:v>
                </c:pt>
              </c:numCache>
            </c:numRef>
          </c:val>
        </c:ser>
        <c:ser>
          <c:idx val="2"/>
          <c:order val="2"/>
          <c:tx>
            <c:v>CPU left</c:v>
          </c:tx>
          <c:spPr>
            <a:solidFill xmlns:a="http://schemas.openxmlformats.org/drawingml/2006/main">
              <a:srgbClr val="DCE8F2"/>
            </a:solidFill>
          </c:spPr>
          <c:invertIfNegative val="0"/>
          <c:cat>
            <c:strRef>
              <c:f>'Chart Data'!$E$2:$E$4</c:f>
              <c:strCache>
                <c:ptCount val="3"/>
                <c:pt idx="0">
                  <c:v>Host A: chosen</c:v>
                </c:pt>
                <c:pt idx="1">
                  <c:v>Host B: more room</c:v>
                </c:pt>
                <c:pt idx="2">
                  <c:v>Host C: full</c:v>
                </c:pt>
              </c:strCache>
            </c:strRef>
          </c:cat>
          <c:val>
            <c:numRef>
              <c:f>'Chart Data'!$F$2:$F$4</c:f>
              <c:numCache>
                <c:formatCode>0"%"</c:formatCode>
                <c:ptCount val="3"/>
                <c:pt idx="0">
                  <c:v>0</c:v>
                </c:pt>
                <c:pt idx="1">
                  <c:v>50</c:v>
                </c:pt>
                <c:pt idx="2">
                  <c:v>0</c:v>
                </c:pt>
              </c:numCache>
            </c:numRef>
          </c:val>
        </c:ser>
        <c:dLbls>
          <c:numFmt formatCode="0&quot;%&quot;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233142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inEnd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0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5A657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10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7DDE3"/>
              </a:solidFill>
              <a:prstDash val="solid"/>
            </a:ln>
          </c:spPr>
        </c:majorGridlines>
        <c:numFmt formatCode="0&quot;%&quot;"/>
        <c:majorTickMark val="none"/>
        <c:minorTickMark val="none"/>
        <c:spPr>
          <a:ln xmlns:a="http://schemas.openxmlformats.org/drawingml/2006/main" w="9525">
            <a:solidFill>
              <a:srgbClr val="5A657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25"/>
      </c:valAx>
      <c:spPr>
        <a:noFill xmlns:a="http://schemas.openxmlformats.org/drawingml/2006/main"/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solidFill>
                <a:srgbClr val="233142"/>
              </a:solidFill>
              <a:latin typeface="Aptos"/>
              <a:ea typeface="Aptos"/>
              <a:cs typeface="Aptos"/>
            </a:defRPr>
          </a:pPr>
        </a:p>
      </c:txPr>
    </c:legend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Empty hosts</c:v>
          </c:tx>
          <c:spPr>
            <a:solidFill xmlns:a="http://schemas.openxmlformats.org/drawingml/2006/main">
              <a:srgbClr val="2F5D8A"/>
            </a:solidFill>
          </c:spPr>
          <c:invertIfNegative val="0"/>
          <c:dPt>
            <c:idx val="0"/>
            <c:invertIfNegative val="0"/>
            <c:spPr>
              <a:solidFill xmlns:a="http://schemas.openxmlformats.org/drawingml/2006/main">
                <a:srgbClr val="C46A1D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Mix short/long VMs</c:v>
                </c:pt>
                <c:pt idx="1">
                  <c:v>Use departure times</c:v>
                </c:pt>
              </c:strCache>
            </c:strRef>
          </c:cat>
          <c:val>
            <c:numRef>
              <c:f>'Chart Data'!$B$2:$B$3</c:f>
              <c:numCache>
                <c:formatCode>0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233142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5A657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1.1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7DDE3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5A6573"/>
                    </a:solidFill>
                    <a:latin typeface="Aptos"/>
                    <a:ea typeface="Aptos"/>
                    <a:cs typeface="Aptos"/>
                  </a:rPr>
                  <a:t>Empty hosts after 1 hour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5A6573"/>
                  </a:solidFill>
                  <a:latin typeface="Aptos"/>
                  <a:ea typeface="Aptos"/>
                  <a:cs typeface="Aptos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A657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1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Hours</c:v>
          </c:tx>
          <c:spPr>
            <a:solidFill xmlns:a="http://schemas.openxmlformats.org/drawingml/2006/main">
              <a:srgbClr val="2F5D8A"/>
            </a:solidFill>
          </c:spPr>
          <c:invertIfNegative val="0"/>
          <c:dPt>
            <c:idx val="1"/>
            <c:invertIfNegative val="0"/>
            <c:spPr>
              <a:solidFill xmlns:a="http://schemas.openxmlformats.org/drawingml/2006/main">
                <a:srgbClr val="C46A1D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Expected lifetime</c:v>
                </c:pt>
                <c:pt idx="1">
                  <c:v>Observed lifetime</c:v>
                </c:pt>
              </c:strCache>
            </c:strRef>
          </c:cat>
          <c:val>
            <c:numRef>
              <c:f>'Chart Data'!$B$2:$B$3</c:f>
              <c:numCache>
                <c:formatCode>0" h"</c:formatCode>
                <c:ptCount val="2"/>
                <c:pt idx="0">
                  <c:v>1</c:v>
                </c:pt>
                <c:pt idx="1">
                  <c:v>100</c:v>
                </c:pt>
              </c:numCache>
            </c:numRef>
          </c:val>
        </c:ser>
        <c:dLbls>
          <c:numFmt formatCode="0&quot; h&quot;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233142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5A657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105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7DDE3"/>
              </a:solidFill>
              <a:prstDash val="solid"/>
            </a:ln>
          </c:spPr>
        </c:majorGridlines>
        <c:numFmt formatCode="0&quot; h&quot;"/>
        <c:majorTickMark val="none"/>
        <c:minorTickMark val="none"/>
        <c:spPr>
          <a:ln xmlns:a="http://schemas.openxmlformats.org/drawingml/2006/main" w="9525">
            <a:solidFill>
              <a:srgbClr val="5A657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25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5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Marker"/>
        <c:varyColors val="0"/>
        <c:ser>
          <c:idx val="0"/>
          <c:order val="0"/>
          <c:tx>
            <c:v>LAVA</c:v>
          </c:tx>
          <c:spPr>
            <a:ln xmlns:a="http://schemas.openxmlformats.org/drawingml/2006/main" w="28575">
              <a:solidFill>
                <a:srgbClr val="173F70"/>
              </a:solidFill>
              <a:prstDash val="solid"/>
            </a:ln>
          </c:spPr>
          <c:marker>
            <c:symbol val="circle"/>
            <c:size val="10"/>
            <c:spPr>
              <a:solidFill xmlns:a="http://schemas.openxmlformats.org/drawingml/2006/main">
                <a:srgbClr val="173F70"/>
              </a:solidFill>
            </c:spPr>
          </c:marker>
          <c:xVal>
            <c:numRef>
              <c:f>'Chart Data'!$A$2:$A$6</c:f>
              <c:numCache>
                <c:formatCode>General</c:formatCode>
                <c:ptCount val="5"/>
                <c:pt idx="0">
                  <c:v>25</c:v>
                </c:pt>
                <c:pt idx="1">
                  <c:v>50</c:v>
                </c:pt>
                <c:pt idx="2">
                  <c:v>75</c:v>
                </c:pt>
                <c:pt idx="3">
                  <c:v>85</c:v>
                </c:pt>
                <c:pt idx="4">
                  <c:v>100</c:v>
                </c:pt>
              </c:numCache>
            </c:numRef>
          </c:xVal>
          <c:yVal>
            <c:numRef>
              <c:f>'Chart Data'!$B$2:$B$6</c:f>
              <c:numCache>
                <c:formatCode>+0.0;-0.0;0.0</c:formatCode>
                <c:ptCount val="5"/>
                <c:pt idx="0">
                  <c:v>-0.187341</c:v>
                </c:pt>
                <c:pt idx="1">
                  <c:v>-0.024956</c:v>
                </c:pt>
                <c:pt idx="2">
                  <c:v>0.218113</c:v>
                </c:pt>
                <c:pt idx="3">
                  <c:v>0.309255</c:v>
                </c:pt>
                <c:pt idx="4">
                  <c:v>0.507059</c:v>
                </c:pt>
              </c:numCache>
            </c:numRef>
          </c:y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6"/>
          <c:min val="-0.4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DE3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75">
                    <a:solidFill>
                      <a:srgbClr val="5A6573"/>
                    </a:solidFill>
                    <a:latin typeface="Aptos"/>
                    <a:ea typeface="Aptos"/>
                    <a:cs typeface="Aptos"/>
                  </a:rPr>
                  <a:t>Gain in empty-host time (pp)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>
                  <a:solidFill>
                    <a:srgbClr val="5A6573"/>
                  </a:solidFill>
                  <a:latin typeface="Aptos"/>
                  <a:ea typeface="Aptos"/>
                  <a:cs typeface="Aptos"/>
                </a:defRPr>
              </a:pPr>
            </a:p>
          </c:txPr>
        </c:title>
        <c:numFmt formatCode="+0.0;-0.0;0.0"/>
        <c:majorTickMark val="none"/>
        <c:minorTickMark val="none"/>
        <c:spPr>
          <a:ln xmlns:a="http://schemas.openxmlformats.org/drawingml/2006/main" w="9525">
            <a:solidFill>
              <a:srgbClr val="5A657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100"/>
          <c:min val="25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75">
                    <a:solidFill>
                      <a:srgbClr val="5A6573"/>
                    </a:solidFill>
                    <a:latin typeface="Aptos"/>
                    <a:ea typeface="Aptos"/>
                    <a:cs typeface="Aptos"/>
                  </a:rPr>
                  <a:t>Prediction accuracy (%)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>
                  <a:solidFill>
                    <a:srgbClr val="5A6573"/>
                  </a:solidFill>
                  <a:latin typeface="Aptos"/>
                  <a:ea typeface="Aptos"/>
                  <a:cs typeface="Apto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5A657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  <c:majorUnit val="25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6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Predicted hours remaining</c:v>
          </c:tx>
          <c:spPr>
            <a:solidFill xmlns:a="http://schemas.openxmlformats.org/drawingml/2006/main">
              <a:srgbClr val="7B8591"/>
            </a:solidFill>
          </c:spPr>
          <c:invertIfNegative val="0"/>
          <c:dPt>
            <c:idx val="1"/>
            <c:invertIfNegative val="0"/>
            <c:spPr>
              <a:solidFill xmlns:a="http://schemas.openxmlformats.org/drawingml/2006/main">
                <a:srgbClr val="2F5D8A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Treat cap as exact</c:v>
                </c:pt>
                <c:pt idx="1">
                  <c:v>Use cap information</c:v>
                </c:pt>
              </c:strCache>
            </c:strRef>
          </c:cat>
          <c:val>
            <c:numRef>
              <c:f>'Chart Data'!$B$2:$B$3</c:f>
              <c:numCache>
                <c:formatCode>0" h"</c:formatCode>
                <c:ptCount val="2"/>
                <c:pt idx="0">
                  <c:v>36</c:v>
                </c:pt>
                <c:pt idx="1">
                  <c:v>151</c:v>
                </c:pt>
              </c:numCache>
            </c:numRef>
          </c:val>
        </c:ser>
        <c:dLbls>
          <c:numFmt formatCode="0&quot; h&quot;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233142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5A657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18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7DDE3"/>
              </a:solidFill>
              <a:prstDash val="solid"/>
            </a:ln>
          </c:spPr>
        </c:majorGridlines>
        <c:numFmt formatCode="0&quot; h&quot;"/>
        <c:majorTickMark val="none"/>
        <c:minorTickMark val="none"/>
        <c:spPr>
          <a:ln xmlns:a="http://schemas.openxmlformats.org/drawingml/2006/main" w="9525">
            <a:solidFill>
              <a:srgbClr val="5A657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60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5B29A1-5944-47C4-B334-66CE8BB04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858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4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B8B486-C203-48FC-AC56-AB18F0554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595312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4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4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4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4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4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4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4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4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4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4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Revisiting Lifetime-Aware</a:t>
            </a:r>
          </a:p>
          <a:p xmlns:a="http://schemas.openxmlformats.org/drawingml/2006/main">
            <a:pPr algn="l">
              <a:buNone/>
              <a:defRPr sz="34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VM Allocation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49562F-8A3E-42C8-A019-53BDE9924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59531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3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3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3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3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3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3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3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3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3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How prediction quality changes</a:t>
            </a:r>
          </a:p>
          <a:p xmlns:a="http://schemas.openxmlformats.org/drawingml/2006/main">
            <a:pPr algn="l">
              <a:buNone/>
              <a:defRPr sz="23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server packing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5A39F3-7B1A-4049-B970-BD0D401C3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0425"/>
            <a:ext cx="595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Part 1  The problem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Part 2  What we tested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Part 3  Our improvement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19D436-E856-498D-981E-5DCD3D6F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5953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Course Project · 26S1 Group 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632BE5-D9B2-4A1D-A9D6-2D32A7ECA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5953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5A6573"/>
                </a:solidFill>
                <a:latin typeface="Aptos"/>
                <a:ea typeface="Aptos"/>
                <a:cs typeface="Aptos"/>
              </a:rPr>
              <a:t>Zhang Qi (G2510784F)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EC5DF2-187A-44A2-BCE8-4AC1BCB47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5953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573"/>
                </a:solidFill>
                <a:latin typeface="Aptos"/>
                <a:ea typeface="Aptos"/>
                <a:cs typeface="Aptos"/>
              </a:rPr>
              <a:t>qi015@e.ntu.edu.sg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F873DE-AF32-4EBA-A6EF-93C43A2F6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10200"/>
            <a:ext cx="5953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5A6573"/>
                </a:solidFill>
                <a:latin typeface="Aptos"/>
                <a:ea typeface="Aptos"/>
                <a:cs typeface="Aptos"/>
              </a:rPr>
              <a:t>Zhang Saining (G2511061H)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DDA403-AFD1-473B-9067-99BA8699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5953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573"/>
                </a:solidFill>
                <a:latin typeface="Aptos"/>
                <a:ea typeface="Aptos"/>
                <a:cs typeface="Aptos"/>
              </a:rPr>
              <a:t>saining002@e.ntu.edu.sg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4456A9-D47C-427C-BE18-2A29C4D3C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5953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5A6573"/>
                </a:solidFill>
                <a:latin typeface="Aptos"/>
                <a:ea typeface="Aptos"/>
                <a:cs typeface="Aptos"/>
              </a:rPr>
              <a:t>Zheng Yitao (G2608664B)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F7995A-BEDB-4AB3-894A-73B90A2B7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5953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573"/>
                </a:solidFill>
                <a:latin typeface="Aptos"/>
                <a:ea typeface="Aptos"/>
                <a:cs typeface="Aptos"/>
              </a:rPr>
              <a:t>YZHENG056@e.ntu.edu.sg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235B5A-733B-48FA-9F07-62C1FEADA78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6513b877eb401a"/>
          <a:stretch xmlns:a="http://schemas.openxmlformats.org/drawingml/2006/main"/>
        </p:blipFill>
        <p:spPr>
          <a:xfrm xmlns:a="http://schemas.openxmlformats.org/drawingml/2006/main">
            <a:off x="7164731" y="1647825"/>
            <a:ext cx="4682437" cy="34099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215725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1C68AC-0FBC-4512-886B-A6CB91EC1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VMs need CPU and memory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B35F3E-35EC-4798-BDE3-84ECE6E55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E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C17988-D7CE-4A15-8B79-9FA4CE4BB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· 26S1 Group 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4D7DE1-2A9C-445B-8C48-4FB8C9785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8652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BDA814-8B3B-4765-A977-FC2B74D6B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581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VM = a small virtual computer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8E0455-AA8C-492F-AC83-F9E466F5B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571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0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0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0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0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0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0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0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0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0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233142"/>
                </a:solidFill>
                <a:latin typeface="Aptos"/>
                <a:ea typeface="Aptos"/>
                <a:cs typeface="Aptos"/>
              </a:rPr>
              <a:t>Host = the physical server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233142"/>
                </a:solidFill>
                <a:latin typeface="Aptos"/>
                <a:ea typeface="Aptos"/>
                <a:cs typeface="Aptos"/>
              </a:rPr>
              <a:t>that runs several VMs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88D21B-2866-43E5-9CFA-168122F16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5619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A new VM needs both CPU and memory.</a:t>
            </a:r>
          </a:p>
          <a:p xmlns:a="http://schemas.openxmlformats.org/drawingml/2006/main">
            <a:pPr algn="l">
              <a:buNone/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Free CPU alone is not enough.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F36136-20AD-4C2E-A738-4C11AC7EC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743075"/>
            <a:ext cx="476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A full-memory example</a:t>
            </a:r>
          </a:p>
        </p:txBody>
      </p:sp>
      <p:graphicFrame>
        <p:nvGraphicFramePr>
          <p:cNvPr id="9" name="Chart">
            <a:extLst xmlns:a="http://schemas.openxmlformats.org/drawingml/2006/main">
              <a:ext uri="{FF2B5EF4-FFF2-40B4-BE49-F238E27FC236}">
                <a16:creationId xmlns:a16="http://schemas.microsoft.com/office/drawing/2014/main" id="{717277AE-6D81-406A-8FA5-EEAD01FC8AD1}"/>
              </a:ext>
            </a:extLst>
          </p:cNvPr>
          <p:cNvGraphicFramePr/>
          <p:nvPr/>
        </p:nvGraphicFramePr>
        <p:xfrm>
          <a:off xmlns:a="http://schemas.openxmlformats.org/drawingml/2006/main" x="6619875" y="2286000"/>
          <a:ext xmlns:a="http://schemas.openxmlformats.org/drawingml/2006/main" cx="495300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075569aae254fb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2CA5CC-A1E4-4D0D-807E-451321FA1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372100"/>
            <a:ext cx="457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Illustrative capacity values</a:t>
            </a:r>
          </a:p>
        </p:txBody>
      </p:sp>
      <p:sp>
        <p:nvSpPr>
          <p:cNvPr id="12" name="simple-PART 1  THE PROBLEM">
            <a:extLst xmlns:a="http://schemas.openxmlformats.org/drawingml/2006/main">
              <a:ext uri="{FF2B5EF4-FFF2-40B4-BE49-F238E27FC236}">
                <a16:creationId xmlns:a16="http://schemas.microsoft.com/office/drawing/2014/main" id="{3F3E5FA0-C0BB-4704-B624-E5239A968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"/>
            <a:ext cx="108204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PART 1  THE PROBLEM</a:t>
            </a:r>
          </a:p>
        </p:txBody>
      </p:sp>
    </p:spTree>
    <p:extLst>
      <p:ext uri="{BB962C8B-B14F-4D97-AF65-F5344CB8AC3E}">
        <p14:creationId xmlns:p14="http://schemas.microsoft.com/office/powerpoint/2010/main" val="205623823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3DDE07-771D-4530-A1A3-5F7C5E4B5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Best-Fit packs VMs tightly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9F1E43-B653-4DAC-826E-9AE2C2204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820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>
                <a:solidFill>
                  <a:srgbClr val="5A6573"/>
                </a:solidFill>
                <a:latin typeface="Aptos"/>
                <a:ea typeface="Aptos"/>
                <a:cs typeface="Aptos"/>
              </a:rPr>
              <a:t>Best-Fit is our starting point for comparison.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03E938-7D5B-4C0C-9153-2814DBC67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E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F1771F-6B6A-45EF-9BBC-C5C0F6485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· 26S1 Group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0FB36C-280C-44B6-B43D-B54EABED0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8652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3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7EABBA-4B22-449A-93F9-716A179FC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02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02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02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02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02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02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02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02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02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C46A1D"/>
                </a:solidFill>
                <a:latin typeface="Aptos"/>
                <a:ea typeface="Aptos"/>
                <a:cs typeface="Aptos"/>
              </a:rPr>
              <a:t>New VM: 25% CPU and 12.5% memory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B735184E-0FE3-4BF9-96CB-B97667D18777}"/>
              </a:ext>
            </a:extLst>
          </p:cNvPr>
          <p:cNvGraphicFramePr/>
          <p:nvPr/>
        </p:nvGraphicFramePr>
        <p:xfrm>
          <a:off xmlns:a="http://schemas.openxmlformats.org/drawingml/2006/main" x="685800" y="2619375"/>
          <a:ext xmlns:a="http://schemas.openxmlformats.org/drawingml/2006/main" cx="10820400" cy="2809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1668b9cd8a44b87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59A17B-5F17-4CA8-8E01-BDFEE8F71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A fits tightly. C has no CPU space left.</a:t>
            </a:r>
          </a:p>
        </p:txBody>
      </p:sp>
      <p:sp>
        <p:nvSpPr>
          <p:cNvPr id="10" name="simple-PART 1  THE PROBLEM">
            <a:extLst xmlns:a="http://schemas.openxmlformats.org/drawingml/2006/main">
              <a:ext uri="{FF2B5EF4-FFF2-40B4-BE49-F238E27FC236}">
                <a16:creationId xmlns:a16="http://schemas.microsoft.com/office/drawing/2014/main" id="{80CDC68E-27E4-4649-B944-93130586B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"/>
            <a:ext cx="108204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PART 1  THE PROBLEM</a:t>
            </a:r>
          </a:p>
        </p:txBody>
      </p:sp>
    </p:spTree>
    <p:extLst>
      <p:ext uri="{BB962C8B-B14F-4D97-AF65-F5344CB8AC3E}">
        <p14:creationId xmlns:p14="http://schemas.microsoft.com/office/powerpoint/2010/main" val="82372962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4A9CD0-3461-4376-8281-7880A599A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LAVA uses expected departure times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3B49D7-E87B-4B55-A247-B544EF8EF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820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>
                <a:solidFill>
                  <a:srgbClr val="5A6573"/>
                </a:solidFill>
                <a:latin typeface="Aptos"/>
                <a:ea typeface="Aptos"/>
                <a:cs typeface="Aptos"/>
              </a:rPr>
              <a:t>LAVA means Lifetime-Aware VM Allocation.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4BDD9A-E5F9-4338-9C2E-5E599B4AC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E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1199EF-7945-4AEF-B21B-A263EF72C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· 26S1 Group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FB822A-EF96-4834-BE20-0CE6B5795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8652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4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41B2C0-2EEC-4AF8-8669-F43B62D0E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71675"/>
            <a:ext cx="107632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Four VMs: two run for 1 h, two for 10 h. Each host fits two.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6DBEE076-16A4-438A-928E-19392A48F898}"/>
              </a:ext>
            </a:extLst>
          </p:cNvPr>
          <p:cNvGraphicFramePr/>
          <p:nvPr/>
        </p:nvGraphicFramePr>
        <p:xfrm>
          <a:off xmlns:a="http://schemas.openxmlformats.org/drawingml/2006/main" x="685800" y="2724150"/>
          <a:ext xmlns:a="http://schemas.openxmlformats.org/drawingml/2006/main" cx="10820400" cy="26289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38422cb51404601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20864E-DF51-4C06-ADCD-EB997A47D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Similar departure times can empty a host earlier.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B476E7-A94B-48EA-ACC2-031CC7221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86450"/>
            <a:ext cx="10668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Illustrative data, not the full LAVA rule. LAVA also uses host states and re-prediction.</a:t>
            </a:r>
          </a:p>
        </p:txBody>
      </p:sp>
      <p:sp>
        <p:nvSpPr>
          <p:cNvPr id="11" name="simple-PART 1  THE PROBLEM">
            <a:extLst xmlns:a="http://schemas.openxmlformats.org/drawingml/2006/main">
              <a:ext uri="{FF2B5EF4-FFF2-40B4-BE49-F238E27FC236}">
                <a16:creationId xmlns:a16="http://schemas.microsoft.com/office/drawing/2014/main" id="{B08EB7A7-1887-4E28-9CB1-530A9A147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"/>
            <a:ext cx="108204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PART 1  THE PROBLEM</a:t>
            </a:r>
          </a:p>
        </p:txBody>
      </p:sp>
    </p:spTree>
    <p:extLst>
      <p:ext uri="{BB962C8B-B14F-4D97-AF65-F5344CB8AC3E}">
        <p14:creationId xmlns:p14="http://schemas.microsoft.com/office/powerpoint/2010/main" val="48384273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5B8634-0262-41A9-8636-FAC2A916B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Wrong predictions keep hosts busy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55767D-4317-413E-90BC-1FF00EA3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820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>
                <a:solidFill>
                  <a:srgbClr val="5A6573"/>
                </a:solidFill>
                <a:latin typeface="Aptos"/>
                <a:ea typeface="Aptos"/>
                <a:cs typeface="Aptos"/>
              </a:rPr>
              <a:t>One long-running VM can keep the host busy.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D9B845-45DD-4BDB-816C-5D0359C44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E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87D945-9C8A-41A0-93CE-CEDDAA046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· 26S1 Group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91A0E0-30D1-4340-8528-43FA3B7F2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8652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5 / 15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506C6EDC-8E71-44F5-8110-64395F2A6A40}"/>
              </a:ext>
            </a:extLst>
          </p:cNvPr>
          <p:cNvGraphicFramePr/>
          <p:nvPr/>
        </p:nvGraphicFramePr>
        <p:xfrm>
          <a:off xmlns:a="http://schemas.openxmlformats.org/drawingml/2006/main" x="685800" y="2400300"/>
          <a:ext xmlns:a="http://schemas.openxmlformats.org/drawingml/2006/main" cx="108204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7b0ca78ac4542e2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F9F945-7206-4136-BA41-A9E3D3150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05425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The host remains occupied much longer than expected.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3F23CF-42F9-46BB-9852-D8ED1B79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Illustrative example, not an experimental trace</a:t>
            </a:r>
          </a:p>
        </p:txBody>
      </p:sp>
      <p:sp>
        <p:nvSpPr>
          <p:cNvPr id="10" name="simple-PART 1  THE PROBLEM">
            <a:extLst xmlns:a="http://schemas.openxmlformats.org/drawingml/2006/main">
              <a:ext uri="{FF2B5EF4-FFF2-40B4-BE49-F238E27FC236}">
                <a16:creationId xmlns:a16="http://schemas.microsoft.com/office/drawing/2014/main" id="{887F91F8-B7D2-4E33-843B-C70F8CF07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"/>
            <a:ext cx="108204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PART 1  THE PROBLEM</a:t>
            </a:r>
          </a:p>
        </p:txBody>
      </p:sp>
    </p:spTree>
    <p:extLst>
      <p:ext uri="{BB962C8B-B14F-4D97-AF65-F5344CB8AC3E}">
        <p14:creationId xmlns:p14="http://schemas.microsoft.com/office/powerpoint/2010/main" val="43927665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EC50AE-3E9B-46D9-8076-F42A1C593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Give every method the same workload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7548D0-CA2D-4BB9-8E3E-7F3BFA926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820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>
                <a:solidFill>
                  <a:srgbClr val="5A6573"/>
                </a:solidFill>
                <a:latin typeface="Aptos"/>
                <a:ea typeface="Aptos"/>
                <a:cs typeface="Aptos"/>
              </a:rPr>
              <a:t>Every method gets the same requests and predictions.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39714C-8D24-46C9-A76B-6065DCED0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E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416020-E6FD-481B-8CE3-09BDCD08F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· 26S1 Group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7A4713-AAD9-4443-800D-7A3F3F775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8652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6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EDA960-2DBC-4BE7-BF3F-304C897D2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295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Same requests</a:t>
            </a:r>
          </a:p>
          <a:p xmlns:a="http://schemas.openxmlformats.org/drawingml/2006/main">
            <a: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and predictions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4251DE-0ADE-4BAB-A7E3-8EC4E962C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952625"/>
            <a:ext cx="5524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Best-Fit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CF322E-8777-47F4-A80E-2018F5A93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5717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E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D52283-7DCA-47DE-9E9C-C294CAF44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905125"/>
            <a:ext cx="5524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LAVA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A5DCFE-85E0-4556-87AE-4CAD5578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5242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E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EF54A6-4173-4608-BB01-5E2A70C2B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857625"/>
            <a:ext cx="5524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LAVA with our improvement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265FE5-10D7-4DA6-848E-F90E6D325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0"/>
            <a:ext cx="323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33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180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818144-7F15-4DC3-93FA-7C1310151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323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physical hosts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2B1EFD-5D87-4E99-9E7E-A7BDC0E6F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667250"/>
            <a:ext cx="323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33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2,500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17BD2A-DEDA-456B-BEEA-0F2C4DA95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5286375"/>
            <a:ext cx="323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VMs per workload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BE9830-DF86-4490-9B1E-46FAA8390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667250"/>
            <a:ext cx="323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33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100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ACC75D-9CC6-4E58-90E8-3EC0393DE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286375"/>
            <a:ext cx="323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new test workloads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0D78B8-03C5-42ED-9FB8-5454D3860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1502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Goal: keep more hosts empty, while accepting every VM.</a:t>
            </a:r>
          </a:p>
        </p:txBody>
      </p:sp>
      <p:sp>
        <p:nvSpPr>
          <p:cNvPr id="20" name="simple-PART 2  WHAT WE TESTED">
            <a:extLst xmlns:a="http://schemas.openxmlformats.org/drawingml/2006/main">
              <a:ext uri="{FF2B5EF4-FFF2-40B4-BE49-F238E27FC236}">
                <a16:creationId xmlns:a16="http://schemas.microsoft.com/office/drawing/2014/main" id="{0EB0BBD5-6830-4365-9168-1D27DAA2E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"/>
            <a:ext cx="108204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PART 2  WHAT WE TESTED</a:t>
            </a:r>
          </a:p>
        </p:txBody>
      </p:sp>
    </p:spTree>
    <p:extLst>
      <p:ext uri="{BB962C8B-B14F-4D97-AF65-F5344CB8AC3E}">
        <p14:creationId xmlns:p14="http://schemas.microsoft.com/office/powerpoint/2010/main" val="2438046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49B67D-78CD-44D5-B445-C2FF7AFB4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Poor predictions can make LAVA worse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46127D-C403-421E-BF34-5B71E032D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820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>
                <a:solidFill>
                  <a:srgbClr val="5A6573"/>
                </a:solidFill>
                <a:latin typeface="Aptos"/>
                <a:ea typeface="Aptos"/>
                <a:cs typeface="Aptos"/>
              </a:rPr>
              <a:t>Gain over Best-Fit on 100 new test workloads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532491-4E29-4E3F-91FA-1A5B229E5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E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89924A-8766-4AFB-87EA-46C7341D2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· 26S1 Group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8E0FB1-4D87-4AE0-9EBD-1FCB0DC30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8652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7 / 15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3292739B-5772-496C-8944-C366C2F5DC5B}"/>
              </a:ext>
            </a:extLst>
          </p:cNvPr>
          <p:cNvGraphicFramePr/>
          <p:nvPr/>
        </p:nvGraphicFramePr>
        <p:xfrm>
          <a:off xmlns:a="http://schemas.openxmlformats.org/drawingml/2006/main" x="685800" y="2057400"/>
          <a:ext xmlns:a="http://schemas.openxmlformats.org/drawingml/2006/main" cx="7905750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b43b0b786134b1a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C80095-D5CC-433E-B1B1-CD4486168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38375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5A6573"/>
                </a:solidFill>
                <a:latin typeface="Aptos"/>
                <a:ea typeface="Aptos"/>
                <a:cs typeface="Aptos"/>
              </a:rPr>
              <a:t>25% accuracy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2BA2F6-A158-4053-8EBC-F2BD23180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64795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9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9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9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9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9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9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9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9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9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9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pPr>
            <a:r>
              <a:rPr sz="2925" b="1">
                <a:solidFill>
                  <a:srgbClr val="A23D39"/>
                </a:solidFill>
                <a:latin typeface="Aptos"/>
                <a:ea typeface="Aptos"/>
                <a:cs typeface="Aptos"/>
              </a:rPr>
              <a:t>-0.187 pp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EB3257-3974-4E8C-92C7-6241BBECA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800475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5A6573"/>
                </a:solidFill>
                <a:latin typeface="Aptos"/>
                <a:ea typeface="Aptos"/>
                <a:cs typeface="Aptos"/>
              </a:rPr>
              <a:t>100% accuracy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4900FF-F761-43F6-ADF2-5CE39CDB2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21005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925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925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925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925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925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925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925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925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925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925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pPr>
            <a:r>
              <a:rPr sz="2925" b="1">
                <a:solidFill>
                  <a:srgbClr val="3D7F5B"/>
                </a:solidFill>
                <a:latin typeface="Aptos"/>
                <a:ea typeface="Aptos"/>
                <a:cs typeface="Aptos"/>
              </a:rPr>
              <a:t>+0.507 pp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DE2733-4778-42CA-8A5D-CBDBAD3A9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5A6573"/>
                </a:solidFill>
                <a:latin typeface="Aptos"/>
                <a:ea typeface="Aptos"/>
                <a:cs typeface="Aptos"/>
              </a:rPr>
              <a:t>Accuracy = probability of a near-correct estimate in this controlled test.</a:t>
            </a:r>
          </a:p>
          <a:p xmlns:a="http://schemas.openxmlformats.org/drawingml/2006/main">
            <a:pPr algn="l">
              <a:buNone/>
              <a:defRPr sz="150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5A6573"/>
                </a:solidFill>
                <a:latin typeface="Aptos"/>
                <a:ea typeface="Aptos"/>
                <a:cs typeface="Aptos"/>
              </a:rPr>
              <a:t>pp: 10.0% to 10.2% empty-host time is +0.2 percentage points.</a:t>
            </a:r>
          </a:p>
        </p:txBody>
      </p:sp>
      <p:sp>
        <p:nvSpPr>
          <p:cNvPr id="13" name="simple-PART 2  WHAT WE TESTED">
            <a:extLst xmlns:a="http://schemas.openxmlformats.org/drawingml/2006/main">
              <a:ext uri="{FF2B5EF4-FFF2-40B4-BE49-F238E27FC236}">
                <a16:creationId xmlns:a16="http://schemas.microsoft.com/office/drawing/2014/main" id="{7E078AC8-0216-41C6-90C6-8736C53CF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"/>
            <a:ext cx="108204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PART 2  WHAT WE TESTED</a:t>
            </a:r>
          </a:p>
        </p:txBody>
      </p:sp>
    </p:spTree>
    <p:extLst>
      <p:ext uri="{BB962C8B-B14F-4D97-AF65-F5344CB8AC3E}">
        <p14:creationId xmlns:p14="http://schemas.microsoft.com/office/powerpoint/2010/main" val="197282016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2B096F-4C3C-4FB0-AE68-B492F3A9E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Use confidence to choose a rule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57E040-38A5-49AB-B2DC-821AB2BDE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820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>
                <a:solidFill>
                  <a:srgbClr val="5A6573"/>
                </a:solidFill>
                <a:latin typeface="Aptos"/>
                <a:ea typeface="Aptos"/>
                <a:cs typeface="Aptos"/>
              </a:rPr>
              <a:t>Confidence = probability of the estimated lifetime group.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0ECCCB-7F02-455B-9E57-4EC05E549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E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1C3A23-45B9-4972-AA40-A61A997AF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· 26S1 Group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13C1D5-5EC8-4940-A914-DB98D490E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8652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8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2D1E6A-AA4D-436B-AC8D-F8166BC8C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High confidence: use LAVA. Low confidence: use Best-Fit.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5D4C82-038C-419E-9F76-D2EA7D3AD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76575"/>
            <a:ext cx="457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VM-level routing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5FF923-17EC-4A0F-AF87-C48AC0BC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076575"/>
            <a:ext cx="457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Host-level routing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5DEE04-4707-4136-9F04-BF24E96FF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57600"/>
            <a:ext cx="457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Each arrival chooses a rule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E3B646-1931-467B-9EBA-EE669CB63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657600"/>
            <a:ext cx="457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Each arrival chooses a pool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F6792E-EAA0-4621-99BB-0DACBC684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91025"/>
            <a:ext cx="457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LAVA or Best-Fit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A06E0C-53E9-49C6-BA6D-B77B4A531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72050"/>
            <a:ext cx="457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3B3716-BA2F-4444-AE1E-FF29E2B3E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86375"/>
            <a:ext cx="457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One shared set of hosts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62F0C0-7AC1-42B6-B0A3-C6769373D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391025"/>
            <a:ext cx="457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C46A1D"/>
                </a:solidFill>
                <a:latin typeface="Aptos"/>
                <a:ea typeface="Aptos"/>
                <a:cs typeface="Aptos"/>
              </a:rPr>
              <a:t>LAVA pool or Best-Fit pool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6FC2A9-391E-4F98-B554-1DE75BA82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972050"/>
            <a:ext cx="457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E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8E3E2E-B1EC-411E-BE58-9E44374DA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5286375"/>
            <a:ext cx="457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Keep the two modes separate</a:t>
            </a:r>
          </a:p>
        </p:txBody>
      </p:sp>
      <p:sp>
        <p:nvSpPr>
          <p:cNvPr id="18" name="simple-PART 2  WHAT WE TESTED">
            <a:extLst xmlns:a="http://schemas.openxmlformats.org/drawingml/2006/main">
              <a:ext uri="{FF2B5EF4-FFF2-40B4-BE49-F238E27FC236}">
                <a16:creationId xmlns:a16="http://schemas.microsoft.com/office/drawing/2014/main" id="{B61F5104-A90E-4B0B-9A3A-F61DD1DF8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"/>
            <a:ext cx="108204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PART 2  WHAT WE TESTED</a:t>
            </a:r>
          </a:p>
        </p:txBody>
      </p:sp>
    </p:spTree>
    <p:extLst>
      <p:ext uri="{BB962C8B-B14F-4D97-AF65-F5344CB8AC3E}">
        <p14:creationId xmlns:p14="http://schemas.microsoft.com/office/powerpoint/2010/main" val="168421356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C4C6A1-A3F4-4F44-832C-C079FDDC6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Confidence routing did not help here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C771F7-4A9F-4899-B7BC-C70D1AF5C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E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611A00-31B0-48A1-8377-95C30305D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· 26S1 Group 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A17288-5642-4A98-833F-47DCA471C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8652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8F26B1-7837-4E9A-A7D7-D9BA5B7B1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9545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9B9D36-1C9C-4BC9-B27F-9764AC76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685925"/>
            <a:ext cx="9906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Confidence can be misleading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DD05DA-CD32-4CF8-A73D-6B01F92C6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133600"/>
            <a:ext cx="9715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A usually short-lived profile gets low confidence.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87B49A-64FA-473B-9894-342E39E12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D99D9A-8342-4E20-B65F-1D7D35BEA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886075"/>
            <a:ext cx="9906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Almost every request can pass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D4D366-A465-4088-B33A-874BBC7D1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333750"/>
            <a:ext cx="9715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Under controlled noise, almost every request passes.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D61988-90D0-477B-BB25-FEB557E32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9575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1F1F89-32DB-40CB-A707-003903537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086225"/>
            <a:ext cx="9906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Separate pools waste room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1CCF9C-4E39-47DE-8CE3-4EC0FAA7F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33900"/>
            <a:ext cx="9715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An empty slot in the other pool may go unused.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DCF20E-DA56-4C24-A655-7BFC93595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5950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0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0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0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0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0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0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0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0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0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A23D39"/>
                </a:solidFill>
                <a:latin typeface="Aptos"/>
                <a:ea typeface="Aptos"/>
                <a:cs typeface="Aptos"/>
              </a:rPr>
              <a:t>Host-CA minus Best-Fit: -0.090 pp (default predictor)</a:t>
            </a:r>
          </a:p>
        </p:txBody>
      </p:sp>
      <p:sp>
        <p:nvSpPr>
          <p:cNvPr id="16" name="simple-PART 2  WHAT WE TESTED">
            <a:extLst xmlns:a="http://schemas.openxmlformats.org/drawingml/2006/main">
              <a:ext uri="{FF2B5EF4-FFF2-40B4-BE49-F238E27FC236}">
                <a16:creationId xmlns:a16="http://schemas.microsoft.com/office/drawing/2014/main" id="{A65C7817-B80C-4617-9F8F-E1BD0FE63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"/>
            <a:ext cx="108204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PART 2  WHAT WE TESTED</a:t>
            </a:r>
          </a:p>
        </p:txBody>
      </p:sp>
    </p:spTree>
    <p:extLst>
      <p:ext uri="{BB962C8B-B14F-4D97-AF65-F5344CB8AC3E}">
        <p14:creationId xmlns:p14="http://schemas.microsoft.com/office/powerpoint/2010/main" val="123832465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DC11C2-61A9-4A3B-AE3B-067B39ABA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Combine the estimate with usual behavior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732AB0-7E93-4852-8FF5-8DB97B29C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820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>
                <a:solidFill>
                  <a:srgbClr val="5A6573"/>
                </a:solidFill>
                <a:latin typeface="Aptos"/>
                <a:ea typeface="Aptos"/>
                <a:cs typeface="Aptos"/>
              </a:rPr>
              <a:t>Use usual VM behavior to check a new estimate.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8F9C71-6871-4FFE-BC3B-849660A64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E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AD746F-C41A-496C-B16D-EE26A5E09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· 26S1 Group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C76173-AD74-493F-84D1-5672538A7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8652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10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013C02-E849-48CE-884C-E14AF8F97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342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Usual behavior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C98409-F00C-45D8-B560-F3063737A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38375"/>
            <a:ext cx="342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The noisy estimate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DEE667-E596-4D87-887E-698D79EAE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38375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Updated estimate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8B8ADF-BDB5-43B9-8412-BB2226E3D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575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This profile is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usually short-lived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DC5438-DCFF-44C4-BACB-4E239B830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19425"/>
            <a:ext cx="276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9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9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9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9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9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9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9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9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9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9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9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pPr>
            <a:r>
              <a:rPr sz="3975" b="1">
                <a:solidFill>
                  <a:srgbClr val="C46A1D"/>
                </a:solidFill>
                <a:latin typeface="Aptos"/>
                <a:ea typeface="Aptos"/>
                <a:cs typeface="Aptos"/>
              </a:rPr>
              <a:t>300 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641346-E334-4218-B7D4-B9FE48025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019425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9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9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9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9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9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9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9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9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9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9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9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39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1.52 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39AFDB-02E2-474B-9302-BC4F057F7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19575"/>
            <a:ext cx="5238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Typical profile mean: 1.07 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C57FC2-3635-41C9-9D94-DDF3F26E4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95900"/>
            <a:ext cx="10668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We improve the estimate. We keep the same scheduling rules.</a:t>
            </a:r>
          </a:p>
        </p:txBody>
      </p:sp>
      <p:sp>
        <p:nvSpPr>
          <p:cNvPr id="15" name="simple-PART 3  OUR IMPROVEMENT">
            <a:extLst xmlns:a="http://schemas.openxmlformats.org/drawingml/2006/main">
              <a:ext uri="{FF2B5EF4-FFF2-40B4-BE49-F238E27FC236}">
                <a16:creationId xmlns:a16="http://schemas.microsoft.com/office/drawing/2014/main" id="{EF90F9FF-5950-49EA-96FB-0FE4B0EC6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"/>
            <a:ext cx="108204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PART 3  OUR IMPROVEMENT</a:t>
            </a:r>
          </a:p>
        </p:txBody>
      </p:sp>
    </p:spTree>
    <p:extLst>
      <p:ext uri="{BB962C8B-B14F-4D97-AF65-F5344CB8AC3E}">
        <p14:creationId xmlns:p14="http://schemas.microsoft.com/office/powerpoint/2010/main" val="161232450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D31470-1305-49C1-A5EF-9DD70064D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Keep updating while the VM runs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200D5B-067A-4278-AE83-3B1B8868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820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>
                <a:solidFill>
                  <a:srgbClr val="5A6573"/>
                </a:solidFill>
                <a:latin typeface="Aptos"/>
                <a:ea typeface="Aptos"/>
                <a:cs typeface="Aptos"/>
              </a:rPr>
              <a:t>A running VM gives us new information.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DCC4E1-03FC-4349-BC3E-BDD85784E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· 26S1 Group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E81F68-2747-43AA-9897-FE0EB15C2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8652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11 / 15</a:t>
            </a:r>
          </a:p>
        </p:txBody>
      </p:sp>
      <p:sp>
        <p:nvSpPr>
          <p:cNvPr id="11" name="simple-PART 3  OUR IMPROVEMENT">
            <a:extLst xmlns:a="http://schemas.openxmlformats.org/drawingml/2006/main">
              <a:ext uri="{FF2B5EF4-FFF2-40B4-BE49-F238E27FC236}">
                <a16:creationId xmlns:a16="http://schemas.microsoft.com/office/drawing/2014/main" id="{0DC9ED99-A813-4173-BBCF-967602EE3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"/>
            <a:ext cx="108204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PART 3  OUR IMPROVEMENT</a:t>
            </a:r>
          </a:p>
        </p:txBody>
      </p:sp>
      <p:sp>
        <p:nvSpPr>
          <p:cNvPr id="12" name="simple-The VM is still running.">
            <a:extLst xmlns:a="http://schemas.openxmlformats.org/drawingml/2006/main">
              <a:ext uri="{FF2B5EF4-FFF2-40B4-BE49-F238E27FC236}">
                <a16:creationId xmlns:a16="http://schemas.microsoft.com/office/drawing/2014/main" id="{6843741D-62F8-43A7-A6BE-44342E065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9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29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29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29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29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29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29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29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29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29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9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292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The VM is still running.</a:t>
            </a:r>
          </a:p>
        </p:txBody>
      </p:sp>
      <p:sp>
        <p:nvSpPr>
          <p:cNvPr id="13" name="simple-It has already lasted lo">
            <a:extLst xmlns:a="http://schemas.openxmlformats.org/drawingml/2006/main">
              <a:ext uri="{FF2B5EF4-FFF2-40B4-BE49-F238E27FC236}">
                <a16:creationId xmlns:a16="http://schemas.microsoft.com/office/drawing/2014/main" id="{9AD36C5C-5F33-4CD2-881F-6C1C7A16D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10668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3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3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3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3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3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3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3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3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3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It has already lasted longer than expected.</a:t>
            </a:r>
          </a:p>
        </p:txBody>
      </p:sp>
      <p:sp>
        <p:nvSpPr>
          <p:cNvPr id="14" name="simple-Update its predicted tim">
            <a:extLst xmlns:a="http://schemas.openxmlformats.org/drawingml/2006/main">
              <a:ext uri="{FF2B5EF4-FFF2-40B4-BE49-F238E27FC236}">
                <a16:creationId xmlns:a16="http://schemas.microsoft.com/office/drawing/2014/main" id="{15764AD9-6033-4030-93FE-8943C081E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27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27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27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27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27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27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27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27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27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Update its predicted time left.</a:t>
            </a:r>
          </a:p>
        </p:txBody>
      </p:sp>
      <p:sp>
        <p:nvSpPr>
          <p:cNvPr id="15" name="simple-Keep learning while the ">
            <a:extLst xmlns:a="http://schemas.openxmlformats.org/drawingml/2006/main">
              <a:ext uri="{FF2B5EF4-FFF2-40B4-BE49-F238E27FC236}">
                <a16:creationId xmlns:a16="http://schemas.microsoft.com/office/drawing/2014/main" id="{2B29492A-18AC-4711-9964-C7EEB23CA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67375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Keep learning while the VM runs.</a:t>
            </a:r>
          </a:p>
        </p:txBody>
      </p:sp>
    </p:spTree>
    <p:extLst>
      <p:ext uri="{BB962C8B-B14F-4D97-AF65-F5344CB8AC3E}">
        <p14:creationId xmlns:p14="http://schemas.microsoft.com/office/powerpoint/2010/main" val="63698997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7FC7A4A-37B4-4B91-8FAB-2DF2680FF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Better than LAVA in 3 of 4 tests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23DBA7-A22D-4307-8CE5-6B43E059B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820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>
                <a:solidFill>
                  <a:srgbClr val="5A6573"/>
                </a:solidFill>
                <a:latin typeface="Aptos"/>
                <a:ea typeface="Aptos"/>
                <a:cs typeface="Aptos"/>
              </a:rPr>
              <a:t>Our improved estimate, using the same scheduling rules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347D82-28C8-43FC-BB54-5A7204475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· 26S1 Group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6112A4-8DC8-4CAB-A071-944389A4C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8652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12 / 15</a:t>
            </a:r>
          </a:p>
        </p:txBody>
      </p:sp>
      <p:sp>
        <p:nvSpPr>
          <p:cNvPr id="68" name="simple-PART 3  OUR IMPROVEMENT">
            <a:extLst xmlns:a="http://schemas.openxmlformats.org/drawingml/2006/main">
              <a:ext uri="{FF2B5EF4-FFF2-40B4-BE49-F238E27FC236}">
                <a16:creationId xmlns:a16="http://schemas.microsoft.com/office/drawing/2014/main" id="{CF780BF9-3C07-497C-8616-C03A35AFC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"/>
            <a:ext cx="108204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PART 3  OUR IMPROVEMENT</a:t>
            </a:r>
          </a:p>
        </p:txBody>
      </p:sp>
      <p:sp>
        <p:nvSpPr>
          <p:cNvPr id="69" name="simple-3 of 4">
            <a:extLst xmlns:a="http://schemas.openxmlformats.org/drawingml/2006/main">
              <a:ext uri="{FF2B5EF4-FFF2-40B4-BE49-F238E27FC236}">
                <a16:creationId xmlns:a16="http://schemas.microsoft.com/office/drawing/2014/main" id="{BEB2AC92-AE5B-443E-9CB6-1F64AF981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14575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5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5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5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5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5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5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5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5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5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5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5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5250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3 of 4</a:t>
            </a:r>
          </a:p>
        </p:txBody>
      </p:sp>
      <p:sp>
        <p:nvSpPr>
          <p:cNvPr id="70" name="simple-tests improved over LAVA">
            <a:extLst xmlns:a="http://schemas.openxmlformats.org/drawingml/2006/main">
              <a:ext uri="{FF2B5EF4-FFF2-40B4-BE49-F238E27FC236}">
                <a16:creationId xmlns:a16="http://schemas.microsoft.com/office/drawing/2014/main" id="{4D0245F9-1037-427F-B348-8E87B2695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476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tests improved over LAVA</a:t>
            </a:r>
          </a:p>
        </p:txBody>
      </p:sp>
      <p:sp>
        <p:nvSpPr>
          <p:cNvPr id="71" name="simple-100 new test workloads">
            <a:extLst xmlns:a="http://schemas.openxmlformats.org/drawingml/2006/main">
              <a:ext uri="{FF2B5EF4-FFF2-40B4-BE49-F238E27FC236}">
                <a16:creationId xmlns:a16="http://schemas.microsoft.com/office/drawing/2014/main" id="{4E8E21E9-5EA3-4995-B381-565AF1B76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38675"/>
            <a:ext cx="476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100 new test workloads</a:t>
            </a:r>
          </a:p>
        </p:txBody>
      </p:sp>
      <p:sp>
        <p:nvSpPr>
          <p:cNvPr id="72" name="simple-25%">
            <a:extLst xmlns:a="http://schemas.openxmlformats.org/drawingml/2006/main">
              <a:ext uri="{FF2B5EF4-FFF2-40B4-BE49-F238E27FC236}">
                <a16:creationId xmlns:a16="http://schemas.microsoft.com/office/drawing/2014/main" id="{C77CB020-06B0-4C1B-956B-6B0FCE7FA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19325"/>
            <a:ext cx="142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25%</a:t>
            </a:r>
          </a:p>
        </p:txBody>
      </p:sp>
      <p:sp>
        <p:nvSpPr>
          <p:cNvPr id="73" name="simple-Better">
            <a:extLst xmlns:a="http://schemas.openxmlformats.org/drawingml/2006/main">
              <a:ext uri="{FF2B5EF4-FFF2-40B4-BE49-F238E27FC236}">
                <a16:creationId xmlns:a16="http://schemas.microsoft.com/office/drawing/2014/main" id="{E3DD2847-273F-4968-A4D8-4B21E49E5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219325"/>
            <a:ext cx="3076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defPPr>
            <a:lvl1pPr algn="l">
              <a:defRPr sz="2250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1pPr>
            <a:lvl2pPr algn="l">
              <a:defRPr sz="2250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2pPr>
            <a:lvl3pPr algn="l">
              <a:defRPr sz="2250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3pPr>
            <a:lvl4pPr algn="l">
              <a:defRPr sz="2250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4pPr>
            <a:lvl5pPr algn="l">
              <a:defRPr sz="2250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5pPr>
            <a:lvl6pPr algn="l">
              <a:defRPr sz="2250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6pPr>
            <a:lvl7pPr algn="l">
              <a:defRPr sz="2250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7pPr>
            <a:lvl8pPr algn="l">
              <a:defRPr sz="2250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8pPr>
            <a:lvl9pPr algn="l">
              <a:defRPr sz="2250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D7F5B"/>
                </a:solidFill>
                <a:latin typeface="Aptos"/>
                <a:ea typeface="Aptos"/>
                <a:cs typeface="Aptos"/>
              </a:rPr>
              <a:t>Better</a:t>
            </a:r>
          </a:p>
        </p:txBody>
      </p:sp>
      <p:sp>
        <p:nvSpPr>
          <p:cNvPr id="74" name="simple-50%">
            <a:extLst xmlns:a="http://schemas.openxmlformats.org/drawingml/2006/main">
              <a:ext uri="{FF2B5EF4-FFF2-40B4-BE49-F238E27FC236}">
                <a16:creationId xmlns:a16="http://schemas.microsoft.com/office/drawing/2014/main" id="{C6848868-7912-407B-BCD7-4A4D1CB99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19425"/>
            <a:ext cx="142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50%</a:t>
            </a:r>
          </a:p>
        </p:txBody>
      </p:sp>
      <p:sp>
        <p:nvSpPr>
          <p:cNvPr id="75" name="simple-Better">
            <a:extLst xmlns:a="http://schemas.openxmlformats.org/drawingml/2006/main">
              <a:ext uri="{FF2B5EF4-FFF2-40B4-BE49-F238E27FC236}">
                <a16:creationId xmlns:a16="http://schemas.microsoft.com/office/drawing/2014/main" id="{7334A5E4-FAEB-4D73-AB7A-C0D010414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019425"/>
            <a:ext cx="3076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defPPr>
            <a:lvl1pPr algn="l">
              <a:defRPr sz="2250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1pPr>
            <a:lvl2pPr algn="l">
              <a:defRPr sz="2250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2pPr>
            <a:lvl3pPr algn="l">
              <a:defRPr sz="2250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3pPr>
            <a:lvl4pPr algn="l">
              <a:defRPr sz="2250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4pPr>
            <a:lvl5pPr algn="l">
              <a:defRPr sz="2250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5pPr>
            <a:lvl6pPr algn="l">
              <a:defRPr sz="2250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6pPr>
            <a:lvl7pPr algn="l">
              <a:defRPr sz="2250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7pPr>
            <a:lvl8pPr algn="l">
              <a:defRPr sz="2250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8pPr>
            <a:lvl9pPr algn="l">
              <a:defRPr sz="2250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D7F5B"/>
                </a:solidFill>
                <a:latin typeface="Aptos"/>
                <a:ea typeface="Aptos"/>
                <a:cs typeface="Aptos"/>
              </a:rPr>
              <a:t>Better</a:t>
            </a:r>
          </a:p>
        </p:txBody>
      </p:sp>
      <p:sp>
        <p:nvSpPr>
          <p:cNvPr id="76" name="simple-75%">
            <a:extLst xmlns:a="http://schemas.openxmlformats.org/drawingml/2006/main">
              <a:ext uri="{FF2B5EF4-FFF2-40B4-BE49-F238E27FC236}">
                <a16:creationId xmlns:a16="http://schemas.microsoft.com/office/drawing/2014/main" id="{D8EDC6AA-90F3-44EC-9571-00A211879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19525"/>
            <a:ext cx="142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75%</a:t>
            </a:r>
          </a:p>
        </p:txBody>
      </p:sp>
      <p:sp>
        <p:nvSpPr>
          <p:cNvPr id="77" name="simple-Not confirmed">
            <a:extLst xmlns:a="http://schemas.openxmlformats.org/drawingml/2006/main">
              <a:ext uri="{FF2B5EF4-FFF2-40B4-BE49-F238E27FC236}">
                <a16:creationId xmlns:a16="http://schemas.microsoft.com/office/drawing/2014/main" id="{6B4501F5-A37F-468B-A9B4-B35A672FB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819525"/>
            <a:ext cx="3076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225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225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225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225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225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225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225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225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225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5A6573"/>
                </a:solidFill>
                <a:latin typeface="Aptos"/>
                <a:ea typeface="Aptos"/>
                <a:cs typeface="Aptos"/>
              </a:rPr>
              <a:t>Not confirmed</a:t>
            </a:r>
          </a:p>
        </p:txBody>
      </p:sp>
      <p:sp>
        <p:nvSpPr>
          <p:cNvPr id="78" name="simple-85%">
            <a:extLst xmlns:a="http://schemas.openxmlformats.org/drawingml/2006/main">
              <a:ext uri="{FF2B5EF4-FFF2-40B4-BE49-F238E27FC236}">
                <a16:creationId xmlns:a16="http://schemas.microsoft.com/office/drawing/2014/main" id="{46D8DB6D-01C6-4F73-B90F-55D8B9C1A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19625"/>
            <a:ext cx="142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85%</a:t>
            </a:r>
          </a:p>
        </p:txBody>
      </p:sp>
      <p:sp>
        <p:nvSpPr>
          <p:cNvPr id="79" name="simple-Better">
            <a:extLst xmlns:a="http://schemas.openxmlformats.org/drawingml/2006/main">
              <a:ext uri="{FF2B5EF4-FFF2-40B4-BE49-F238E27FC236}">
                <a16:creationId xmlns:a16="http://schemas.microsoft.com/office/drawing/2014/main" id="{F30ABC45-D9EF-4141-8716-3CB8C00FD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619625"/>
            <a:ext cx="3076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defPPr>
            <a:lvl1pPr algn="l">
              <a:defRPr sz="2250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1pPr>
            <a:lvl2pPr algn="l">
              <a:defRPr sz="2250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2pPr>
            <a:lvl3pPr algn="l">
              <a:defRPr sz="2250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3pPr>
            <a:lvl4pPr algn="l">
              <a:defRPr sz="2250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4pPr>
            <a:lvl5pPr algn="l">
              <a:defRPr sz="2250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5pPr>
            <a:lvl6pPr algn="l">
              <a:defRPr sz="2250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6pPr>
            <a:lvl7pPr algn="l">
              <a:defRPr sz="2250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7pPr>
            <a:lvl8pPr algn="l">
              <a:defRPr sz="2250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8pPr>
            <a:lvl9pPr algn="l">
              <a:defRPr sz="2250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D7F5B"/>
                </a:solidFill>
                <a:latin typeface="Aptos"/>
                <a:ea typeface="Aptos"/>
                <a:cs typeface="Aptos"/>
              </a:rPr>
              <a:t>Better</a:t>
            </a:r>
          </a:p>
        </p:txBody>
      </p:sp>
      <p:sp>
        <p:nvSpPr>
          <p:cNvPr id="80" name="simple-At 25%, improvement over">
            <a:extLst xmlns:a="http://schemas.openxmlformats.org/drawingml/2006/main">
              <a:ext uri="{FF2B5EF4-FFF2-40B4-BE49-F238E27FC236}">
                <a16:creationId xmlns:a16="http://schemas.microsoft.com/office/drawing/2014/main" id="{439231D0-04EA-48E4-BA8E-722B0C562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57875"/>
            <a:ext cx="10820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At 25%, improvement over Best-Fit remains unconfirmed.</a:t>
            </a:r>
          </a:p>
        </p:txBody>
      </p:sp>
    </p:spTree>
    <p:extLst>
      <p:ext uri="{BB962C8B-B14F-4D97-AF65-F5344CB8AC3E}">
        <p14:creationId xmlns:p14="http://schemas.microsoft.com/office/powerpoint/2010/main" val="108140749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EAF7E2-9A62-4DB2-BCBA-1BEB63057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Better estimates seem to matter most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79E49D-BB06-4A63-AD17-75AE444E0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820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>
                <a:solidFill>
                  <a:srgbClr val="5A6573"/>
                </a:solidFill>
                <a:latin typeface="Aptos"/>
                <a:ea typeface="Aptos"/>
                <a:cs typeface="Aptos"/>
              </a:rPr>
              <a:t>Was it the better estimate or the choice of scheduling rule?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3B237E-A180-4F37-90A4-569857207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E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549CFF-7FA1-4232-9882-DCE685CDC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· 26S1 Group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EB1F8D-1D39-4A37-A263-A6CE76693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8652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13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E07561-F00B-4900-A4D2-75E8E7782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Use the same improved estimate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01456A-476B-4E05-A561-898B0BEA4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90825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Compare it with and without switching rules.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D48998-2355-430C-8925-A9BE3D558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Extra effect of switching rules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AD9DF2-B559-4D4B-B26E-29033CD9D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10668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8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8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8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8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8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8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8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8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8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8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8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382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-0.018 to +0.011 pp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EB9BD2-B77E-4D5E-883D-49AB10760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Switching rules added no clear gain here.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A6BB89-A259-49ED-83B8-D766E6581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95975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Exploratory analysis, not a registered claim</a:t>
            </a:r>
          </a:p>
        </p:txBody>
      </p:sp>
      <p:sp>
        <p:nvSpPr>
          <p:cNvPr id="13" name="simple-PART 3  OUR IMPROVEMENT">
            <a:extLst xmlns:a="http://schemas.openxmlformats.org/drawingml/2006/main">
              <a:ext uri="{FF2B5EF4-FFF2-40B4-BE49-F238E27FC236}">
                <a16:creationId xmlns:a16="http://schemas.microsoft.com/office/drawing/2014/main" id="{5F3EAA6C-FF3F-4C3D-8394-F2E7EC0E0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"/>
            <a:ext cx="108204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PART 3  OUR IMPROVEMENT</a:t>
            </a:r>
          </a:p>
        </p:txBody>
      </p:sp>
    </p:spTree>
    <p:extLst>
      <p:ext uri="{BB962C8B-B14F-4D97-AF65-F5344CB8AC3E}">
        <p14:creationId xmlns:p14="http://schemas.microsoft.com/office/powerpoint/2010/main" val="9622649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F3364F-99C4-42A8-9349-67F984A83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Wrong prior knowledge can hurt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A72BC9-24FB-46B9-9692-C9E013AD0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E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D83FFA-2166-472E-882B-359A47403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· 26S1 Group 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BD766B-09FF-475C-957A-17EDD3FE3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8652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649647-9CD1-4A82-BFB5-9A9C8EFFD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9725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Wrong usual behavior can pull a good estimate in the wrong direction.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BEEB3E-524E-4EA8-9454-83696E2B4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42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Assumed lifetimes cut in half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D07B61-0A70-43BD-B0ED-BC57257F5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542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85% prediction accuracy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D68367-5410-4377-841F-673BFEE46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800350"/>
            <a:ext cx="4572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4350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4350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4350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4350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4350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4350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4350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4350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4350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4350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4350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A23D39"/>
                </a:solidFill>
                <a:latin typeface="Aptos"/>
                <a:ea typeface="Aptos"/>
                <a:cs typeface="Aptos"/>
              </a:rPr>
              <a:t>-0.116 pp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65C4F9-8381-426D-9454-C1FE93FC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714750"/>
            <a:ext cx="457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compared with LAVA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F91FA1-A580-45C8-B72C-10BEDBA3F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Learn usual behavior from real history, and check for changes.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B297EC-DBAF-4AE1-9635-235447C56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One exploratory robustness case, 50 test workloads</a:t>
            </a:r>
          </a:p>
        </p:txBody>
      </p:sp>
      <p:sp>
        <p:nvSpPr>
          <p:cNvPr id="13" name="simple-PART 3  OUR IMPROVEMENT">
            <a:extLst xmlns:a="http://schemas.openxmlformats.org/drawingml/2006/main">
              <a:ext uri="{FF2B5EF4-FFF2-40B4-BE49-F238E27FC236}">
                <a16:creationId xmlns:a16="http://schemas.microsoft.com/office/drawing/2014/main" id="{FB3AD2E3-A4AB-4EC1-86BC-9F17D5620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"/>
            <a:ext cx="108204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PART 3  OUR IMPROVEMENT</a:t>
            </a:r>
          </a:p>
        </p:txBody>
      </p:sp>
    </p:spTree>
    <p:extLst>
      <p:ext uri="{BB962C8B-B14F-4D97-AF65-F5344CB8AC3E}">
        <p14:creationId xmlns:p14="http://schemas.microsoft.com/office/powerpoint/2010/main" val="176892066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A9F6F3-8B05-46DB-AC8F-AD2EFFA8F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What should we remember?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684642-26AB-4D46-8508-3DB8E7C97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E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9D7D55-6D88-4334-ADE6-15B2763F8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· 26S1 Group 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C21872-06E5-4D78-95E4-B867C0F32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8652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15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2D97BF-C1DC-4565-82F0-A81BC1949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28775"/>
            <a:ext cx="552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4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4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4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4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4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4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4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4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4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Findings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23B2F8-503B-405E-9F7D-3292216EB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552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Poor predictions can hurt LAVA.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209372-B510-4F93-A693-B80ECB916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0400"/>
            <a:ext cx="552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Routing did not fix the problem here.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B4C020-FE94-475C-A97E-B749C7BA3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76700"/>
            <a:ext cx="552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Our improvement beat LAVA in 3 of 4 tests.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5B5090-8A62-43D5-AE03-F6F8EBF26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628775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4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4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4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4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4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4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4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4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4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5A6573"/>
                </a:solidFill>
                <a:latin typeface="Aptos"/>
                <a:ea typeface="Aptos"/>
                <a:cs typeface="Aptos"/>
              </a:rPr>
              <a:t>Limits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590050-9445-4879-9819-F1048331B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324100"/>
            <a:ext cx="4476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Only synthetic workloads tested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520CC8-A99E-4357-B13D-622066196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200400"/>
            <a:ext cx="4476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Usual behavior and error model assumed known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327450-2B8A-4096-8120-DEEFB4787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076700"/>
            <a:ext cx="4476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More real-world tests needed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609C05-96ED-43B5-8E24-1F47ED7F6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7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7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7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7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7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7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7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7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7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7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Questions?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F89F23-EA61-4D3B-8AF3-6FE3A0FFB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523875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Code, data and report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C7D4C6-C09A-470F-8849-7F3A239CB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5591175"/>
            <a:ext cx="4476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F5D8A"/>
                </a:solidFill>
                <a:latin typeface="Aptos"/>
                <a:ea typeface="Aptos"/>
                <a:cs typeface="Aptos"/>
              </a:rPr>
              <a:t>github.com/xxxmian/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F5D8A"/>
                </a:solidFill>
                <a:latin typeface="Aptos"/>
                <a:ea typeface="Aptos"/>
                <a:cs typeface="Aptos"/>
              </a:rPr>
              <a:t>CE7490-P2_Revisiting_LAVA</a:t>
            </a:r>
          </a:p>
        </p:txBody>
      </p:sp>
      <p:sp>
        <p:nvSpPr>
          <p:cNvPr id="17" name="simple-PART 3  OUR IMPROVEMENT">
            <a:extLst xmlns:a="http://schemas.openxmlformats.org/drawingml/2006/main">
              <a:ext uri="{FF2B5EF4-FFF2-40B4-BE49-F238E27FC236}">
                <a16:creationId xmlns:a16="http://schemas.microsoft.com/office/drawing/2014/main" id="{7B684654-6E4C-48B5-9F69-EFA339305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"/>
            <a:ext cx="108204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PART 3  OUR IMPROVEMENT</a:t>
            </a:r>
          </a:p>
        </p:txBody>
      </p:sp>
    </p:spTree>
    <p:extLst>
      <p:ext uri="{BB962C8B-B14F-4D97-AF65-F5344CB8AC3E}">
        <p14:creationId xmlns:p14="http://schemas.microsoft.com/office/powerpoint/2010/main" val="35977240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Zhang Qi; Zhang Saining; Zheng Yitao</dc:creator>
  <lastModifiedBy>Zhang Qi; Zhang Saining; Zheng Yitao</lastModifiedBy>
  <dc:title>Revisiting Lifetime-Aware VM Allocation - Beginner Presentation</dc:title>
  <dcterms:created xsi:type="dcterms:W3CDTF">2026-10-31T02:22:43.8540000Z</dcterms:created>
  <dcterms:modified xsi:type="dcterms:W3CDTF">2026-10-31T02:22:43.8540000Z</dcterms:modified>
</coreProperties>
</file>