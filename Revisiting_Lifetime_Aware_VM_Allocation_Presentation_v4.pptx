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2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3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4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5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6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3958c02ff064666" /><Relationship Type="http://schemas.openxmlformats.org/officeDocument/2006/relationships/extended-properties" Target="/docProps/app.xml" Id="R615632f85a754157" /><Relationship Type="http://schemas.openxmlformats.org/officeDocument/2006/relationships/officeDocument" Target="/ppt/presentation.xml" Id="R53e1972705e5468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f6213db29d54582"/>
  </p:sldMasterIdLst>
  <p:notesMasterIdLst>
    <p:notesMasterId xmlns:r="http://schemas.openxmlformats.org/officeDocument/2006/relationships" r:id="Rb8e5ccf52ad442f3"/>
  </p:notesMasterIdLst>
  <p:sldIdLst>
    <p:sldId xmlns:r="http://schemas.openxmlformats.org/officeDocument/2006/relationships" id="256" r:id="Ra26784be004e48e4"/>
    <p:sldId xmlns:r="http://schemas.openxmlformats.org/officeDocument/2006/relationships" id="257" r:id="Rb7133aa6debc4754"/>
    <p:sldId xmlns:r="http://schemas.openxmlformats.org/officeDocument/2006/relationships" id="258" r:id="R68481cc63e644b83"/>
    <p:sldId xmlns:r="http://schemas.openxmlformats.org/officeDocument/2006/relationships" id="259" r:id="R5ce607d6623641f2"/>
    <p:sldId xmlns:r="http://schemas.openxmlformats.org/officeDocument/2006/relationships" id="260" r:id="Rcbc91807f05d4848"/>
    <p:sldId xmlns:r="http://schemas.openxmlformats.org/officeDocument/2006/relationships" id="261" r:id="Rcaee506302414dd7"/>
    <p:sldId xmlns:r="http://schemas.openxmlformats.org/officeDocument/2006/relationships" id="262" r:id="R2f8c833397c8444e"/>
    <p:sldId xmlns:r="http://schemas.openxmlformats.org/officeDocument/2006/relationships" id="263" r:id="Re6bfbab865124ad4"/>
    <p:sldId xmlns:r="http://schemas.openxmlformats.org/officeDocument/2006/relationships" id="264" r:id="R2d5164ff80c4432f"/>
    <p:sldId xmlns:r="http://schemas.openxmlformats.org/officeDocument/2006/relationships" id="265" r:id="R03cf7faf4b234836"/>
    <p:sldId xmlns:r="http://schemas.openxmlformats.org/officeDocument/2006/relationships" id="266" r:id="R53ff91d8dc1543eb"/>
    <p:sldId xmlns:r="http://schemas.openxmlformats.org/officeDocument/2006/relationships" id="267" r:id="R4c3f7a792f4041be"/>
    <p:sldId xmlns:r="http://schemas.openxmlformats.org/officeDocument/2006/relationships" id="268" r:id="Rd5e0cb919f0b4e18"/>
    <p:sldId xmlns:r="http://schemas.openxmlformats.org/officeDocument/2006/relationships" id="269" r:id="R8864ae9e623e4140"/>
    <p:sldId xmlns:r="http://schemas.openxmlformats.org/officeDocument/2006/relationships" id="270" r:id="R418074b6a1ed4d6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9fd24c76acf49a1" /><Relationship Type="http://schemas.openxmlformats.org/officeDocument/2006/relationships/slideMaster" Target="/ppt/slideMasters/slideMaster1.xml" Id="Rff6213db29d54582" /><Relationship Type="http://schemas.openxmlformats.org/officeDocument/2006/relationships/notesMaster" Target="/ppt/notesMasters/notesMaster1.xml" Id="Rb8e5ccf52ad442f3" /><Relationship Type="http://schemas.openxmlformats.org/officeDocument/2006/relationships/presProps" Target="/ppt/presProps.xml" Id="Rf79b17833fe14e25" /><Relationship Type="http://schemas.openxmlformats.org/officeDocument/2006/relationships/tableStyles" Target="/ppt/tableStyles.xml" Id="R2b816e42ce77487e" /><Relationship Type="http://schemas.openxmlformats.org/officeDocument/2006/relationships/slide" Target="/ppt/slides/slide1.xml" Id="Ra26784be004e48e4" /><Relationship Type="http://schemas.openxmlformats.org/officeDocument/2006/relationships/slide" Target="/ppt/slides/slide2.xml" Id="Rb7133aa6debc4754" /><Relationship Type="http://schemas.openxmlformats.org/officeDocument/2006/relationships/slide" Target="/ppt/slides/slide3.xml" Id="R68481cc63e644b83" /><Relationship Type="http://schemas.openxmlformats.org/officeDocument/2006/relationships/slide" Target="/ppt/slides/slide4.xml" Id="R5ce607d6623641f2" /><Relationship Type="http://schemas.openxmlformats.org/officeDocument/2006/relationships/slide" Target="/ppt/slides/slide5.xml" Id="Rcbc91807f05d4848" /><Relationship Type="http://schemas.openxmlformats.org/officeDocument/2006/relationships/slide" Target="/ppt/slides/slide6.xml" Id="Rcaee506302414dd7" /><Relationship Type="http://schemas.openxmlformats.org/officeDocument/2006/relationships/slide" Target="/ppt/slides/slide7.xml" Id="R2f8c833397c8444e" /><Relationship Type="http://schemas.openxmlformats.org/officeDocument/2006/relationships/slide" Target="/ppt/slides/slide8.xml" Id="Re6bfbab865124ad4" /><Relationship Type="http://schemas.openxmlformats.org/officeDocument/2006/relationships/slide" Target="/ppt/slides/slide9.xml" Id="R2d5164ff80c4432f" /><Relationship Type="http://schemas.openxmlformats.org/officeDocument/2006/relationships/slide" Target="/ppt/slides/slide10.xml" Id="R03cf7faf4b234836" /><Relationship Type="http://schemas.openxmlformats.org/officeDocument/2006/relationships/slide" Target="/ppt/slides/slide11.xml" Id="R53ff91d8dc1543eb" /><Relationship Type="http://schemas.openxmlformats.org/officeDocument/2006/relationships/slide" Target="/ppt/slides/slide12.xml" Id="R4c3f7a792f4041be" /><Relationship Type="http://schemas.openxmlformats.org/officeDocument/2006/relationships/slide" Target="/ppt/slides/slide13.xml" Id="Rd5e0cb919f0b4e18" /><Relationship Type="http://schemas.openxmlformats.org/officeDocument/2006/relationships/slide" Target="/ppt/slides/slide14.xml" Id="R8864ae9e623e4140" /><Relationship Type="http://schemas.openxmlformats.org/officeDocument/2006/relationships/slide" Target="/ppt/slides/slide15.xml" Id="R418074b6a1ed4d6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79bef66c9ad4be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d557f599aa84b1c" /><Relationship Type="http://schemas.openxmlformats.org/officeDocument/2006/relationships/notesMaster" Target="/ppt/notesMasters/notesMaster1.xml" Id="R45db6f2b9416495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f89efbf719c4c51" /><Relationship Type="http://schemas.openxmlformats.org/officeDocument/2006/relationships/notesMaster" Target="/ppt/notesMasters/notesMaster1.xml" Id="Rf7460e88957d4fc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cc12a128fa94bbd" /><Relationship Type="http://schemas.openxmlformats.org/officeDocument/2006/relationships/notesMaster" Target="/ppt/notesMasters/notesMaster1.xml" Id="R9eb985e3b4c848e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143068197b34758" /><Relationship Type="http://schemas.openxmlformats.org/officeDocument/2006/relationships/notesMaster" Target="/ppt/notesMasters/notesMaster1.xml" Id="Rd7b1ebd7aa364e4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398baa540604085" /><Relationship Type="http://schemas.openxmlformats.org/officeDocument/2006/relationships/notesMaster" Target="/ppt/notesMasters/notesMaster1.xml" Id="R88301a55764647e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04aed8860c148be" /><Relationship Type="http://schemas.openxmlformats.org/officeDocument/2006/relationships/notesMaster" Target="/ppt/notesMasters/notesMaster1.xml" Id="R49395a84d65e4b0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1da0375c84d4eb3" /><Relationship Type="http://schemas.openxmlformats.org/officeDocument/2006/relationships/notesMaster" Target="/ppt/notesMasters/notesMaster1.xml" Id="Ra8c1cde63505419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bd76f9afa2e44c8" /><Relationship Type="http://schemas.openxmlformats.org/officeDocument/2006/relationships/notesMaster" Target="/ppt/notesMasters/notesMaster1.xml" Id="Rcfdb7e817b1f4ec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bec1541e9504ad8" /><Relationship Type="http://schemas.openxmlformats.org/officeDocument/2006/relationships/notesMaster" Target="/ppt/notesMasters/notesMaster1.xml" Id="Rdf4e45c1845d413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3b464bb74d74ca7" /><Relationship Type="http://schemas.openxmlformats.org/officeDocument/2006/relationships/notesMaster" Target="/ppt/notesMasters/notesMaster1.xml" Id="R845116f9cd9e4f1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2c0ea6ae6e244dc" /><Relationship Type="http://schemas.openxmlformats.org/officeDocument/2006/relationships/notesMaster" Target="/ppt/notesMasters/notesMaster1.xml" Id="R1a4170ec67a8478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d41b2a3d94a4b12" /><Relationship Type="http://schemas.openxmlformats.org/officeDocument/2006/relationships/notesMaster" Target="/ppt/notesMasters/notesMaster1.xml" Id="R0767a9a1090842f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a25aba511bf406a" /><Relationship Type="http://schemas.openxmlformats.org/officeDocument/2006/relationships/notesMaster" Target="/ppt/notesMasters/notesMaster1.xml" Id="R47b94439ede9436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ea6aa2af34b429c" /><Relationship Type="http://schemas.openxmlformats.org/officeDocument/2006/relationships/notesMaster" Target="/ppt/notesMasters/notesMaster1.xml" Id="R0aa8c94b619c430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c1c4703ff384eae" /><Relationship Type="http://schemas.openxmlformats.org/officeDocument/2006/relationships/notesMaster" Target="/ppt/notesMasters/notesMaster1.xml" Id="R22171abf533b431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三部分为原方法、复现、改进。重点在原方法的可执行重建、实验验证、结果对照与复现差异，最后用复现发现的问题引出预测器改进。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Report v8; lava_reproduction/REPRODUCTION_DIFFERENCES.md; frozen results in lava_reproduction/results/.</a:t>
            </a:r>
          </a:p>
          <a:p xmlns:a="http://schemas.openxmlformats.org/drawingml/2006/main">
            <a:r>
              <a:t>https://github.com/xxxmian/CE7490-P2_Revisiting_LAVA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讲两个维度：空间上同时满足CPU与内存，时间上要等最后一个VM退出才能清空整台主机。右图是容量示例，非生产测量。为什么不是看CPU空闲百分比？因为维护、承载大请求等目标需要整台主机可用；本实验只测空主机时间，未直接测电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Report v8; lava_reproduction/REPRODUCTION_DIFFERENCES.md; frozen results in lava_reproduction/results/.</a:t>
            </a:r>
          </a:p>
          <a:p xmlns:a="http://schemas.openxmlformats.org/drawingml/2006/main">
            <a:r>
              <a:t>https://github.com/xxxmian/CE7490-P2_Revisiting_LAVA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图中A有3个、B有1个、C有4个相同形状VM。加入新VM后，A的CPU刚好满，B仍留较多空间，C的CPU无法容纳。实际分数最小化CPU剩余平方与内存剩余平方之和；这里只用明确的资源条件说明规则。时间维度留给下一页。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Report v8; lava_reproduction/REPRODUCTION_DIFFERENCES.md; frozen results in lava_reproduction/results/.</a:t>
            </a:r>
          </a:p>
          <a:p xmlns:a="http://schemas.openxmlformats.org/drawingml/2006/main">
            <a:r>
              <a:t>https://github.com/xxxmian/CE7490-P2_Revisiting_LAVA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明确条件下的定量例子，而不是完整LAVA伪代码。混放两台都会被长VM拖住；按离开时间配对，短VM主机1小时后清空。真实LAVA还会把更短VM填进较长生命周期主机，并根据open/recycling状态、剩余cohort和重预测选择放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Report v8; lava_reproduction/REPRODUCTION_DIFFERENCES.md; frozen results in lava_reproduction/results/.</a:t>
            </a:r>
          </a:p>
          <a:p xmlns:a="http://schemas.openxmlformats.org/drawingml/2006/main">
            <a:r>
              <a:t>https://github.com/xxxmian/CE7490-P2_Revisiting_LAVA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1小时预测、100小时实际只是解释机制的例子。不能据此说LAVA完全不会修正，原论文已包含自适应；我们实际问这种自适应在不同预测质量下能保护多少。下一部分用相同输入的配对实验回答。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Report v8; lava_reproduction/REPRODUCTION_DIFFERENCES.md; frozen results in lava_reproduction/results/.</a:t>
            </a:r>
          </a:p>
          <a:p xmlns:a="http://schemas.openxmlformats.org/drawingml/2006/main">
            <a:r>
              <a:t>https://github.com/xxxmian/CE7490-P2_Revisiting_LAVA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复现先说明证据与边界。六策略为Best-Fit、LA-Binary、NILAS、LAVA、VM-CA、Host-CA。公开论文用于补足生命周期和类别规则，课程材料提供规模、指标与部分设置；未知参数固定为声明的合成假设，没有搜索参数追平旧结果。原生产trace、原源码和课程原始逐种子样本均不可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Report v8; lava_reproduction/REPRODUCTION_DIFFERENCES.md; frozen results in lava_reproduction/results/.</a:t>
            </a:r>
          </a:p>
          <a:p xmlns:a="http://schemas.openxmlformats.org/drawingml/2006/main">
            <a:r>
              <a:t>https://github.com/xxxmian/CE7490-P2_Revisiting_LAVA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curacy是进入近准确噪声分量的概率，不是短长分类正确率。正确桶log10误差σ=.001，错误桶σ=3，预测在336小时截尾。图显示平均差值，右侧补充两个端点的区间。75%后的正区间是此合成工作负载上的结果，不是通用门槛。Oracle是全信息参照，不是所有变体的理论上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Report v8; lava_reproduction/REPRODUCTION_DIFFERENCES.md; frozen results in lava_reproduction/results/.</a:t>
            </a:r>
          </a:p>
          <a:p xmlns:a="http://schemas.openxmlformats.org/drawingml/2006/main">
            <a:r>
              <a:t>https://github.com/xxxmian/CE7490-P2_Revisiting_LAVA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CA是confidence-aware。概率超过阈值则走LAVA，否则Best-Fit。Host-CA仅在无同模式主机与空主机可放时跨池回退，实验中未发生。这里要区分概率事件正确与下游决策有价值，两者不是同一个问题。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Report v8; lava_reproduction/REPRODUCTION_DIFFERENCES.md; frozen results in lava_reproduction/results/.</a:t>
            </a:r>
          </a:p>
          <a:p xmlns:a="http://schemas.openxmlformats.org/drawingml/2006/main">
            <a:r>
              <a:t>https://github.com/xxxmian/CE7490-P2_Revisiting_LAVA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1,644=36 smoke+168 validation+600 sweep+840 heldout；16是原复现阶段独立测试，不是后来完整项目测试总数。指标从首次到达到最后退出，包含排空尾段。测试含同刻先退出、容量、时间积分、主机隔离、确定性和预测无未来信息；通过不代表原算法逐行等价。新验证阈值0.5，heldout仍按历史冻结0.3，不为追平结果改设置。Sources: results/{smoke,validation,sweep,heldout}/manifest.json; REPRODUCTION_DIFFERENCES.md.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Report v8; lava_reproduction/REPRODUCTION_DIFFERENCES.md; frozen results in lava_reproduction/results/.</a:t>
            </a:r>
          </a:p>
          <a:p xmlns:a="http://schemas.openxmlformats.org/drawingml/2006/main">
            <a:r>
              <a:t>https://github.com/xxxmian/CE7490-P2_Revisiting_LAVA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此处只用seeds20–39，与第7页后续100种子结果分开。历史各行95%CI依次为[-.131,+.122]、[+.040,+.359]、[+.463,+.705]、[+.125,+.357]。缺失workload参数、原trace和更新细节可解释差异，但没有因果归因实验，不能认定某个参数就是原因，也不能说原论文被证伪。Sources: reference/report_table1.csv; results/heldout/summary.json; REPRODUCTION_DIFFERENCES.md.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Report v8; lava_reproduction/REPRODUCTION_DIFFERENCES.md; frozen results in lava_reproduction/results/.</a:t>
            </a:r>
          </a:p>
          <a:p xmlns:a="http://schemas.openxmlformats.org/drawingml/2006/main">
            <a:r>
              <a:t>https://github.com/xxxmian/CE7490-P2_Revisiting_LAVA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同组heldout20–39默认预测模型。Host-CA模式隔离把跨模式放置降到0，未发生回退，说明不是简单实现漏掉隔离。不能据此证明隔离必然无效，也不能将类别置信度直接当作调度收益概率。完整项目的后续诊断还发现受控噪声下门控几乎总通过；不将不同预测设置混淆。Sources: results/heldout/summary.json; REPRODUCTION_DIFFERENCES.md default-model diagnostics.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Report v8; lava_reproduction/REPRODUCTION_DIFFERENCES.md; frozen results in lava_reproduction/results/.</a:t>
            </a:r>
          </a:p>
          <a:p xmlns:a="http://schemas.openxmlformats.org/drawingml/2006/main">
            <a:r>
              <a:t>https://github.com/xxxmian/CE7490-P2_Revisiting_LAVA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融合不是简单取平均或把所有预测缩短。它用profile分布和已知噪声模型，给每个可能总寿命按观测似然加权；再据uptime条件化。上面两个数字由原build_report.predict_pair直接计算。先验是生成分布，属于重要强假设，后面做误设敏感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Report v8; lava_reproduction/REPRODUCTION_DIFFERENCES.md; frozen results in lava_reproduction/results/.</a:t>
            </a:r>
          </a:p>
          <a:p xmlns:a="http://schemas.openxmlformats.org/drawingml/2006/main">
            <a:r>
              <a:t>https://github.com/xxxmian/CE7490-P2_Revisiting_LAVA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四个预注册准确率对LAVA为3/4，对Best-Fit也为3/4，共6/8。75%对LAVA+.054[−.001,+.109]、Holm p≈.11；25%对BF+.037[−.012,+.086]、Holm p≈.14。75%和85%的原LAVA已优于BF，因此融合特有证据须看对LAVA比较和50%对BF。不要把正均值都说成显著改善。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Report v8; lava_reproduction/REPRODUCTION_DIFFERENCES.md; frozen results in lava_reproduction/results/.</a:t>
            </a:r>
          </a:p>
          <a:p xmlns:a="http://schemas.openxmlformats.org/drawingml/2006/main">
            <a:r>
              <a:t>https://github.com/xxxmian/CE7490-P2_Revisiting_LAVA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σ从3减到1或.5时，收益变小，不能说无论噪声如何都有效。先验均值×.5、85%时是32个vs-LAVA单元格中唯一完全负的区间，未校正p=.006；同格对BF仍+.191[+.111,+.272]。负载增加是16VM/h和5000VM、主机数仍180。不能把90主机纯分母缩放当负载测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Report v8; lava_reproduction/REPRODUCTION_DIFFERENCES.md; frozen results in lava_reproduction/results/.</a:t>
            </a:r>
          </a:p>
          <a:p xmlns:a="http://schemas.openxmlformats.org/drawingml/2006/main">
            <a:r>
              <a:t>https://github.com/xxxmian/CE7490-P2_Revisiting_LAVA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收束复现为主的作业逻辑：实现与验证→趋势和差异→有针对性的改进。主结论应同时保留成功与失败，不能只报改进正结果。报告不变。融合75%对LAVA未证实，先验误设有失败情形，生产收益尚未验证。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Report v8; lava_reproduction/REPRODUCTION_DIFFERENCES.md; frozen results in lava_reproduction/results/.</a:t>
            </a:r>
          </a:p>
          <a:p xmlns:a="http://schemas.openxmlformats.org/drawingml/2006/main">
            <a:r>
              <a:t>https://github.com/xxxmian/CE7490-P2_Revisiting_LAVA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f81b12d65d44e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84d052f73c45e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c592da97e24cf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c8fc4a4c814f6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61e87ba56245f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f608bee6e7461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0601F3E-A1A0-497F-BB6D-B432CD2FB4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226250D-2C65-479B-954F-A5CD5B9B189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D3FA1FA-0865-48B4-B7E5-EC115142316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0A24C6D-A775-43C5-AD7D-326F157BBD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6CFFCD8-5B79-4846-8A8F-CCA9D055825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9D2E4C8-08E0-48A9-B185-C5104050A6C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A40466C-0013-47D8-AF6E-E44397F6913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357022A-A1E7-4EA1-9A3A-EA43811CD41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F142610-3817-4704-BC4F-0C168439FA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F23963B-FBE5-45F9-9360-906E21BB8A8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5c3ed881de9462f" /><Relationship Type="http://schemas.openxmlformats.org/officeDocument/2006/relationships/slideLayout" Target="/ppt/slideLayouts/slideLayout1.xml" Id="R8884004a513647e6" /><Relationship Type="http://schemas.openxmlformats.org/officeDocument/2006/relationships/slideLayout" Target="/ppt/slideLayouts/slideLayout2.xml" Id="R3c31b009e9924dea" /><Relationship Type="http://schemas.openxmlformats.org/officeDocument/2006/relationships/slideLayout" Target="/ppt/slideLayouts/slideLayout3.xml" Id="R7261551b32d046d4" /><Relationship Type="http://schemas.openxmlformats.org/officeDocument/2006/relationships/slideLayout" Target="/ppt/slideLayouts/slideLayout4.xml" Id="Re0166977d1f54f8d" /><Relationship Type="http://schemas.openxmlformats.org/officeDocument/2006/relationships/slideLayout" Target="/ppt/slideLayouts/slideLayout5.xml" Id="R323da2d1c75c4664" /><Relationship Type="http://schemas.openxmlformats.org/officeDocument/2006/relationships/slideLayout" Target="/ppt/slideLayouts/slideLayout6.xml" Id="R96a77db93646425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884004a513647e6"/>
    <p:sldLayoutId xmlns:r="http://schemas.openxmlformats.org/officeDocument/2006/relationships" id="2147483650" r:id="R3c31b009e9924dea"/>
    <p:sldLayoutId xmlns:r="http://schemas.openxmlformats.org/officeDocument/2006/relationships" id="2147483651" r:id="R7261551b32d046d4"/>
    <p:sldLayoutId xmlns:r="http://schemas.openxmlformats.org/officeDocument/2006/relationships" id="2147483652" r:id="Re0166977d1f54f8d"/>
    <p:sldLayoutId xmlns:r="http://schemas.openxmlformats.org/officeDocument/2006/relationships" id="2147483653" r:id="R323da2d1c75c4664"/>
    <p:sldLayoutId xmlns:r="http://schemas.openxmlformats.org/officeDocument/2006/relationships" id="2147483654" r:id="R96a77db93646425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7973c56b374d6f" /><Relationship Type="http://schemas.openxmlformats.org/officeDocument/2006/relationships/image" Target="/ppt/media/image.png" Id="R2f6513b877eb401a" /><Relationship Type="http://schemas.openxmlformats.org/officeDocument/2006/relationships/notesSlide" Target="/ppt/notesSlides/notesSlide1.xml" Id="R878b9519c1c34ee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81925aef684672" /><Relationship Type="http://schemas.openxmlformats.org/officeDocument/2006/relationships/chart" Target="/ppt/slides/charts/chart1.xml" Id="R4075569aae254fbd" /><Relationship Type="http://schemas.openxmlformats.org/officeDocument/2006/relationships/notesSlide" Target="/ppt/notesSlides/notesSlide2.xml" Id="Ree865cb6848c4a1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2d40d97c5f4dcb" /><Relationship Type="http://schemas.openxmlformats.org/officeDocument/2006/relationships/chart" Target="/ppt/slides/charts/chart2.xml" Id="R91668b9cd8a44b87" /><Relationship Type="http://schemas.openxmlformats.org/officeDocument/2006/relationships/notesSlide" Target="/ppt/notesSlides/notesSlide3.xml" Id="R15134c2652c547b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aa617b3379d4d9d" /><Relationship Type="http://schemas.openxmlformats.org/officeDocument/2006/relationships/chart" Target="/ppt/slides/charts/chart3.xml" Id="Rb38422cb51404601" /><Relationship Type="http://schemas.openxmlformats.org/officeDocument/2006/relationships/notesSlide" Target="/ppt/notesSlides/notesSlide4.xml" Id="R638fd0c6b71545c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e727cce19d460e" /><Relationship Type="http://schemas.openxmlformats.org/officeDocument/2006/relationships/chart" Target="/ppt/slides/charts/chart4.xml" Id="Re7b0ca78ac4542e2" /><Relationship Type="http://schemas.openxmlformats.org/officeDocument/2006/relationships/notesSlide" Target="/ppt/notesSlides/notesSlide5.xml" Id="R6192ba28269e481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467800a4ae4bb2" /><Relationship Type="http://schemas.openxmlformats.org/officeDocument/2006/relationships/notesSlide" Target="/ppt/notesSlides/notesSlide6.xml" Id="R525396a7615e428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55effa57e8f4246" /><Relationship Type="http://schemas.openxmlformats.org/officeDocument/2006/relationships/chart" Target="/ppt/slides/charts/chart5.xml" Id="Rbb43b0b786134b1a" /><Relationship Type="http://schemas.openxmlformats.org/officeDocument/2006/relationships/notesSlide" Target="/ppt/notesSlides/notesSlide7.xml" Id="R44c55936920c48b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d72c0c81094fd5" /><Relationship Type="http://schemas.openxmlformats.org/officeDocument/2006/relationships/notesSlide" Target="/ppt/notesSlides/notesSlide8.xml" Id="Rf00fac5736a6424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47a240c7684ae6" /><Relationship Type="http://schemas.openxmlformats.org/officeDocument/2006/relationships/notesSlide" Target="/ppt/notesSlides/notesSlide9.xml" Id="R5efd522dbd2a47f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9d2625baa1f483b" /><Relationship Type="http://schemas.openxmlformats.org/officeDocument/2006/relationships/notesSlide" Target="/ppt/notesSlides/notesSlide10.xml" Id="R10b31018605a477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9d70e1099f4a9d" /><Relationship Type="http://schemas.openxmlformats.org/officeDocument/2006/relationships/chart" Target="/ppt/slides/charts/chart6.xml" Id="R0fb1318baa784410" /><Relationship Type="http://schemas.openxmlformats.org/officeDocument/2006/relationships/notesSlide" Target="/ppt/notesSlides/notesSlide11.xml" Id="Rd7105e970a1845e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83ff578ddc4ce6" /><Relationship Type="http://schemas.openxmlformats.org/officeDocument/2006/relationships/notesSlide" Target="/ppt/notesSlides/notesSlide12.xml" Id="R941bf4abc38a412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1d415f6c5e4203" /><Relationship Type="http://schemas.openxmlformats.org/officeDocument/2006/relationships/notesSlide" Target="/ppt/notesSlides/notesSlide13.xml" Id="Rffd02044656c4e1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8e2e723a8d4bb8" /><Relationship Type="http://schemas.openxmlformats.org/officeDocument/2006/relationships/notesSlide" Target="/ppt/notesSlides/notesSlide14.xml" Id="R7619f631b6cc431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990054392be4d80" /><Relationship Type="http://schemas.openxmlformats.org/officeDocument/2006/relationships/notesSlide" Target="/ppt/notesSlides/notesSlide15.xml" Id="Rdc6dd819445c488f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Used capacity</c:v>
          </c:tx>
          <c:spPr>
            <a:solidFill xmlns:a="http://schemas.openxmlformats.org/drawingml/2006/main">
              <a:srgbClr val="2F5D8A"/>
            </a:solidFill>
          </c:spPr>
          <c:invertIfNegative val="0"/>
          <c:dPt>
            <c:idx val="1"/>
            <c:invertIfNegative val="0"/>
            <c:spPr>
              <a:solidFill xmlns:a="http://schemas.openxmlformats.org/drawingml/2006/main">
                <a:srgbClr val="C46A1D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CPU used</c:v>
                </c:pt>
                <c:pt idx="1">
                  <c:v>Memory used</c:v>
                </c:pt>
              </c:strCache>
            </c:strRef>
          </c:cat>
          <c:val>
            <c:numRef>
              <c:f>'Chart Data'!$B$2:$B$3</c:f>
              <c:numCache>
                <c:formatCode>0"%"</c:formatCode>
                <c:ptCount val="2"/>
                <c:pt idx="0">
                  <c:v>50</c:v>
                </c:pt>
                <c:pt idx="1">
                  <c:v>100</c:v>
                </c:pt>
              </c:numCache>
            </c:numRef>
          </c:val>
        </c:ser>
        <c:dLbls>
          <c:numFmt formatCode="0&quot;%&quot;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solidFill>
                    <a:srgbClr val="233142"/>
                  </a:solidFill>
                  <a:latin typeface="Aptos"/>
                  <a:ea typeface="Aptos"/>
                  <a:cs typeface="Apto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5A6573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233142"/>
                </a:solidFill>
                <a:latin typeface="Aptos"/>
                <a:ea typeface="Aptos"/>
                <a:cs typeface="Aptos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D7DDE3"/>
              </a:solidFill>
              <a:prstDash val="solid"/>
            </a:ln>
          </c:spPr>
        </c:majorGridlines>
        <c:numFmt formatCode="0&quot;%&quot;"/>
        <c:majorTickMark val="none"/>
        <c:minorTickMark val="none"/>
        <c:spPr>
          <a:ln xmlns:a="http://schemas.openxmlformats.org/drawingml/2006/main" w="9525">
            <a:solidFill>
              <a:srgbClr val="5A6573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A6573"/>
                </a:solidFill>
                <a:latin typeface="Aptos"/>
                <a:ea typeface="Aptos"/>
                <a:cs typeface="Aptos"/>
              </a:defRPr>
            </a:pPr>
          </a:p>
        </c:txPr>
        <c:crossAx val="48650112"/>
        <c:crossBetween val="between"/>
        <c:majorUnit val="25"/>
      </c:valAx>
      <c:spPr>
        <a:noFill xmlns:a="http://schemas.openxmlformats.org/drawingml/2006/main"/>
      </c:spPr>
    </c:plotArea>
    <c:plotVisOnly val="1"/>
  </c:chart>
  <c:spPr>
    <a:noFill xmlns:a="http://schemas.openxmlformats.org/drawingml/2006/main"/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stacked"/>
        <c:varyColors val="0"/>
        <c:ser>
          <c:idx val="0"/>
          <c:order val="0"/>
          <c:tx>
            <c:v>Existing VMs</c:v>
          </c:tx>
          <c:spPr>
            <a:solidFill xmlns:a="http://schemas.openxmlformats.org/drawingml/2006/main">
              <a:srgbClr val="2F5D8A"/>
            </a:solidFill>
          </c:spPr>
          <c:invertIfNegative val="0"/>
          <c:cat>
            <c:strRef>
              <c:f>'Chart Data'!$A$2:$A$4</c:f>
              <c:strCache>
                <c:ptCount val="3"/>
                <c:pt idx="0">
                  <c:v>Host A: chosen</c:v>
                </c:pt>
                <c:pt idx="1">
                  <c:v>Host B: more room</c:v>
                </c:pt>
                <c:pt idx="2">
                  <c:v>Host C: full</c:v>
                </c:pt>
              </c:strCache>
            </c:strRef>
          </c:cat>
          <c:val>
            <c:numRef>
              <c:f>'Chart Data'!$B$2:$B$4</c:f>
              <c:numCache>
                <c:formatCode>0"%"</c:formatCode>
                <c:ptCount val="3"/>
                <c:pt idx="0">
                  <c:v>75</c:v>
                </c:pt>
                <c:pt idx="1">
                  <c:v>25</c:v>
                </c:pt>
                <c:pt idx="2">
                  <c:v>100</c:v>
                </c:pt>
              </c:numCache>
            </c:numRef>
          </c:val>
        </c:ser>
        <c:ser>
          <c:idx val="1"/>
          <c:order val="1"/>
          <c:tx>
            <c:v>New VM</c:v>
          </c:tx>
          <c:spPr>
            <a:solidFill xmlns:a="http://schemas.openxmlformats.org/drawingml/2006/main">
              <a:srgbClr val="C46A1D"/>
            </a:solidFill>
          </c:spPr>
          <c:invertIfNegative val="0"/>
          <c:cat>
            <c:strRef>
              <c:f>'Chart Data'!$C$2:$C$4</c:f>
              <c:strCache>
                <c:ptCount val="3"/>
                <c:pt idx="0">
                  <c:v>Host A: chosen</c:v>
                </c:pt>
                <c:pt idx="1">
                  <c:v>Host B: more room</c:v>
                </c:pt>
                <c:pt idx="2">
                  <c:v>Host C: full</c:v>
                </c:pt>
              </c:strCache>
            </c:strRef>
          </c:cat>
          <c:val>
            <c:numRef>
              <c:f>'Chart Data'!$D$2:$D$4</c:f>
              <c:numCache>
                <c:formatCode>0"%"</c:formatCode>
                <c:ptCount val="3"/>
                <c:pt idx="0">
                  <c:v>25</c:v>
                </c:pt>
                <c:pt idx="1">
                  <c:v>25</c:v>
                </c:pt>
                <c:pt idx="2">
                  <c:v>0</c:v>
                </c:pt>
              </c:numCache>
            </c:numRef>
          </c:val>
        </c:ser>
        <c:ser>
          <c:idx val="2"/>
          <c:order val="2"/>
          <c:tx>
            <c:v>CPU left</c:v>
          </c:tx>
          <c:spPr>
            <a:solidFill xmlns:a="http://schemas.openxmlformats.org/drawingml/2006/main">
              <a:srgbClr val="DCE8F2"/>
            </a:solidFill>
          </c:spPr>
          <c:invertIfNegative val="0"/>
          <c:cat>
            <c:strRef>
              <c:f>'Chart Data'!$E$2:$E$4</c:f>
              <c:strCache>
                <c:ptCount val="3"/>
                <c:pt idx="0">
                  <c:v>Host A: chosen</c:v>
                </c:pt>
                <c:pt idx="1">
                  <c:v>Host B: more room</c:v>
                </c:pt>
                <c:pt idx="2">
                  <c:v>Host C: full</c:v>
                </c:pt>
              </c:strCache>
            </c:strRef>
          </c:cat>
          <c:val>
            <c:numRef>
              <c:f>'Chart Data'!$F$2:$F$4</c:f>
              <c:numCache>
                <c:formatCode>0"%"</c:formatCode>
                <c:ptCount val="3"/>
                <c:pt idx="0">
                  <c:v>0</c:v>
                </c:pt>
                <c:pt idx="1">
                  <c:v>50</c:v>
                </c:pt>
                <c:pt idx="2">
                  <c:v>0</c:v>
                </c:pt>
              </c:numCache>
            </c:numRef>
          </c:val>
        </c:ser>
        <c:dLbls>
          <c:numFmt formatCode="0&quot;%&quot;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solidFill>
                    <a:srgbClr val="233142"/>
                  </a:solidFill>
                  <a:latin typeface="Aptos"/>
                  <a:ea typeface="Aptos"/>
                  <a:cs typeface="Aptos"/>
                </a:defRPr>
              </a:pPr>
            </a:p>
          </c:txPr>
          <c:dLblPos val="inEnd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0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5A6573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233142"/>
                </a:solidFill>
                <a:latin typeface="Aptos"/>
                <a:ea typeface="Aptos"/>
                <a:cs typeface="Aptos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D7DDE3"/>
              </a:solidFill>
              <a:prstDash val="solid"/>
            </a:ln>
          </c:spPr>
        </c:majorGridlines>
        <c:numFmt formatCode="0&quot;%&quot;"/>
        <c:majorTickMark val="none"/>
        <c:minorTickMark val="none"/>
        <c:spPr>
          <a:ln xmlns:a="http://schemas.openxmlformats.org/drawingml/2006/main" w="9525">
            <a:solidFill>
              <a:srgbClr val="5A6573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A6573"/>
                </a:solidFill>
                <a:latin typeface="Aptos"/>
                <a:ea typeface="Aptos"/>
                <a:cs typeface="Aptos"/>
              </a:defRPr>
            </a:pPr>
          </a:p>
        </c:txPr>
        <c:crossAx val="48650112"/>
        <c:crossBetween val="between"/>
        <c:majorUnit val="25"/>
      </c:valAx>
      <c:spPr>
        <a:noFill xmlns:a="http://schemas.openxmlformats.org/drawingml/2006/main"/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>
              <a:solidFill>
                <a:srgbClr val="233142"/>
              </a:solidFill>
              <a:latin typeface="Aptos"/>
              <a:ea typeface="Aptos"/>
              <a:cs typeface="Aptos"/>
            </a:defRPr>
          </a:pPr>
        </a:p>
      </c:txPr>
    </c:legend>
    <c:plotVisOnly val="1"/>
  </c:chart>
  <c:spPr>
    <a:noFill xmlns:a="http://schemas.openxmlformats.org/drawingml/2006/main"/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Empty hosts</c:v>
          </c:tx>
          <c:spPr>
            <a:solidFill xmlns:a="http://schemas.openxmlformats.org/drawingml/2006/main">
              <a:srgbClr val="2F5D8A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C46A1D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Mix short/long VMs</c:v>
                </c:pt>
                <c:pt idx="1">
                  <c:v>Use departure times</c:v>
                </c:pt>
              </c:strCache>
            </c:strRef>
          </c:cat>
          <c:val>
            <c:numRef>
              <c:f>'Chart Data'!$B$2:$B$3</c:f>
              <c:numCache>
                <c:formatCode>0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val>
        </c:ser>
        <c:dLbls>
          <c:numFmt formatCode="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solidFill>
                    <a:srgbClr val="233142"/>
                  </a:solidFill>
                  <a:latin typeface="Aptos"/>
                  <a:ea typeface="Aptos"/>
                  <a:cs typeface="Apto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5A6573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233142"/>
                </a:solidFill>
                <a:latin typeface="Aptos"/>
                <a:ea typeface="Aptos"/>
                <a:cs typeface="Aptos"/>
              </a:defRPr>
            </a:pPr>
          </a:p>
        </c:txPr>
        <c:crossAx val="48672768"/>
      </c:catAx>
      <c:valAx>
        <c:axId val="48672768"/>
        <c:scaling>
          <c:orientation val="minMax"/>
          <c:max val="1.1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D7DDE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solidFill>
                      <a:srgbClr val="5A6573"/>
                    </a:solidFill>
                    <a:latin typeface="Aptos"/>
                    <a:ea typeface="Aptos"/>
                    <a:cs typeface="Aptos"/>
                  </a:rPr>
                  <a:t>Empty hosts after 1 hour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5A6573"/>
                  </a:solidFill>
                  <a:latin typeface="Aptos"/>
                  <a:ea typeface="Aptos"/>
                  <a:cs typeface="Aptos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5A6573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A6573"/>
                </a:solidFill>
                <a:latin typeface="Aptos"/>
                <a:ea typeface="Aptos"/>
                <a:cs typeface="Aptos"/>
              </a:defRPr>
            </a:pPr>
          </a:p>
        </c:txPr>
        <c:crossAx val="48650112"/>
        <c:crossBetween val="between"/>
        <c:majorUnit val="1"/>
      </c:valAx>
      <c:spPr>
        <a:noFill xmlns:a="http://schemas.openxmlformats.org/drawingml/2006/main"/>
      </c:spPr>
    </c:plotArea>
    <c:plotVisOnly val="1"/>
  </c:chart>
  <c:spPr>
    <a:noFill xmlns:a="http://schemas.openxmlformats.org/drawingml/2006/main"/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Hours</c:v>
          </c:tx>
          <c:spPr>
            <a:solidFill xmlns:a="http://schemas.openxmlformats.org/drawingml/2006/main">
              <a:srgbClr val="2F5D8A"/>
            </a:solidFill>
          </c:spPr>
          <c:invertIfNegative val="0"/>
          <c:dPt>
            <c:idx val="1"/>
            <c:invertIfNegative val="0"/>
            <c:spPr>
              <a:solidFill xmlns:a="http://schemas.openxmlformats.org/drawingml/2006/main">
                <a:srgbClr val="C46A1D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Expected lifetime</c:v>
                </c:pt>
                <c:pt idx="1">
                  <c:v>Observed lifetime</c:v>
                </c:pt>
              </c:strCache>
            </c:strRef>
          </c:cat>
          <c:val>
            <c:numRef>
              <c:f>'Chart Data'!$B$2:$B$3</c:f>
              <c:numCache>
                <c:formatCode>0" h"</c:formatCode>
                <c:ptCount val="2"/>
                <c:pt idx="0">
                  <c:v>1</c:v>
                </c:pt>
                <c:pt idx="1">
                  <c:v>100</c:v>
                </c:pt>
              </c:numCache>
            </c:numRef>
          </c:val>
        </c:ser>
        <c:dLbls>
          <c:numFmt formatCode="0&quot; h&quot;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solidFill>
                    <a:srgbClr val="233142"/>
                  </a:solidFill>
                  <a:latin typeface="Aptos"/>
                  <a:ea typeface="Aptos"/>
                  <a:cs typeface="Apto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5A6573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233142"/>
                </a:solidFill>
                <a:latin typeface="Aptos"/>
                <a:ea typeface="Aptos"/>
                <a:cs typeface="Aptos"/>
              </a:defRPr>
            </a:pPr>
          </a:p>
        </c:txPr>
        <c:crossAx val="48672768"/>
      </c:catAx>
      <c:valAx>
        <c:axId val="48672768"/>
        <c:scaling>
          <c:orientation val="minMax"/>
          <c:max val="105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D7DDE3"/>
              </a:solidFill>
              <a:prstDash val="solid"/>
            </a:ln>
          </c:spPr>
        </c:majorGridlines>
        <c:numFmt formatCode="0&quot; h&quot;"/>
        <c:majorTickMark val="none"/>
        <c:minorTickMark val="none"/>
        <c:spPr>
          <a:ln xmlns:a="http://schemas.openxmlformats.org/drawingml/2006/main" w="9525">
            <a:solidFill>
              <a:srgbClr val="5A6573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A6573"/>
                </a:solidFill>
                <a:latin typeface="Aptos"/>
                <a:ea typeface="Aptos"/>
                <a:cs typeface="Aptos"/>
              </a:defRPr>
            </a:pPr>
          </a:p>
        </c:txPr>
        <c:crossAx val="48650112"/>
        <c:crossBetween val="between"/>
        <c:majorUnit val="25"/>
      </c:valAx>
      <c:spPr>
        <a:noFill xmlns:a="http://schemas.openxmlformats.org/drawingml/2006/main"/>
      </c:spPr>
    </c:plotArea>
    <c:plotVisOnly val="1"/>
  </c:chart>
  <c:spPr>
    <a:noFill xmlns:a="http://schemas.openxmlformats.org/drawingml/2006/main"/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varyColors val="0"/>
        <c:ser>
          <c:idx val="0"/>
          <c:order val="0"/>
          <c:tx>
            <c:v>LAVA</c:v>
          </c:tx>
          <c:spPr>
            <a:ln xmlns:a="http://schemas.openxmlformats.org/drawingml/2006/main" w="28575">
              <a:solidFill>
                <a:srgbClr val="173F70"/>
              </a:solidFill>
              <a:prstDash val="solid"/>
            </a:ln>
          </c:spPr>
          <c:marker>
            <c:symbol val="circle"/>
            <c:size val="10"/>
            <c:spPr>
              <a:solidFill xmlns:a="http://schemas.openxmlformats.org/drawingml/2006/main">
                <a:srgbClr val="173F70"/>
              </a:solidFill>
            </c:spPr>
          </c:marker>
          <c:xVal>
            <c:numRef>
              <c:f>'Chart Data'!$A$2:$A$6</c:f>
              <c:numCache>
                <c:formatCode>General</c:formatCode>
                <c:ptCount val="5"/>
                <c:pt idx="0">
                  <c:v>25</c:v>
                </c:pt>
                <c:pt idx="1">
                  <c:v>50</c:v>
                </c:pt>
                <c:pt idx="2">
                  <c:v>75</c:v>
                </c:pt>
                <c:pt idx="3">
                  <c:v>85</c:v>
                </c:pt>
                <c:pt idx="4">
                  <c:v>100</c:v>
                </c:pt>
              </c:numCache>
            </c:numRef>
          </c:xVal>
          <c:yVal>
            <c:numRef>
              <c:f>'Chart Data'!$B$2:$B$6</c:f>
              <c:numCache>
                <c:formatCode>+0.0;-0.0;0.0</c:formatCode>
                <c:ptCount val="5"/>
                <c:pt idx="0">
                  <c:v>-0.187341</c:v>
                </c:pt>
                <c:pt idx="1">
                  <c:v>-0.024956</c:v>
                </c:pt>
                <c:pt idx="2">
                  <c:v>0.218113</c:v>
                </c:pt>
                <c:pt idx="3">
                  <c:v>0.309255</c:v>
                </c:pt>
                <c:pt idx="4">
                  <c:v>0.507059</c:v>
                </c:pt>
              </c:numCache>
            </c:numRef>
          </c:y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ptos"/>
                  <a:ea typeface="Aptos"/>
                  <a:cs typeface="Apto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.6"/>
          <c:min val="-0.4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DDE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75">
                    <a:solidFill>
                      <a:srgbClr val="5A6573"/>
                    </a:solidFill>
                    <a:latin typeface="Aptos"/>
                    <a:ea typeface="Aptos"/>
                    <a:cs typeface="Aptos"/>
                  </a:rPr>
                  <a:t>Gain in empty-host time (pp)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5A6573"/>
                  </a:solidFill>
                  <a:latin typeface="Aptos"/>
                  <a:ea typeface="Aptos"/>
                  <a:cs typeface="Aptos"/>
                </a:defRPr>
              </a:pPr>
            </a:p>
          </c:txPr>
        </c:title>
        <c:numFmt formatCode="+0.0;-0.0;0.0"/>
        <c:majorTickMark val="none"/>
        <c:minorTickMark val="none"/>
        <c:spPr>
          <a:ln xmlns:a="http://schemas.openxmlformats.org/drawingml/2006/main" w="9525">
            <a:solidFill>
              <a:srgbClr val="5A6573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233142"/>
                </a:solidFill>
                <a:latin typeface="Aptos"/>
                <a:ea typeface="Aptos"/>
                <a:cs typeface="Aptos"/>
              </a:defRPr>
            </a:pPr>
          </a:p>
        </c:txPr>
        <c:crossAx val="48650112"/>
        <c:majorUnit val="0.2"/>
      </c:valAx>
      <c:valAx>
        <c:axId val="48650112"/>
        <c:scaling>
          <c:orientation val="minMax"/>
          <c:max val="100"/>
          <c:min val="25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75">
                    <a:solidFill>
                      <a:srgbClr val="5A6573"/>
                    </a:solidFill>
                    <a:latin typeface="Aptos"/>
                    <a:ea typeface="Aptos"/>
                    <a:cs typeface="Aptos"/>
                  </a:rPr>
                  <a:t>Prediction accuracy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5A6573"/>
                  </a:solidFill>
                  <a:latin typeface="Aptos"/>
                  <a:ea typeface="Aptos"/>
                  <a:cs typeface="Apto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5A6573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233142"/>
                </a:solidFill>
                <a:latin typeface="Aptos"/>
                <a:ea typeface="Aptos"/>
                <a:cs typeface="Aptos"/>
              </a:defRPr>
            </a:pPr>
          </a:p>
        </c:txPr>
        <c:crossAx val="48672768"/>
        <c:majorUnit val="25"/>
      </c:valAx>
      <c:spPr>
        <a:noFill xmlns:a="http://schemas.openxmlformats.org/drawingml/2006/main"/>
      </c:spPr>
    </c:plotArea>
    <c:plotVisOnly val="1"/>
  </c:chart>
  <c:spPr>
    <a:noFill xmlns:a="http://schemas.openxmlformats.org/drawingml/2006/main"/>
  </c:spPr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Predicted hours remaining</c:v>
          </c:tx>
          <c:spPr>
            <a:solidFill xmlns:a="http://schemas.openxmlformats.org/drawingml/2006/main">
              <a:srgbClr val="7B8591"/>
            </a:solidFill>
          </c:spPr>
          <c:invertIfNegative val="0"/>
          <c:dPt>
            <c:idx val="1"/>
            <c:invertIfNegative val="0"/>
            <c:spPr>
              <a:solidFill xmlns:a="http://schemas.openxmlformats.org/drawingml/2006/main">
                <a:srgbClr val="2F5D8A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Treat cap as exact</c:v>
                </c:pt>
                <c:pt idx="1">
                  <c:v>Use cap information</c:v>
                </c:pt>
              </c:strCache>
            </c:strRef>
          </c:cat>
          <c:val>
            <c:numRef>
              <c:f>'Chart Data'!$B$2:$B$3</c:f>
              <c:numCache>
                <c:formatCode>0" h"</c:formatCode>
                <c:ptCount val="2"/>
                <c:pt idx="0">
                  <c:v>36</c:v>
                </c:pt>
                <c:pt idx="1">
                  <c:v>151</c:v>
                </c:pt>
              </c:numCache>
            </c:numRef>
          </c:val>
        </c:ser>
        <c:dLbls>
          <c:numFmt formatCode="0&quot; h&quot;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solidFill>
                    <a:srgbClr val="233142"/>
                  </a:solidFill>
                  <a:latin typeface="Aptos"/>
                  <a:ea typeface="Aptos"/>
                  <a:cs typeface="Apto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5A6573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233142"/>
                </a:solidFill>
                <a:latin typeface="Aptos"/>
                <a:ea typeface="Aptos"/>
                <a:cs typeface="Aptos"/>
              </a:defRPr>
            </a:pPr>
          </a:p>
        </c:txPr>
        <c:crossAx val="48672768"/>
      </c:catAx>
      <c:valAx>
        <c:axId val="48672768"/>
        <c:scaling>
          <c:orientation val="minMax"/>
          <c:max val="180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D7DDE3"/>
              </a:solidFill>
              <a:prstDash val="solid"/>
            </a:ln>
          </c:spPr>
        </c:majorGridlines>
        <c:numFmt formatCode="0&quot; h&quot;"/>
        <c:majorTickMark val="none"/>
        <c:minorTickMark val="none"/>
        <c:spPr>
          <a:ln xmlns:a="http://schemas.openxmlformats.org/drawingml/2006/main" w="9525">
            <a:solidFill>
              <a:srgbClr val="5A6573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A6573"/>
                </a:solidFill>
                <a:latin typeface="Aptos"/>
                <a:ea typeface="Aptos"/>
                <a:cs typeface="Aptos"/>
              </a:defRPr>
            </a:pPr>
          </a:p>
        </c:txPr>
        <c:crossAx val="48650112"/>
        <c:crossBetween val="between"/>
        <c:majorUnit val="60"/>
      </c:valAx>
      <c:spPr>
        <a:noFill xmlns:a="http://schemas.openxmlformats.org/drawingml/2006/main"/>
      </c:spPr>
    </c:plotArea>
    <c:plotVisOnly val="1"/>
  </c:chart>
  <c:spPr>
    <a:noFill xmlns:a="http://schemas.openxmlformats.org/drawingml/2006/main"/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5B29A1-5944-47C4-B334-66CE8BB04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4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B8B486-C203-48FC-AC56-AB18F0554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595312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3450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3450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3450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3450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3450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3450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3450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3450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3450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buNone/>
              <a:defRPr sz="3450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233142"/>
                </a:solidFill>
                <a:latin typeface="Aptos"/>
                <a:ea typeface="Aptos"/>
                <a:cs typeface="Aptos"/>
              </a:rPr>
              <a:t>Revisiting Lifetime-Aware</a:t>
            </a:r>
          </a:p>
          <a:p xmlns:a="http://schemas.openxmlformats.org/drawingml/2006/main">
            <a:pPr algn="l">
              <a:buNone/>
              <a:defRPr sz="3450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233142"/>
                </a:solidFill>
                <a:latin typeface="Aptos"/>
                <a:ea typeface="Aptos"/>
                <a:cs typeface="Aptos"/>
              </a:rPr>
              <a:t>VM Allocation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49562F-8A3E-42C8-A019-53BDE9924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5953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232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232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232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232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232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232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232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232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232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buNone/>
              <a:defRPr sz="232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2F5D8A"/>
                </a:solidFill>
                <a:latin typeface="Aptos"/>
                <a:ea typeface="Aptos"/>
                <a:cs typeface="Aptos"/>
              </a:rPr>
              <a:t>Does better prediction make</a:t>
            </a:r>
          </a:p>
          <a:p xmlns:a="http://schemas.openxmlformats.org/drawingml/2006/main">
            <a:pPr algn="l">
              <a:buNone/>
              <a:defRPr sz="232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2F5D8A"/>
                </a:solidFill>
                <a:latin typeface="Aptos"/>
                <a:ea typeface="Aptos"/>
                <a:cs typeface="Aptos"/>
              </a:rPr>
              <a:t>better VM placement?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5A39F3-7B1A-4049-B970-BD0D401C3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0425"/>
            <a:ext cx="59531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875" b="1">
                <a:solidFill>
                  <a:srgbClr val="5A6573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875" b="1">
                <a:solidFill>
                  <a:srgbClr val="5A6573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875" b="1">
                <a:solidFill>
                  <a:srgbClr val="5A6573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875" b="1">
                <a:solidFill>
                  <a:srgbClr val="5A6573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875" b="1">
                <a:solidFill>
                  <a:srgbClr val="5A6573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875" b="1">
                <a:solidFill>
                  <a:srgbClr val="5A6573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875" b="1">
                <a:solidFill>
                  <a:srgbClr val="5A6573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875" b="1">
                <a:solidFill>
                  <a:srgbClr val="5A6573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875" b="1">
                <a:solidFill>
                  <a:srgbClr val="5A657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buNone/>
              <a:defRPr sz="1650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F5D8A"/>
                </a:solidFill>
                <a:latin typeface="Aptos"/>
                <a:ea typeface="Aptos"/>
                <a:cs typeface="Aptos"/>
              </a:rPr>
              <a:t>Part 1  The original method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F5D8A"/>
                </a:solidFill>
                <a:latin typeface="Aptos"/>
                <a:ea typeface="Aptos"/>
                <a:cs typeface="Aptos"/>
              </a:rPr>
              <a:t>Part 2  Reproduction</a:t>
            </a:r>
          </a:p>
          <a:p xmlns:a="http://schemas.openxmlformats.org/drawingml/2006/main">
            <a:pPr algn="l">
              <a:buNone/>
              <a:defRPr sz="1650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F5D8A"/>
                </a:solidFill>
                <a:latin typeface="Aptos"/>
                <a:ea typeface="Aptos"/>
                <a:cs typeface="Aptos"/>
              </a:rPr>
              <a:t>Part 3  Improvement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19D436-E856-498D-981E-5DCD3D6FE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595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5A6573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500" b="1">
                <a:solidFill>
                  <a:srgbClr val="5A6573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500" b="1">
                <a:solidFill>
                  <a:srgbClr val="5A6573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500" b="1">
                <a:solidFill>
                  <a:srgbClr val="5A6573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500" b="1">
                <a:solidFill>
                  <a:srgbClr val="5A6573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500" b="1">
                <a:solidFill>
                  <a:srgbClr val="5A6573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500" b="1">
                <a:solidFill>
                  <a:srgbClr val="5A6573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500" b="1">
                <a:solidFill>
                  <a:srgbClr val="5A6573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500" b="1">
                <a:solidFill>
                  <a:srgbClr val="5A6573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500" b="1">
                <a:solidFill>
                  <a:srgbClr val="5A657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buNone/>
              <a:defRPr sz="1500" b="1">
                <a:solidFill>
                  <a:srgbClr val="5A657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5A6573"/>
                </a:solidFill>
                <a:latin typeface="Aptos"/>
                <a:ea typeface="Aptos"/>
                <a:cs typeface="Aptos"/>
              </a:rPr>
              <a:t>CE7490 Course Project · 26S1 Group 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632BE5-D9B2-4A1D-A9D6-2D32A7ECA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5953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5A6573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425" b="1">
                <a:solidFill>
                  <a:srgbClr val="5A6573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425" b="1">
                <a:solidFill>
                  <a:srgbClr val="5A6573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425" b="1">
                <a:solidFill>
                  <a:srgbClr val="5A6573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425" b="1">
                <a:solidFill>
                  <a:srgbClr val="5A6573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425" b="1">
                <a:solidFill>
                  <a:srgbClr val="5A6573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425" b="1">
                <a:solidFill>
                  <a:srgbClr val="5A6573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425" b="1">
                <a:solidFill>
                  <a:srgbClr val="5A6573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425" b="1">
                <a:solidFill>
                  <a:srgbClr val="5A6573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425" b="1">
                <a:solidFill>
                  <a:srgbClr val="5A657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5A657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5A6573"/>
                </a:solidFill>
                <a:latin typeface="Aptos"/>
                <a:ea typeface="Aptos"/>
                <a:cs typeface="Aptos"/>
              </a:rPr>
              <a:t>Zhang Qi (G2510784F)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EC5DF2-187A-44A2-BCE8-4AC1BCB47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5953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75">
                <a:solidFill>
                  <a:srgbClr val="5A6573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275">
                <a:solidFill>
                  <a:srgbClr val="5A6573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275">
                <a:solidFill>
                  <a:srgbClr val="5A6573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275">
                <a:solidFill>
                  <a:srgbClr val="5A6573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275">
                <a:solidFill>
                  <a:srgbClr val="5A6573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275">
                <a:solidFill>
                  <a:srgbClr val="5A6573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275">
                <a:solidFill>
                  <a:srgbClr val="5A6573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275">
                <a:solidFill>
                  <a:srgbClr val="5A6573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275">
                <a:solidFill>
                  <a:srgbClr val="5A6573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275">
                <a:solidFill>
                  <a:srgbClr val="5A657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buNone/>
              <a:defRPr sz="1275">
                <a:solidFill>
                  <a:srgbClr val="5A6573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A6573"/>
                </a:solidFill>
                <a:latin typeface="Aptos"/>
                <a:ea typeface="Aptos"/>
                <a:cs typeface="Aptos"/>
              </a:rPr>
              <a:t>qi015@e.ntu.edu.sg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F873DE-AF32-4EBA-A6EF-93C43A2F6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0200"/>
            <a:ext cx="5953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5A6573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425" b="1">
                <a:solidFill>
                  <a:srgbClr val="5A6573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425" b="1">
                <a:solidFill>
                  <a:srgbClr val="5A6573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425" b="1">
                <a:solidFill>
                  <a:srgbClr val="5A6573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425" b="1">
                <a:solidFill>
                  <a:srgbClr val="5A6573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425" b="1">
                <a:solidFill>
                  <a:srgbClr val="5A6573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425" b="1">
                <a:solidFill>
                  <a:srgbClr val="5A6573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425" b="1">
                <a:solidFill>
                  <a:srgbClr val="5A6573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425" b="1">
                <a:solidFill>
                  <a:srgbClr val="5A6573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425" b="1">
                <a:solidFill>
                  <a:srgbClr val="5A657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5A657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5A6573"/>
                </a:solidFill>
                <a:latin typeface="Aptos"/>
                <a:ea typeface="Aptos"/>
                <a:cs typeface="Aptos"/>
              </a:rPr>
              <a:t>Zhang Saining (G2511061H)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DDA403-AFD1-473B-9067-99BA86996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5953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75">
                <a:solidFill>
                  <a:srgbClr val="5A6573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275">
                <a:solidFill>
                  <a:srgbClr val="5A6573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275">
                <a:solidFill>
                  <a:srgbClr val="5A6573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275">
                <a:solidFill>
                  <a:srgbClr val="5A6573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275">
                <a:solidFill>
                  <a:srgbClr val="5A6573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275">
                <a:solidFill>
                  <a:srgbClr val="5A6573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275">
                <a:solidFill>
                  <a:srgbClr val="5A6573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275">
                <a:solidFill>
                  <a:srgbClr val="5A6573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275">
                <a:solidFill>
                  <a:srgbClr val="5A6573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275">
                <a:solidFill>
                  <a:srgbClr val="5A657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buNone/>
              <a:defRPr sz="1275">
                <a:solidFill>
                  <a:srgbClr val="5A6573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A6573"/>
                </a:solidFill>
                <a:latin typeface="Aptos"/>
                <a:ea typeface="Aptos"/>
                <a:cs typeface="Aptos"/>
              </a:rPr>
              <a:t>saining002@e.ntu.edu.sg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4456A9-D47C-427C-BE18-2A29C4D3C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5953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5A6573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425" b="1">
                <a:solidFill>
                  <a:srgbClr val="5A6573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425" b="1">
                <a:solidFill>
                  <a:srgbClr val="5A6573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425" b="1">
                <a:solidFill>
                  <a:srgbClr val="5A6573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425" b="1">
                <a:solidFill>
                  <a:srgbClr val="5A6573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425" b="1">
                <a:solidFill>
                  <a:srgbClr val="5A6573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425" b="1">
                <a:solidFill>
                  <a:srgbClr val="5A6573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425" b="1">
                <a:solidFill>
                  <a:srgbClr val="5A6573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425" b="1">
                <a:solidFill>
                  <a:srgbClr val="5A6573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425" b="1">
                <a:solidFill>
                  <a:srgbClr val="5A657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buNone/>
              <a:defRPr sz="1425" b="1">
                <a:solidFill>
                  <a:srgbClr val="5A657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5A6573"/>
                </a:solidFill>
                <a:latin typeface="Aptos"/>
                <a:ea typeface="Aptos"/>
                <a:cs typeface="Aptos"/>
              </a:rPr>
              <a:t>Zheng Yitao (G2608664B)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F7995A-BEDB-4AB3-894A-73B90A2B7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0"/>
            <a:ext cx="5953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75">
                <a:solidFill>
                  <a:srgbClr val="5A6573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275">
                <a:solidFill>
                  <a:srgbClr val="5A6573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275">
                <a:solidFill>
                  <a:srgbClr val="5A6573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275">
                <a:solidFill>
                  <a:srgbClr val="5A6573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275">
                <a:solidFill>
                  <a:srgbClr val="5A6573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275">
                <a:solidFill>
                  <a:srgbClr val="5A6573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275">
                <a:solidFill>
                  <a:srgbClr val="5A6573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275">
                <a:solidFill>
                  <a:srgbClr val="5A6573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275">
                <a:solidFill>
                  <a:srgbClr val="5A6573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275">
                <a:solidFill>
                  <a:srgbClr val="5A657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buNone/>
              <a:defRPr sz="1275">
                <a:solidFill>
                  <a:srgbClr val="5A6573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A6573"/>
                </a:solidFill>
                <a:latin typeface="Aptos"/>
                <a:ea typeface="Aptos"/>
                <a:cs typeface="Aptos"/>
              </a:rPr>
              <a:t>YZHENG056@e.ntu.edu.sg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235B5A-733B-48FA-9F07-62C1FEADA78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6513b877eb401a"/>
          <a:stretch xmlns:a="http://schemas.openxmlformats.org/drawingml/2006/main"/>
        </p:blipFill>
        <p:spPr>
          <a:xfrm xmlns:a="http://schemas.openxmlformats.org/drawingml/2006/main">
            <a:off x="7164731" y="1647825"/>
            <a:ext cx="4682437" cy="340995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352E16-7937-46A9-8B55-1C595D872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429250"/>
            <a:ext cx="447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57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57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57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57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57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57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57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57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57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A6573"/>
                </a:solidFill>
                <a:latin typeface="Aptos"/>
                <a:ea typeface="Aptos"/>
                <a:cs typeface="Aptos"/>
              </a:rPr>
              <a:t>Based on LAVA (MLSys 2025)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A6573"/>
                </a:solidFill>
                <a:latin typeface="Aptos"/>
                <a:ea typeface="Aptos"/>
                <a:cs typeface="Aptos"/>
              </a:rPr>
              <a:t>Reproduction first, then improvement</a:t>
            </a:r>
          </a:p>
        </p:txBody>
      </p:sp>
    </p:spTree>
    <p:extLst>
      <p:ext uri="{BB962C8B-B14F-4D97-AF65-F5344CB8AC3E}">
        <p14:creationId xmlns:p14="http://schemas.microsoft.com/office/powerpoint/2010/main" val="64215725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aphicFrame>
        <p:nvGraphicFramePr>
          <p:cNvPr id="9" name="Chart">
            <a:extLst xmlns:a="http://schemas.openxmlformats.org/drawingml/2006/main">
              <a:ext uri="{FF2B5EF4-FFF2-40B4-BE49-F238E27FC236}">
                <a16:creationId xmlns:a16="http://schemas.microsoft.com/office/drawing/2014/main" id="{717277AE-6D81-406A-8FA5-EEAD01FC8AD1}"/>
              </a:ext>
            </a:extLst>
          </p:cNvPr>
          <p:cNvGraphicFramePr/>
          <p:nvPr/>
        </p:nvGraphicFramePr>
        <p:xfrm>
          <a:off xmlns:a="http://schemas.openxmlformats.org/drawingml/2006/main" x="6953250" y="2286000"/>
          <a:ext xmlns:a="http://schemas.openxmlformats.org/drawingml/2006/main" cx="4572000" cy="2857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075569aae254fbd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226D65-8544-4F5F-84DF-001487CEB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defPPr>
            <a:lvl1pPr algn="l">
              <a:defRPr sz="12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1pPr>
            <a:lvl2pPr algn="l">
              <a:defRPr sz="12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2pPr>
            <a:lvl3pPr algn="l">
              <a:defRPr sz="12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3pPr>
            <a:lvl4pPr algn="l">
              <a:defRPr sz="12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4pPr>
            <a:lvl5pPr algn="l">
              <a:defRPr sz="12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5pPr>
            <a:lvl6pPr algn="l">
              <a:defRPr sz="12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6pPr>
            <a:lvl7pPr algn="l">
              <a:defRPr sz="12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7pPr>
            <a:lvl8pPr algn="l">
              <a:defRPr sz="12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8pPr>
            <a:lvl9pPr algn="l">
              <a:defRPr sz="12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F5D8A"/>
                </a:solidFill>
                <a:latin typeface="Aptos"/>
                <a:ea typeface="Aptos"/>
                <a:cs typeface="Aptos"/>
              </a:rPr>
              <a:t>PART 1  THE ORIGINAL METHOD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EB6209-3B9F-41D8-A6F3-6EA42D478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"/>
            <a:ext cx="108204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775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defPPr>
            <a:lvl1pPr algn="l">
              <a:defRPr sz="2775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lvl1pPr>
            <a:lvl2pPr algn="l">
              <a:defRPr sz="2775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lvl2pPr>
            <a:lvl3pPr algn="l">
              <a:defRPr sz="2775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lvl3pPr>
            <a:lvl4pPr algn="l">
              <a:defRPr sz="2775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lvl4pPr>
            <a:lvl5pPr algn="l">
              <a:defRPr sz="2775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lvl5pPr>
            <a:lvl6pPr algn="l">
              <a:defRPr sz="2775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lvl6pPr>
            <a:lvl7pPr algn="l">
              <a:defRPr sz="2775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lvl7pPr>
            <a:lvl8pPr algn="l">
              <a:defRPr sz="2775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lvl8pPr>
            <a:lvl9pPr algn="l">
              <a:defRPr sz="2775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pPr>
            <a:r>
              <a:rPr sz="2775" b="1">
                <a:solidFill>
                  <a:srgbClr val="233142"/>
                </a:solidFill>
                <a:latin typeface="Aptos"/>
                <a:ea typeface="Aptos"/>
                <a:cs typeface="Aptos"/>
              </a:rPr>
              <a:t>VM placement uses both capacity and time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017865-440A-406D-B855-79B85CCD6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defPPr>
            <a:lvl1pPr algn="l">
              <a:defRPr sz="180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1pPr>
            <a:lvl2pPr algn="l">
              <a:defRPr sz="180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2pPr>
            <a:lvl3pPr algn="l">
              <a:defRPr sz="180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3pPr>
            <a:lvl4pPr algn="l">
              <a:defRPr sz="180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4pPr>
            <a:lvl5pPr algn="l">
              <a:defRPr sz="180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5pPr>
            <a:lvl6pPr algn="l">
              <a:defRPr sz="180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6pPr>
            <a:lvl7pPr algn="l">
              <a:defRPr sz="180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7pPr>
            <a:lvl8pPr algn="l">
              <a:defRPr sz="180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8pPr>
            <a:lvl9pPr algn="l">
              <a:defRPr sz="180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5A6573"/>
                </a:solidFill>
                <a:latin typeface="Aptos"/>
                <a:ea typeface="Aptos"/>
                <a:cs typeface="Aptos"/>
              </a:rPr>
              <a:t>A placement must fit CPU and memory. Departures determine when a whole host becomes empty.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14B329-D976-44AF-8C44-C9AB55A16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95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defPPr>
            <a:lvl1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1pPr>
            <a:lvl2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2pPr>
            <a:lvl3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3pPr>
            <a:lvl4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4pPr>
            <a:lvl5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5pPr>
            <a:lvl6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6pPr>
            <a:lvl7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7pPr>
            <a:lvl8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8pPr>
            <a:lvl9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A6573"/>
                </a:solidFill>
                <a:latin typeface="Aptos"/>
                <a:ea typeface="Aptos"/>
                <a:cs typeface="Aptos"/>
              </a:rPr>
              <a:t>CE7490 · 26S1 Group 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7E92C0-8891-43B1-9633-515EF45E7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96050"/>
            <a:ext cx="1028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defPPr>
            <a:lvl1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1pPr>
            <a:lvl2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2pPr>
            <a:lvl3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3pPr>
            <a:lvl4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4pPr>
            <a:lvl5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5pPr>
            <a:lvl6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6pPr>
            <a:lvl7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7pPr>
            <a:lvl8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8pPr>
            <a:lvl9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A6573"/>
                </a:solidFill>
                <a:latin typeface="Aptos"/>
                <a:ea typeface="Aptos"/>
                <a:cs typeface="Aptos"/>
              </a:rPr>
              <a:t>2 / 15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9B7AFD-76A7-4E77-A573-343954CF9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571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defPPr>
            <a:lvl1pPr algn="l">
              <a:defRPr sz="2100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lvl1pPr>
            <a:lvl2pPr algn="l">
              <a:defRPr sz="2100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lvl2pPr>
            <a:lvl3pPr algn="l">
              <a:defRPr sz="2100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lvl3pPr>
            <a:lvl4pPr algn="l">
              <a:defRPr sz="2100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lvl4pPr>
            <a:lvl5pPr algn="l">
              <a:defRPr sz="2100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lvl5pPr>
            <a:lvl6pPr algn="l">
              <a:defRPr sz="2100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lvl6pPr>
            <a:lvl7pPr algn="l">
              <a:defRPr sz="2100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lvl7pPr>
            <a:lvl8pPr algn="l">
              <a:defRPr sz="2100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lvl8pPr>
            <a:lvl9pPr algn="l">
              <a:defRPr sz="2100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233142"/>
                </a:solidFill>
                <a:latin typeface="Aptos"/>
                <a:ea typeface="Aptos"/>
                <a:cs typeface="Aptos"/>
              </a:rPr>
              <a:t>VM: a virtual computer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B14F3B-082B-4C6C-A78C-57E422E74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5905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33142"/>
                </a:solidFill>
                <a:latin typeface="Aptos"/>
                <a:ea typeface="Aptos"/>
                <a:cs typeface="Aptos"/>
              </a:defRPr>
            </a:defPPr>
            <a:lvl1pPr algn="l">
              <a:defRPr sz="1875" b="0">
                <a:solidFill>
                  <a:srgbClr val="233142"/>
                </a:solidFill>
                <a:latin typeface="Aptos"/>
                <a:ea typeface="Aptos"/>
                <a:cs typeface="Aptos"/>
              </a:defRPr>
            </a:lvl1pPr>
            <a:lvl2pPr algn="l">
              <a:defRPr sz="1875" b="0">
                <a:solidFill>
                  <a:srgbClr val="233142"/>
                </a:solidFill>
                <a:latin typeface="Aptos"/>
                <a:ea typeface="Aptos"/>
                <a:cs typeface="Aptos"/>
              </a:defRPr>
            </a:lvl2pPr>
            <a:lvl3pPr algn="l">
              <a:defRPr sz="1875" b="0">
                <a:solidFill>
                  <a:srgbClr val="233142"/>
                </a:solidFill>
                <a:latin typeface="Aptos"/>
                <a:ea typeface="Aptos"/>
                <a:cs typeface="Aptos"/>
              </a:defRPr>
            </a:lvl3pPr>
            <a:lvl4pPr algn="l">
              <a:defRPr sz="1875" b="0">
                <a:solidFill>
                  <a:srgbClr val="233142"/>
                </a:solidFill>
                <a:latin typeface="Aptos"/>
                <a:ea typeface="Aptos"/>
                <a:cs typeface="Aptos"/>
              </a:defRPr>
            </a:lvl4pPr>
            <a:lvl5pPr algn="l">
              <a:defRPr sz="1875" b="0">
                <a:solidFill>
                  <a:srgbClr val="233142"/>
                </a:solidFill>
                <a:latin typeface="Aptos"/>
                <a:ea typeface="Aptos"/>
                <a:cs typeface="Aptos"/>
              </a:defRPr>
            </a:lvl5pPr>
            <a:lvl6pPr algn="l">
              <a:defRPr sz="1875" b="0">
                <a:solidFill>
                  <a:srgbClr val="233142"/>
                </a:solidFill>
                <a:latin typeface="Aptos"/>
                <a:ea typeface="Aptos"/>
                <a:cs typeface="Aptos"/>
              </a:defRPr>
            </a:lvl6pPr>
            <a:lvl7pPr algn="l">
              <a:defRPr sz="1875" b="0">
                <a:solidFill>
                  <a:srgbClr val="233142"/>
                </a:solidFill>
                <a:latin typeface="Aptos"/>
                <a:ea typeface="Aptos"/>
                <a:cs typeface="Aptos"/>
              </a:defRPr>
            </a:lvl7pPr>
            <a:lvl8pPr algn="l">
              <a:defRPr sz="1875" b="0">
                <a:solidFill>
                  <a:srgbClr val="233142"/>
                </a:solidFill>
                <a:latin typeface="Aptos"/>
                <a:ea typeface="Aptos"/>
                <a:cs typeface="Aptos"/>
              </a:defRPr>
            </a:lvl8pPr>
            <a:lvl9pPr algn="l">
              <a:defRPr sz="1875" b="0">
                <a:solidFill>
                  <a:srgbClr val="23314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3314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233142"/>
                </a:solidFill>
                <a:latin typeface="Aptos"/>
                <a:ea typeface="Aptos"/>
                <a:cs typeface="Aptos"/>
              </a:rPr>
              <a:t>Host: a physical server running several VMs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C83DFE-8614-49A1-A320-7AF6AEB8B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5619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defPPr>
            <a:lvl1pPr algn="l">
              <a:defRPr sz="2100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1pPr>
            <a:lvl2pPr algn="l">
              <a:defRPr sz="2100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2pPr>
            <a:lvl3pPr algn="l">
              <a:defRPr sz="2100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3pPr>
            <a:lvl4pPr algn="l">
              <a:defRPr sz="2100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4pPr>
            <a:lvl5pPr algn="l">
              <a:defRPr sz="2100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5pPr>
            <a:lvl6pPr algn="l">
              <a:defRPr sz="2100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6pPr>
            <a:lvl7pPr algn="l">
              <a:defRPr sz="2100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7pPr>
            <a:lvl8pPr algn="l">
              <a:defRPr sz="2100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8pPr>
            <a:lvl9pPr algn="l">
              <a:defRPr sz="2100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2F5D8A"/>
                </a:solidFill>
                <a:latin typeface="Aptos"/>
                <a:ea typeface="Aptos"/>
                <a:cs typeface="Aptos"/>
              </a:rPr>
              <a:t>A request fits only when BOTH resources are available.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20C9C7-C4E8-4892-AF3F-A66871115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571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33142"/>
                </a:solidFill>
                <a:latin typeface="Aptos"/>
                <a:ea typeface="Aptos"/>
                <a:cs typeface="Aptos"/>
              </a:defRPr>
            </a:defPPr>
            <a:lvl1pPr algn="l">
              <a:defRPr sz="1875" b="0">
                <a:solidFill>
                  <a:srgbClr val="233142"/>
                </a:solidFill>
                <a:latin typeface="Aptos"/>
                <a:ea typeface="Aptos"/>
                <a:cs typeface="Aptos"/>
              </a:defRPr>
            </a:lvl1pPr>
            <a:lvl2pPr algn="l">
              <a:defRPr sz="1875" b="0">
                <a:solidFill>
                  <a:srgbClr val="233142"/>
                </a:solidFill>
                <a:latin typeface="Aptos"/>
                <a:ea typeface="Aptos"/>
                <a:cs typeface="Aptos"/>
              </a:defRPr>
            </a:lvl2pPr>
            <a:lvl3pPr algn="l">
              <a:defRPr sz="1875" b="0">
                <a:solidFill>
                  <a:srgbClr val="233142"/>
                </a:solidFill>
                <a:latin typeface="Aptos"/>
                <a:ea typeface="Aptos"/>
                <a:cs typeface="Aptos"/>
              </a:defRPr>
            </a:lvl3pPr>
            <a:lvl4pPr algn="l">
              <a:defRPr sz="1875" b="0">
                <a:solidFill>
                  <a:srgbClr val="233142"/>
                </a:solidFill>
                <a:latin typeface="Aptos"/>
                <a:ea typeface="Aptos"/>
                <a:cs typeface="Aptos"/>
              </a:defRPr>
            </a:lvl4pPr>
            <a:lvl5pPr algn="l">
              <a:defRPr sz="1875" b="0">
                <a:solidFill>
                  <a:srgbClr val="233142"/>
                </a:solidFill>
                <a:latin typeface="Aptos"/>
                <a:ea typeface="Aptos"/>
                <a:cs typeface="Aptos"/>
              </a:defRPr>
            </a:lvl5pPr>
            <a:lvl6pPr algn="l">
              <a:defRPr sz="1875" b="0">
                <a:solidFill>
                  <a:srgbClr val="233142"/>
                </a:solidFill>
                <a:latin typeface="Aptos"/>
                <a:ea typeface="Aptos"/>
                <a:cs typeface="Aptos"/>
              </a:defRPr>
            </a:lvl6pPr>
            <a:lvl7pPr algn="l">
              <a:defRPr sz="1875" b="0">
                <a:solidFill>
                  <a:srgbClr val="233142"/>
                </a:solidFill>
                <a:latin typeface="Aptos"/>
                <a:ea typeface="Aptos"/>
                <a:cs typeface="Aptos"/>
              </a:defRPr>
            </a:lvl7pPr>
            <a:lvl8pPr algn="l">
              <a:defRPr sz="1875" b="0">
                <a:solidFill>
                  <a:srgbClr val="233142"/>
                </a:solidFill>
                <a:latin typeface="Aptos"/>
                <a:ea typeface="Aptos"/>
                <a:cs typeface="Aptos"/>
              </a:defRPr>
            </a:lvl8pPr>
            <a:lvl9pPr algn="l">
              <a:defRPr sz="1875" b="0">
                <a:solidFill>
                  <a:srgbClr val="23314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3314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233142"/>
                </a:solidFill>
                <a:latin typeface="Aptos"/>
                <a:ea typeface="Aptos"/>
                <a:cs typeface="Aptos"/>
              </a:rPr>
              <a:t>Even one remaining VM prevents the host from becoming completely empty.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4E9EED-3869-44FF-A66E-D09C3965C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314950"/>
            <a:ext cx="457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defPPr>
            <a:lvl1pPr algn="l">
              <a:defRPr sz="157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1pPr>
            <a:lvl2pPr algn="l">
              <a:defRPr sz="157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2pPr>
            <a:lvl3pPr algn="l">
              <a:defRPr sz="157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3pPr>
            <a:lvl4pPr algn="l">
              <a:defRPr sz="157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4pPr>
            <a:lvl5pPr algn="l">
              <a:defRPr sz="157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5pPr>
            <a:lvl6pPr algn="l">
              <a:defRPr sz="157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6pPr>
            <a:lvl7pPr algn="l">
              <a:defRPr sz="157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7pPr>
            <a:lvl8pPr algn="l">
              <a:defRPr sz="157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8pPr>
            <a:lvl9pPr algn="l">
              <a:defRPr sz="157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A6573"/>
                </a:solidFill>
                <a:latin typeface="Aptos"/>
                <a:ea typeface="Aptos"/>
                <a:cs typeface="Aptos"/>
              </a:rPr>
              <a:t>Capacity example: CPU has room, memory is full.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B8EFEE-A843-4D65-8598-6BF8F68BE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defPPr>
            <a:lvl1pPr algn="l">
              <a:defRPr sz="157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1pPr>
            <a:lvl2pPr algn="l">
              <a:defRPr sz="157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2pPr>
            <a:lvl3pPr algn="l">
              <a:defRPr sz="157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3pPr>
            <a:lvl4pPr algn="l">
              <a:defRPr sz="157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4pPr>
            <a:lvl5pPr algn="l">
              <a:defRPr sz="157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5pPr>
            <a:lvl6pPr algn="l">
              <a:defRPr sz="157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6pPr>
            <a:lvl7pPr algn="l">
              <a:defRPr sz="157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7pPr>
            <a:lvl8pPr algn="l">
              <a:defRPr sz="157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8pPr>
            <a:lvl9pPr algn="l">
              <a:defRPr sz="157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A6573"/>
                </a:solidFill>
                <a:latin typeface="Aptos"/>
                <a:ea typeface="Aptos"/>
                <a:cs typeface="Aptos"/>
              </a:rPr>
              <a:t>Our metric measures time with empty hosts. It does not directly measure electricity savings.</a:t>
            </a:r>
          </a:p>
        </p:txBody>
      </p:sp>
    </p:spTree>
    <p:extLst>
      <p:ext uri="{BB962C8B-B14F-4D97-AF65-F5344CB8AC3E}">
        <p14:creationId xmlns:p14="http://schemas.microsoft.com/office/powerpoint/2010/main" val="205623823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B735184E-0FE3-4BF9-96CB-B97667D18777}"/>
              </a:ext>
            </a:extLst>
          </p:cNvPr>
          <p:cNvGraphicFramePr/>
          <p:nvPr/>
        </p:nvGraphicFramePr>
        <p:xfrm>
          <a:off xmlns:a="http://schemas.openxmlformats.org/drawingml/2006/main" x="685800" y="2762250"/>
          <a:ext xmlns:a="http://schemas.openxmlformats.org/drawingml/2006/main" cx="10820400" cy="2476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1668b9cd8a44b87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70F08A-6673-4FA0-8E09-8D1202A1B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defPPr>
            <a:lvl1pPr algn="l">
              <a:defRPr sz="12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1pPr>
            <a:lvl2pPr algn="l">
              <a:defRPr sz="12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2pPr>
            <a:lvl3pPr algn="l">
              <a:defRPr sz="12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3pPr>
            <a:lvl4pPr algn="l">
              <a:defRPr sz="12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4pPr>
            <a:lvl5pPr algn="l">
              <a:defRPr sz="12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5pPr>
            <a:lvl6pPr algn="l">
              <a:defRPr sz="12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6pPr>
            <a:lvl7pPr algn="l">
              <a:defRPr sz="12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7pPr>
            <a:lvl8pPr algn="l">
              <a:defRPr sz="12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8pPr>
            <a:lvl9pPr algn="l">
              <a:defRPr sz="12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F5D8A"/>
                </a:solidFill>
                <a:latin typeface="Aptos"/>
                <a:ea typeface="Aptos"/>
                <a:cs typeface="Aptos"/>
              </a:rPr>
              <a:t>PART 1  THE ORIGINAL METHOD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6E5E0A-7661-42B9-921C-D77707629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"/>
            <a:ext cx="108204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775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defPPr>
            <a:lvl1pPr algn="l">
              <a:defRPr sz="2775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lvl1pPr>
            <a:lvl2pPr algn="l">
              <a:defRPr sz="2775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lvl2pPr>
            <a:lvl3pPr algn="l">
              <a:defRPr sz="2775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lvl3pPr>
            <a:lvl4pPr algn="l">
              <a:defRPr sz="2775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lvl4pPr>
            <a:lvl5pPr algn="l">
              <a:defRPr sz="2775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lvl5pPr>
            <a:lvl6pPr algn="l">
              <a:defRPr sz="2775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lvl6pPr>
            <a:lvl7pPr algn="l">
              <a:defRPr sz="2775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lvl7pPr>
            <a:lvl8pPr algn="l">
              <a:defRPr sz="2775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lvl8pPr>
            <a:lvl9pPr algn="l">
              <a:defRPr sz="2775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pPr>
            <a:r>
              <a:rPr sz="2775" b="1">
                <a:solidFill>
                  <a:srgbClr val="233142"/>
                </a:solidFill>
                <a:latin typeface="Aptos"/>
                <a:ea typeface="Aptos"/>
                <a:cs typeface="Aptos"/>
              </a:rPr>
              <a:t>Best-Fit chooses the tightest feasible host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F5F99E-43CD-4BAD-8DBC-CDA91EE62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defPPr>
            <a:lvl1pPr algn="l">
              <a:defRPr sz="180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1pPr>
            <a:lvl2pPr algn="l">
              <a:defRPr sz="180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2pPr>
            <a:lvl3pPr algn="l">
              <a:defRPr sz="180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3pPr>
            <a:lvl4pPr algn="l">
              <a:defRPr sz="180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4pPr>
            <a:lvl5pPr algn="l">
              <a:defRPr sz="180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5pPr>
            <a:lvl6pPr algn="l">
              <a:defRPr sz="180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6pPr>
            <a:lvl7pPr algn="l">
              <a:defRPr sz="180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7pPr>
            <a:lvl8pPr algn="l">
              <a:defRPr sz="180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8pPr>
            <a:lvl9pPr algn="l">
              <a:defRPr sz="180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5A6573"/>
                </a:solidFill>
                <a:latin typeface="Aptos"/>
                <a:ea typeface="Aptos"/>
                <a:cs typeface="Aptos"/>
              </a:rPr>
              <a:t>Best-Fit is the baseline: use the current resource space to select a feasible placement.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864E1B-4CA4-40F5-B34B-011E11B5B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95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defPPr>
            <a:lvl1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1pPr>
            <a:lvl2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2pPr>
            <a:lvl3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3pPr>
            <a:lvl4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4pPr>
            <a:lvl5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5pPr>
            <a:lvl6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6pPr>
            <a:lvl7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7pPr>
            <a:lvl8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8pPr>
            <a:lvl9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A6573"/>
                </a:solidFill>
                <a:latin typeface="Aptos"/>
                <a:ea typeface="Aptos"/>
                <a:cs typeface="Aptos"/>
              </a:rPr>
              <a:t>CE7490 · 26S1 Group 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B0EDCC-F7B5-4286-A3E2-ABB78B79D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96050"/>
            <a:ext cx="1028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defPPr>
            <a:lvl1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1pPr>
            <a:lvl2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2pPr>
            <a:lvl3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3pPr>
            <a:lvl4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4pPr>
            <a:lvl5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5pPr>
            <a:lvl6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6pPr>
            <a:lvl7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7pPr>
            <a:lvl8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8pPr>
            <a:lvl9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A6573"/>
                </a:solidFill>
                <a:latin typeface="Aptos"/>
                <a:ea typeface="Aptos"/>
                <a:cs typeface="Aptos"/>
              </a:rPr>
              <a:t>3 / 15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449E97-0799-401E-9004-E06917DBF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5191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defPPr>
            <a:lvl1pPr algn="l">
              <a:defRPr sz="1950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lvl1pPr>
            <a:lvl2pPr algn="l">
              <a:defRPr sz="1950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lvl2pPr>
            <a:lvl3pPr algn="l">
              <a:defRPr sz="1950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lvl3pPr>
            <a:lvl4pPr algn="l">
              <a:defRPr sz="1950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lvl4pPr>
            <a:lvl5pPr algn="l">
              <a:defRPr sz="1950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lvl5pPr>
            <a:lvl6pPr algn="l">
              <a:defRPr sz="1950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lvl6pPr>
            <a:lvl7pPr algn="l">
              <a:defRPr sz="1950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lvl7pPr>
            <a:lvl8pPr algn="l">
              <a:defRPr sz="1950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lvl8pPr>
            <a:lvl9pPr algn="l">
              <a:defRPr sz="1950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233142"/>
                </a:solidFill>
                <a:latin typeface="Aptos"/>
                <a:ea typeface="Aptos"/>
                <a:cs typeface="Aptos"/>
              </a:rPr>
              <a:t>1  Check CPU and memory limits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FCD3BC-118F-4863-976B-5FFE761C9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62150"/>
            <a:ext cx="5219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defPPr>
            <a:lvl1pPr algn="l">
              <a:defRPr sz="1950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lvl1pPr>
            <a:lvl2pPr algn="l">
              <a:defRPr sz="1950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lvl2pPr>
            <a:lvl3pPr algn="l">
              <a:defRPr sz="1950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lvl3pPr>
            <a:lvl4pPr algn="l">
              <a:defRPr sz="1950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lvl4pPr>
            <a:lvl5pPr algn="l">
              <a:defRPr sz="1950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lvl5pPr>
            <a:lvl6pPr algn="l">
              <a:defRPr sz="1950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lvl6pPr>
            <a:lvl7pPr algn="l">
              <a:defRPr sz="1950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lvl7pPr>
            <a:lvl8pPr algn="l">
              <a:defRPr sz="1950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lvl8pPr>
            <a:lvl9pPr algn="l">
              <a:defRPr sz="1950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233142"/>
                </a:solidFill>
                <a:latin typeface="Aptos"/>
                <a:ea typeface="Aptos"/>
                <a:cs typeface="Aptos"/>
              </a:rPr>
              <a:t>2  Prefer less unused space after placement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54817F-C4EC-4622-9900-766244E99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05425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defPPr>
            <a:lvl1pPr algn="l">
              <a:defRPr sz="165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1pPr>
            <a:lvl2pPr algn="l">
              <a:defRPr sz="165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2pPr>
            <a:lvl3pPr algn="l">
              <a:defRPr sz="165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3pPr>
            <a:lvl4pPr algn="l">
              <a:defRPr sz="165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4pPr>
            <a:lvl5pPr algn="l">
              <a:defRPr sz="165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5pPr>
            <a:lvl6pPr algn="l">
              <a:defRPr sz="165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6pPr>
            <a:lvl7pPr algn="l">
              <a:defRPr sz="165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7pPr>
            <a:lvl8pPr algn="l">
              <a:defRPr sz="165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8pPr>
            <a:lvl9pPr algn="l">
              <a:defRPr sz="165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A6573"/>
                </a:solidFill>
                <a:latin typeface="Aptos"/>
                <a:ea typeface="Aptos"/>
                <a:cs typeface="Aptos"/>
              </a:rPr>
              <a:t>Example VM: 25% CPU and 12.5% memory. All feasible candidates have enough memory.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EFA5AC-D633-4C3B-8C69-664C04208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defPPr>
            <a:lvl1pPr algn="l">
              <a:defRPr sz="18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1pPr>
            <a:lvl2pPr algn="l">
              <a:defRPr sz="18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2pPr>
            <a:lvl3pPr algn="l">
              <a:defRPr sz="18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3pPr>
            <a:lvl4pPr algn="l">
              <a:defRPr sz="18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4pPr>
            <a:lvl5pPr algn="l">
              <a:defRPr sz="18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5pPr>
            <a:lvl6pPr algn="l">
              <a:defRPr sz="18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6pPr>
            <a:lvl7pPr algn="l">
              <a:defRPr sz="18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7pPr>
            <a:lvl8pPr algn="l">
              <a:defRPr sz="18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8pPr>
            <a:lvl9pPr algn="l">
              <a:defRPr sz="18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F5D8A"/>
                </a:solidFill>
                <a:latin typeface="Aptos"/>
                <a:ea typeface="Aptos"/>
                <a:cs typeface="Aptos"/>
              </a:rPr>
              <a:t>Best-Fit uses current space. LAVA additionally uses expected departure times.</a:t>
            </a:r>
          </a:p>
        </p:txBody>
      </p:sp>
    </p:spTree>
    <p:extLst>
      <p:ext uri="{BB962C8B-B14F-4D97-AF65-F5344CB8AC3E}">
        <p14:creationId xmlns:p14="http://schemas.microsoft.com/office/powerpoint/2010/main" val="82372962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6DBEE076-16A4-438A-928E-19392A48F898}"/>
              </a:ext>
            </a:extLst>
          </p:cNvPr>
          <p:cNvGraphicFramePr/>
          <p:nvPr/>
        </p:nvGraphicFramePr>
        <p:xfrm>
          <a:off xmlns:a="http://schemas.openxmlformats.org/drawingml/2006/main" x="6953250" y="2857500"/>
          <a:ext xmlns:a="http://schemas.openxmlformats.org/drawingml/2006/main" cx="4552950" cy="2190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38422cb51404601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FB09C7-070E-46F6-8581-790A8D917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defPPr>
            <a:lvl1pPr algn="l">
              <a:defRPr sz="12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1pPr>
            <a:lvl2pPr algn="l">
              <a:defRPr sz="12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2pPr>
            <a:lvl3pPr algn="l">
              <a:defRPr sz="12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3pPr>
            <a:lvl4pPr algn="l">
              <a:defRPr sz="12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4pPr>
            <a:lvl5pPr algn="l">
              <a:defRPr sz="12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5pPr>
            <a:lvl6pPr algn="l">
              <a:defRPr sz="12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6pPr>
            <a:lvl7pPr algn="l">
              <a:defRPr sz="12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7pPr>
            <a:lvl8pPr algn="l">
              <a:defRPr sz="12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8pPr>
            <a:lvl9pPr algn="l">
              <a:defRPr sz="12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F5D8A"/>
                </a:solidFill>
                <a:latin typeface="Aptos"/>
                <a:ea typeface="Aptos"/>
                <a:cs typeface="Aptos"/>
              </a:rPr>
              <a:t>PART 1  THE ORIGINAL METHOD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5F3757-A6C1-48DD-968F-09C6BCC93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"/>
            <a:ext cx="108204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775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defPPr>
            <a:lvl1pPr algn="l">
              <a:defRPr sz="2775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lvl1pPr>
            <a:lvl2pPr algn="l">
              <a:defRPr sz="2775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lvl2pPr>
            <a:lvl3pPr algn="l">
              <a:defRPr sz="2775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lvl3pPr>
            <a:lvl4pPr algn="l">
              <a:defRPr sz="2775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lvl4pPr>
            <a:lvl5pPr algn="l">
              <a:defRPr sz="2775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lvl5pPr>
            <a:lvl6pPr algn="l">
              <a:defRPr sz="2775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lvl6pPr>
            <a:lvl7pPr algn="l">
              <a:defRPr sz="2775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lvl7pPr>
            <a:lvl8pPr algn="l">
              <a:defRPr sz="2775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lvl8pPr>
            <a:lvl9pPr algn="l">
              <a:defRPr sz="2775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pPr>
            <a:r>
              <a:rPr sz="2775" b="1">
                <a:solidFill>
                  <a:srgbClr val="233142"/>
                </a:solidFill>
                <a:latin typeface="Aptos"/>
                <a:ea typeface="Aptos"/>
                <a:cs typeface="Aptos"/>
              </a:rPr>
              <a:t>LAVA adds expected departure times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6E9CA4-D9A7-44FE-8433-C4D49FB16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defPPr>
            <a:lvl1pPr algn="l">
              <a:defRPr sz="180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1pPr>
            <a:lvl2pPr algn="l">
              <a:defRPr sz="180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2pPr>
            <a:lvl3pPr algn="l">
              <a:defRPr sz="180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3pPr>
            <a:lvl4pPr algn="l">
              <a:defRPr sz="180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4pPr>
            <a:lvl5pPr algn="l">
              <a:defRPr sz="180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5pPr>
            <a:lvl6pPr algn="l">
              <a:defRPr sz="180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6pPr>
            <a:lvl7pPr algn="l">
              <a:defRPr sz="180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7pPr>
            <a:lvl8pPr algn="l">
              <a:defRPr sz="180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8pPr>
            <a:lvl9pPr algn="l">
              <a:defRPr sz="180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5A6573"/>
                </a:solidFill>
                <a:latin typeface="Aptos"/>
                <a:ea typeface="Aptos"/>
                <a:cs typeface="Aptos"/>
              </a:rPr>
              <a:t>The same VMs can occupy hosts for different lengths of time, depending on how they are grouped.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2800D4-0294-4FCC-9AA4-DD248C982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95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defPPr>
            <a:lvl1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1pPr>
            <a:lvl2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2pPr>
            <a:lvl3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3pPr>
            <a:lvl4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4pPr>
            <a:lvl5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5pPr>
            <a:lvl6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6pPr>
            <a:lvl7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7pPr>
            <a:lvl8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8pPr>
            <a:lvl9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A6573"/>
                </a:solidFill>
                <a:latin typeface="Aptos"/>
                <a:ea typeface="Aptos"/>
                <a:cs typeface="Aptos"/>
              </a:rPr>
              <a:t>CE7490 · 26S1 Group 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A15D0E-FB34-42AE-A6B3-1D84F2F2D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96050"/>
            <a:ext cx="1028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defPPr>
            <a:lvl1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1pPr>
            <a:lvl2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2pPr>
            <a:lvl3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3pPr>
            <a:lvl4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4pPr>
            <a:lvl5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5pPr>
            <a:lvl6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6pPr>
            <a:lvl7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7pPr>
            <a:lvl8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8pPr>
            <a:lvl9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A6573"/>
                </a:solidFill>
                <a:latin typeface="Aptos"/>
                <a:ea typeface="Aptos"/>
                <a:cs typeface="Aptos"/>
              </a:rPr>
              <a:t>4 / 15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7692CB-0E34-47DA-8B42-2AE4471D3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defPPr>
            <a:lvl1pPr algn="l">
              <a:defRPr sz="1875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lvl1pPr>
            <a:lvl2pPr algn="l">
              <a:defRPr sz="1875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lvl2pPr>
            <a:lvl3pPr algn="l">
              <a:defRPr sz="1875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lvl3pPr>
            <a:lvl4pPr algn="l">
              <a:defRPr sz="1875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lvl4pPr>
            <a:lvl5pPr algn="l">
              <a:defRPr sz="1875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lvl5pPr>
            <a:lvl6pPr algn="l">
              <a:defRPr sz="1875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lvl6pPr>
            <a:lvl7pPr algn="l">
              <a:defRPr sz="1875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lvl7pPr>
            <a:lvl8pPr algn="l">
              <a:defRPr sz="1875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lvl8pPr>
            <a:lvl9pPr algn="l">
              <a:defRPr sz="1875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33142"/>
                </a:solidFill>
                <a:latin typeface="Aptos"/>
                <a:ea typeface="Aptos"/>
                <a:cs typeface="Aptos"/>
              </a:rPr>
              <a:t>Four simultaneous arrivals: two run for 1 h, two for 10 h. Each host fits two VMs.</a:t>
            </a:r>
          </a:p>
        </p:txBody>
      </p:sp>
      <p:graphicFrame>
        <p:nvGraphicFrame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F44D2B-CFB3-4CA7-B0A1-D18C1C4CBDC4}"/>
              </a:ext>
            </a:extLst>
          </p:cNvPr>
          <p:cNvGraphicFramePr/>
          <p:nvPr/>
        </p:nvGraphicFramePr>
        <p:xfrm>
          <a:off xmlns:a="http://schemas.openxmlformats.org/drawingml/2006/main" x="685800" y="2857500"/>
          <a:ext xmlns:a="http://schemas.openxmlformats.org/drawingml/2006/main" cx="5810250" cy="2019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05000"/>
                <a:gridCol w="1952625"/>
                <a:gridCol w="1952625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Arrangement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7DDE3"/>
                      </a:solidFill>
                      <a:prstDash val="solid"/>
                    </a:lnL>
                    <a:lnR w="5715">
                      <a:solidFill>
                        <a:srgbClr val="D7DDE3"/>
                      </a:solidFill>
                      <a:prstDash val="solid"/>
                    </a:lnR>
                    <a:lnT w="5715">
                      <a:solidFill>
                        <a:srgbClr val="D7DDE3"/>
                      </a:solidFill>
                      <a:prstDash val="solid"/>
                    </a:lnT>
                    <a:lnB w="5715">
                      <a:solidFill>
                        <a:srgbClr val="D7DDE3"/>
                      </a:solidFill>
                      <a:prstDash val="solid"/>
                    </a:lnB>
                    <a:solidFill>
                      <a:srgbClr val="173F7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Host A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7DDE3"/>
                      </a:solidFill>
                      <a:prstDash val="solid"/>
                    </a:lnR>
                    <a:lnT w="5715">
                      <a:solidFill>
                        <a:srgbClr val="D7DDE3"/>
                      </a:solidFill>
                      <a:prstDash val="solid"/>
                    </a:lnT>
                    <a:lnB w="5715">
                      <a:solidFill>
                        <a:srgbClr val="D7DDE3"/>
                      </a:solidFill>
                      <a:prstDash val="solid"/>
                    </a:lnB>
                    <a:solidFill>
                      <a:srgbClr val="173F7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Host B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7DDE3"/>
                      </a:solidFill>
                      <a:prstDash val="solid"/>
                    </a:lnR>
                    <a:lnT w="5715">
                      <a:solidFill>
                        <a:srgbClr val="D7DDE3"/>
                      </a:solidFill>
                      <a:prstDash val="solid"/>
                    </a:lnT>
                    <a:lnB w="5715">
                      <a:solidFill>
                        <a:srgbClr val="D7DDE3"/>
                      </a:solidFill>
                      <a:prstDash val="solid"/>
                    </a:lnB>
                    <a:solidFill>
                      <a:srgbClr val="173F70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233142"/>
                          </a:solidFill>
                          <a:latin typeface="Aptos"/>
                          <a:ea typeface="Aptos"/>
                          <a:cs typeface="Aptos"/>
                        </a:rPr>
                        <a:t>Mixed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7DDE3"/>
                      </a:solidFill>
                      <a:prstDash val="solid"/>
                    </a:lnL>
                    <a:lnR w="5715">
                      <a:solidFill>
                        <a:srgbClr val="D7DDE3"/>
                      </a:solidFill>
                      <a:prstDash val="solid"/>
                    </a:lnR>
                    <a:lnB w="5715">
                      <a:solidFill>
                        <a:srgbClr val="D7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233142"/>
                          </a:solidFill>
                          <a:latin typeface="Aptos"/>
                          <a:ea typeface="Aptos"/>
                          <a:cs typeface="Aptos"/>
                        </a:rPr>
                        <a:t>1 h + 10 h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7DDE3"/>
                      </a:solidFill>
                      <a:prstDash val="solid"/>
                    </a:lnR>
                    <a:lnB w="5715">
                      <a:solidFill>
                        <a:srgbClr val="D7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233142"/>
                          </a:solidFill>
                          <a:latin typeface="Aptos"/>
                          <a:ea typeface="Aptos"/>
                          <a:cs typeface="Aptos"/>
                        </a:rPr>
                        <a:t>1 h + 10 h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7DDE3"/>
                      </a:solidFill>
                      <a:prstDash val="solid"/>
                    </a:lnR>
                    <a:lnB w="5715">
                      <a:solidFill>
                        <a:srgbClr val="D7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233142"/>
                          </a:solidFill>
                          <a:latin typeface="Aptos"/>
                          <a:ea typeface="Aptos"/>
                          <a:cs typeface="Aptos"/>
                        </a:rPr>
                        <a:t>Similar exits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7DDE3"/>
                      </a:solidFill>
                      <a:prstDash val="solid"/>
                    </a:lnL>
                    <a:lnR w="5715">
                      <a:solidFill>
                        <a:srgbClr val="D7DDE3"/>
                      </a:solidFill>
                      <a:prstDash val="solid"/>
                    </a:lnR>
                    <a:lnB w="5715">
                      <a:solidFill>
                        <a:srgbClr val="D7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233142"/>
                          </a:solidFill>
                          <a:latin typeface="Aptos"/>
                          <a:ea typeface="Aptos"/>
                          <a:cs typeface="Aptos"/>
                        </a:rPr>
                        <a:t>1 h + 1 h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7DDE3"/>
                      </a:solidFill>
                      <a:prstDash val="solid"/>
                    </a:lnR>
                    <a:lnB w="5715">
                      <a:solidFill>
                        <a:srgbClr val="D7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233142"/>
                          </a:solidFill>
                          <a:latin typeface="Aptos"/>
                          <a:ea typeface="Aptos"/>
                          <a:cs typeface="Aptos"/>
                        </a:rPr>
                        <a:t>10 h + 10 h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7DDE3"/>
                      </a:solidFill>
                      <a:prstDash val="solid"/>
                    </a:lnR>
                    <a:lnB w="5715">
                      <a:solidFill>
                        <a:srgbClr val="D7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9FE80E-AF6E-47AE-9134-1A75B0D6F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81625"/>
            <a:ext cx="10820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defPPr>
            <a:lvl1pPr algn="l">
              <a:defRPr sz="2100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1pPr>
            <a:lvl2pPr algn="l">
              <a:defRPr sz="2100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2pPr>
            <a:lvl3pPr algn="l">
              <a:defRPr sz="2100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3pPr>
            <a:lvl4pPr algn="l">
              <a:defRPr sz="2100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4pPr>
            <a:lvl5pPr algn="l">
              <a:defRPr sz="2100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5pPr>
            <a:lvl6pPr algn="l">
              <a:defRPr sz="2100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6pPr>
            <a:lvl7pPr algn="l">
              <a:defRPr sz="2100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7pPr>
            <a:lvl8pPr algn="l">
              <a:defRPr sz="2100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8pPr>
            <a:lvl9pPr algn="l">
              <a:defRPr sz="2100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2F5D8A"/>
                </a:solidFill>
                <a:latin typeface="Aptos"/>
                <a:ea typeface="Aptos"/>
                <a:cs typeface="Aptos"/>
              </a:rPr>
              <a:t>After 1 hour: grouping similar departures frees one whole host.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F6C19E-D602-4051-9917-2B82871B1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95975"/>
            <a:ext cx="108204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defPPr>
            <a:lvl1pPr algn="l">
              <a:defRPr sz="157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1pPr>
            <a:lvl2pPr algn="l">
              <a:defRPr sz="157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2pPr>
            <a:lvl3pPr algn="l">
              <a:defRPr sz="157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3pPr>
            <a:lvl4pPr algn="l">
              <a:defRPr sz="157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4pPr>
            <a:lvl5pPr algn="l">
              <a:defRPr sz="157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5pPr>
            <a:lvl6pPr algn="l">
              <a:defRPr sz="157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6pPr>
            <a:lvl7pPr algn="l">
              <a:defRPr sz="157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7pPr>
            <a:lvl8pPr algn="l">
              <a:defRPr sz="157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8pPr>
            <a:lvl9pPr algn="l">
              <a:defRPr sz="157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A6573"/>
                </a:solidFill>
                <a:latin typeface="Aptos"/>
                <a:ea typeface="Aptos"/>
                <a:cs typeface="Aptos"/>
              </a:rPr>
              <a:t>This illustrates the intuition. Full LAVA also updates predictions and adapts host lifecycle states.</a:t>
            </a:r>
          </a:p>
        </p:txBody>
      </p:sp>
    </p:spTree>
    <p:extLst>
      <p:ext uri="{BB962C8B-B14F-4D97-AF65-F5344CB8AC3E}">
        <p14:creationId xmlns:p14="http://schemas.microsoft.com/office/powerpoint/2010/main" val="48384273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506C6EDC-8E71-44F5-8110-64395F2A6A40}"/>
              </a:ext>
            </a:extLst>
          </p:cNvPr>
          <p:cNvGraphicFramePr/>
          <p:nvPr/>
        </p:nvGraphicFramePr>
        <p:xfrm>
          <a:off xmlns:a="http://schemas.openxmlformats.org/drawingml/2006/main" x="6858000" y="2381250"/>
          <a:ext xmlns:a="http://schemas.openxmlformats.org/drawingml/2006/main" cx="4648200" cy="2809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7b0ca78ac4542e2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E559C7-C6CE-41D6-B6D0-24A6A86EE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defPPr>
            <a:lvl1pPr algn="l">
              <a:defRPr sz="12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1pPr>
            <a:lvl2pPr algn="l">
              <a:defRPr sz="12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2pPr>
            <a:lvl3pPr algn="l">
              <a:defRPr sz="12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3pPr>
            <a:lvl4pPr algn="l">
              <a:defRPr sz="12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4pPr>
            <a:lvl5pPr algn="l">
              <a:defRPr sz="12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5pPr>
            <a:lvl6pPr algn="l">
              <a:defRPr sz="12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6pPr>
            <a:lvl7pPr algn="l">
              <a:defRPr sz="12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7pPr>
            <a:lvl8pPr algn="l">
              <a:defRPr sz="12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8pPr>
            <a:lvl9pPr algn="l">
              <a:defRPr sz="12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F5D8A"/>
                </a:solidFill>
                <a:latin typeface="Aptos"/>
                <a:ea typeface="Aptos"/>
                <a:cs typeface="Aptos"/>
              </a:rPr>
              <a:t>PART 1  THE ORIGINAL METHOD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7587F2-F68B-4722-931D-FD766557B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"/>
            <a:ext cx="108204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775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defPPr>
            <a:lvl1pPr algn="l">
              <a:defRPr sz="2775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lvl1pPr>
            <a:lvl2pPr algn="l">
              <a:defRPr sz="2775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lvl2pPr>
            <a:lvl3pPr algn="l">
              <a:defRPr sz="2775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lvl3pPr>
            <a:lvl4pPr algn="l">
              <a:defRPr sz="2775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lvl4pPr>
            <a:lvl5pPr algn="l">
              <a:defRPr sz="2775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lvl5pPr>
            <a:lvl6pPr algn="l">
              <a:defRPr sz="2775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lvl6pPr>
            <a:lvl7pPr algn="l">
              <a:defRPr sz="2775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lvl7pPr>
            <a:lvl8pPr algn="l">
              <a:defRPr sz="2775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lvl8pPr>
            <a:lvl9pPr algn="l">
              <a:defRPr sz="2775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pPr>
            <a:r>
              <a:rPr sz="2775" b="1">
                <a:solidFill>
                  <a:srgbClr val="233142"/>
                </a:solidFill>
                <a:latin typeface="Aptos"/>
                <a:ea typeface="Aptos"/>
                <a:cs typeface="Aptos"/>
              </a:rPr>
              <a:t>Prediction errors can reverse the benefit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73606B-2717-4B57-9965-4E65E5C38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defPPr>
            <a:lvl1pPr algn="l">
              <a:defRPr sz="180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1pPr>
            <a:lvl2pPr algn="l">
              <a:defRPr sz="180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2pPr>
            <a:lvl3pPr algn="l">
              <a:defRPr sz="180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3pPr>
            <a:lvl4pPr algn="l">
              <a:defRPr sz="180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4pPr>
            <a:lvl5pPr algn="l">
              <a:defRPr sz="180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5pPr>
            <a:lvl6pPr algn="l">
              <a:defRPr sz="180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6pPr>
            <a:lvl7pPr algn="l">
              <a:defRPr sz="180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7pPr>
            <a:lvl8pPr algn="l">
              <a:defRPr sz="180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8pPr>
            <a:lvl9pPr algn="l">
              <a:defRPr sz="180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5A6573"/>
                </a:solidFill>
                <a:latin typeface="Aptos"/>
                <a:ea typeface="Aptos"/>
                <a:cs typeface="Aptos"/>
              </a:rPr>
              <a:t>An unexpectedly long VM can keep a host busy after the other VMs leave.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0518B3-0E0C-4037-AE40-EDB3B6C71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95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defPPr>
            <a:lvl1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1pPr>
            <a:lvl2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2pPr>
            <a:lvl3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3pPr>
            <a:lvl4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4pPr>
            <a:lvl5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5pPr>
            <a:lvl6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6pPr>
            <a:lvl7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7pPr>
            <a:lvl8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8pPr>
            <a:lvl9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A6573"/>
                </a:solidFill>
                <a:latin typeface="Aptos"/>
                <a:ea typeface="Aptos"/>
                <a:cs typeface="Aptos"/>
              </a:rPr>
              <a:t>CE7490 · 26S1 Group 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F79FC9-B82E-4347-9027-A365B1DB6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96050"/>
            <a:ext cx="1028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defPPr>
            <a:lvl1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1pPr>
            <a:lvl2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2pPr>
            <a:lvl3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3pPr>
            <a:lvl4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4pPr>
            <a:lvl5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5pPr>
            <a:lvl6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6pPr>
            <a:lvl7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7pPr>
            <a:lvl8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8pPr>
            <a:lvl9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A6573"/>
                </a:solidFill>
                <a:latin typeface="Aptos"/>
                <a:ea typeface="Aptos"/>
                <a:cs typeface="Aptos"/>
              </a:rPr>
              <a:t>5 / 15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8857D2-0CF0-4796-B437-792B7D3EF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571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defPPr>
            <a:lvl1pPr algn="l">
              <a:defRPr sz="2100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lvl1pPr>
            <a:lvl2pPr algn="l">
              <a:defRPr sz="2100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lvl2pPr>
            <a:lvl3pPr algn="l">
              <a:defRPr sz="2100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lvl3pPr>
            <a:lvl4pPr algn="l">
              <a:defRPr sz="2100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lvl4pPr>
            <a:lvl5pPr algn="l">
              <a:defRPr sz="2100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lvl5pPr>
            <a:lvl6pPr algn="l">
              <a:defRPr sz="2100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lvl6pPr>
            <a:lvl7pPr algn="l">
              <a:defRPr sz="2100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lvl7pPr>
            <a:lvl8pPr algn="l">
              <a:defRPr sz="2100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lvl8pPr>
            <a:lvl9pPr algn="l">
              <a:defRPr sz="2100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233142"/>
                </a:solidFill>
                <a:latin typeface="Aptos"/>
                <a:ea typeface="Aptos"/>
                <a:cs typeface="Aptos"/>
              </a:rPr>
              <a:t>Illustrative prediction error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91CE98-BE5D-4BB9-8731-8C5510910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5619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33142"/>
                </a:solidFill>
                <a:latin typeface="Aptos"/>
                <a:ea typeface="Aptos"/>
                <a:cs typeface="Aptos"/>
              </a:defRPr>
            </a:defPPr>
            <a:lvl1pPr algn="l">
              <a:defRPr sz="2025" b="0">
                <a:solidFill>
                  <a:srgbClr val="233142"/>
                </a:solidFill>
                <a:latin typeface="Aptos"/>
                <a:ea typeface="Aptos"/>
                <a:cs typeface="Aptos"/>
              </a:defRPr>
            </a:lvl1pPr>
            <a:lvl2pPr algn="l">
              <a:defRPr sz="2025" b="0">
                <a:solidFill>
                  <a:srgbClr val="233142"/>
                </a:solidFill>
                <a:latin typeface="Aptos"/>
                <a:ea typeface="Aptos"/>
                <a:cs typeface="Aptos"/>
              </a:defRPr>
            </a:lvl2pPr>
            <a:lvl3pPr algn="l">
              <a:defRPr sz="2025" b="0">
                <a:solidFill>
                  <a:srgbClr val="233142"/>
                </a:solidFill>
                <a:latin typeface="Aptos"/>
                <a:ea typeface="Aptos"/>
                <a:cs typeface="Aptos"/>
              </a:defRPr>
            </a:lvl3pPr>
            <a:lvl4pPr algn="l">
              <a:defRPr sz="2025" b="0">
                <a:solidFill>
                  <a:srgbClr val="233142"/>
                </a:solidFill>
                <a:latin typeface="Aptos"/>
                <a:ea typeface="Aptos"/>
                <a:cs typeface="Aptos"/>
              </a:defRPr>
            </a:lvl4pPr>
            <a:lvl5pPr algn="l">
              <a:defRPr sz="2025" b="0">
                <a:solidFill>
                  <a:srgbClr val="233142"/>
                </a:solidFill>
                <a:latin typeface="Aptos"/>
                <a:ea typeface="Aptos"/>
                <a:cs typeface="Aptos"/>
              </a:defRPr>
            </a:lvl5pPr>
            <a:lvl6pPr algn="l">
              <a:defRPr sz="2025" b="0">
                <a:solidFill>
                  <a:srgbClr val="233142"/>
                </a:solidFill>
                <a:latin typeface="Aptos"/>
                <a:ea typeface="Aptos"/>
                <a:cs typeface="Aptos"/>
              </a:defRPr>
            </a:lvl6pPr>
            <a:lvl7pPr algn="l">
              <a:defRPr sz="2025" b="0">
                <a:solidFill>
                  <a:srgbClr val="233142"/>
                </a:solidFill>
                <a:latin typeface="Aptos"/>
                <a:ea typeface="Aptos"/>
                <a:cs typeface="Aptos"/>
              </a:defRPr>
            </a:lvl7pPr>
            <a:lvl8pPr algn="l">
              <a:defRPr sz="2025" b="0">
                <a:solidFill>
                  <a:srgbClr val="233142"/>
                </a:solidFill>
                <a:latin typeface="Aptos"/>
                <a:ea typeface="Aptos"/>
                <a:cs typeface="Aptos"/>
              </a:defRPr>
            </a:lvl8pPr>
            <a:lvl9pPr algn="l">
              <a:defRPr sz="2025" b="0">
                <a:solidFill>
                  <a:srgbClr val="23314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33142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233142"/>
                </a:solidFill>
                <a:latin typeface="Aptos"/>
                <a:ea typeface="Aptos"/>
                <a:cs typeface="Aptos"/>
              </a:rPr>
              <a:t>A VM looks short, so the scheduler expects its host to empty soon.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7268B8-CF2E-4F60-8658-43F271635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5619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33142"/>
                </a:solidFill>
                <a:latin typeface="Aptos"/>
                <a:ea typeface="Aptos"/>
                <a:cs typeface="Aptos"/>
              </a:defRPr>
            </a:defPPr>
            <a:lvl1pPr algn="l">
              <a:defRPr sz="2025" b="0">
                <a:solidFill>
                  <a:srgbClr val="233142"/>
                </a:solidFill>
                <a:latin typeface="Aptos"/>
                <a:ea typeface="Aptos"/>
                <a:cs typeface="Aptos"/>
              </a:defRPr>
            </a:lvl1pPr>
            <a:lvl2pPr algn="l">
              <a:defRPr sz="2025" b="0">
                <a:solidFill>
                  <a:srgbClr val="233142"/>
                </a:solidFill>
                <a:latin typeface="Aptos"/>
                <a:ea typeface="Aptos"/>
                <a:cs typeface="Aptos"/>
              </a:defRPr>
            </a:lvl2pPr>
            <a:lvl3pPr algn="l">
              <a:defRPr sz="2025" b="0">
                <a:solidFill>
                  <a:srgbClr val="233142"/>
                </a:solidFill>
                <a:latin typeface="Aptos"/>
                <a:ea typeface="Aptos"/>
                <a:cs typeface="Aptos"/>
              </a:defRPr>
            </a:lvl3pPr>
            <a:lvl4pPr algn="l">
              <a:defRPr sz="2025" b="0">
                <a:solidFill>
                  <a:srgbClr val="233142"/>
                </a:solidFill>
                <a:latin typeface="Aptos"/>
                <a:ea typeface="Aptos"/>
                <a:cs typeface="Aptos"/>
              </a:defRPr>
            </a:lvl4pPr>
            <a:lvl5pPr algn="l">
              <a:defRPr sz="2025" b="0">
                <a:solidFill>
                  <a:srgbClr val="233142"/>
                </a:solidFill>
                <a:latin typeface="Aptos"/>
                <a:ea typeface="Aptos"/>
                <a:cs typeface="Aptos"/>
              </a:defRPr>
            </a:lvl5pPr>
            <a:lvl6pPr algn="l">
              <a:defRPr sz="2025" b="0">
                <a:solidFill>
                  <a:srgbClr val="233142"/>
                </a:solidFill>
                <a:latin typeface="Aptos"/>
                <a:ea typeface="Aptos"/>
                <a:cs typeface="Aptos"/>
              </a:defRPr>
            </a:lvl6pPr>
            <a:lvl7pPr algn="l">
              <a:defRPr sz="2025" b="0">
                <a:solidFill>
                  <a:srgbClr val="233142"/>
                </a:solidFill>
                <a:latin typeface="Aptos"/>
                <a:ea typeface="Aptos"/>
                <a:cs typeface="Aptos"/>
              </a:defRPr>
            </a:lvl7pPr>
            <a:lvl8pPr algn="l">
              <a:defRPr sz="2025" b="0">
                <a:solidFill>
                  <a:srgbClr val="233142"/>
                </a:solidFill>
                <a:latin typeface="Aptos"/>
                <a:ea typeface="Aptos"/>
                <a:cs typeface="Aptos"/>
              </a:defRPr>
            </a:lvl8pPr>
            <a:lvl9pPr algn="l">
              <a:defRPr sz="2025" b="0">
                <a:solidFill>
                  <a:srgbClr val="23314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33142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233142"/>
                </a:solidFill>
                <a:latin typeface="Aptos"/>
                <a:ea typeface="Aptos"/>
                <a:cs typeface="Aptos"/>
              </a:rPr>
              <a:t>If it runs much longer, that planned departure alignment breaks.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543216-5550-4C60-92E7-9804C88CA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defPPr>
            <a:lvl1pPr algn="l">
              <a:defRPr sz="202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1pPr>
            <a:lvl2pPr algn="l">
              <a:defRPr sz="202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2pPr>
            <a:lvl3pPr algn="l">
              <a:defRPr sz="202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3pPr>
            <a:lvl4pPr algn="l">
              <a:defRPr sz="202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4pPr>
            <a:lvl5pPr algn="l">
              <a:defRPr sz="202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5pPr>
            <a:lvl6pPr algn="l">
              <a:defRPr sz="202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6pPr>
            <a:lvl7pPr algn="l">
              <a:defRPr sz="202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7pPr>
            <a:lvl8pPr algn="l">
              <a:defRPr sz="202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8pPr>
            <a:lvl9pPr algn="l">
              <a:defRPr sz="202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2F5D8A"/>
                </a:solidFill>
                <a:latin typeface="Aptos"/>
                <a:ea typeface="Aptos"/>
                <a:cs typeface="Aptos"/>
              </a:rPr>
              <a:t>LAVA adapts to mispredictions. We test how much the initial prediction quality still matters.</a:t>
            </a:r>
          </a:p>
        </p:txBody>
      </p:sp>
    </p:spTree>
    <p:extLst>
      <p:ext uri="{BB962C8B-B14F-4D97-AF65-F5344CB8AC3E}">
        <p14:creationId xmlns:p14="http://schemas.microsoft.com/office/powerpoint/2010/main" val="43927665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3691CE-81DE-4E29-BE68-04A6C38A9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defPPr>
            <a:lvl1pPr algn="l">
              <a:defRPr sz="12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1pPr>
            <a:lvl2pPr algn="l">
              <a:defRPr sz="12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2pPr>
            <a:lvl3pPr algn="l">
              <a:defRPr sz="12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3pPr>
            <a:lvl4pPr algn="l">
              <a:defRPr sz="12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4pPr>
            <a:lvl5pPr algn="l">
              <a:defRPr sz="12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5pPr>
            <a:lvl6pPr algn="l">
              <a:defRPr sz="12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6pPr>
            <a:lvl7pPr algn="l">
              <a:defRPr sz="12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7pPr>
            <a:lvl8pPr algn="l">
              <a:defRPr sz="12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8pPr>
            <a:lvl9pPr algn="l">
              <a:defRPr sz="12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F5D8A"/>
                </a:solidFill>
                <a:latin typeface="Aptos"/>
                <a:ea typeface="Aptos"/>
                <a:cs typeface="Aptos"/>
              </a:rPr>
              <a:t>PART 2  REPRODUCTION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56DE0F-9F39-445C-BC0D-ED347F398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"/>
            <a:ext cx="108204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775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defPPr>
            <a:lvl1pPr algn="l">
              <a:defRPr sz="2775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lvl1pPr>
            <a:lvl2pPr algn="l">
              <a:defRPr sz="2775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lvl2pPr>
            <a:lvl3pPr algn="l">
              <a:defRPr sz="2775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lvl3pPr>
            <a:lvl4pPr algn="l">
              <a:defRPr sz="2775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lvl4pPr>
            <a:lvl5pPr algn="l">
              <a:defRPr sz="2775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lvl5pPr>
            <a:lvl6pPr algn="l">
              <a:defRPr sz="2775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lvl6pPr>
            <a:lvl7pPr algn="l">
              <a:defRPr sz="2775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lvl7pPr>
            <a:lvl8pPr algn="l">
              <a:defRPr sz="2775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lvl8pPr>
            <a:lvl9pPr algn="l">
              <a:defRPr sz="2775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pPr>
            <a:r>
              <a:rPr sz="2775" b="1">
                <a:solidFill>
                  <a:srgbClr val="233142"/>
                </a:solidFill>
                <a:latin typeface="Aptos"/>
                <a:ea typeface="Aptos"/>
                <a:cs typeface="Aptos"/>
              </a:rPr>
              <a:t>What we could reconstruct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2FE5DD-FA28-46EC-9AF5-78D3BC907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defPPr>
            <a:lvl1pPr algn="l">
              <a:defRPr sz="180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1pPr>
            <a:lvl2pPr algn="l">
              <a:defRPr sz="180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2pPr>
            <a:lvl3pPr algn="l">
              <a:defRPr sz="180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3pPr>
            <a:lvl4pPr algn="l">
              <a:defRPr sz="180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4pPr>
            <a:lvl5pPr algn="l">
              <a:defRPr sz="180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5pPr>
            <a:lvl6pPr algn="l">
              <a:defRPr sz="180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6pPr>
            <a:lvl7pPr algn="l">
              <a:defRPr sz="180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7pPr>
            <a:lvl8pPr algn="l">
              <a:defRPr sz="180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8pPr>
            <a:lvl9pPr algn="l">
              <a:defRPr sz="180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5A6573"/>
                </a:solidFill>
                <a:latin typeface="Aptos"/>
                <a:ea typeface="Aptos"/>
                <a:cs typeface="Aptos"/>
              </a:rPr>
              <a:t>We rebuild the published mechanisms and the available course setup, then test their behavior.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BB5920-AE8B-466A-82E9-AEBC5113B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95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defPPr>
            <a:lvl1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1pPr>
            <a:lvl2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2pPr>
            <a:lvl3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3pPr>
            <a:lvl4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4pPr>
            <a:lvl5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5pPr>
            <a:lvl6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6pPr>
            <a:lvl7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7pPr>
            <a:lvl8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8pPr>
            <a:lvl9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A6573"/>
                </a:solidFill>
                <a:latin typeface="Aptos"/>
                <a:ea typeface="Aptos"/>
                <a:cs typeface="Aptos"/>
              </a:rPr>
              <a:t>CE7490 · 26S1 Group 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073134-0395-47A9-93CA-7105F014F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96050"/>
            <a:ext cx="1028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defPPr>
            <a:lvl1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1pPr>
            <a:lvl2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2pPr>
            <a:lvl3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3pPr>
            <a:lvl4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4pPr>
            <a:lvl5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5pPr>
            <a:lvl6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6pPr>
            <a:lvl7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7pPr>
            <a:lvl8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8pPr>
            <a:lvl9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A6573"/>
                </a:solidFill>
                <a:latin typeface="Aptos"/>
                <a:ea typeface="Aptos"/>
                <a:cs typeface="Aptos"/>
              </a:rPr>
              <a:t>6 / 15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053E3A-8EE1-4C13-8E86-E826BE9118EB}"/>
              </a:ext>
            </a:extLst>
          </p:cNvPr>
          <p:cNvGraphicFramePr/>
          <p:nvPr/>
        </p:nvGraphicFramePr>
        <p:xfrm>
          <a:off xmlns:a="http://schemas.openxmlformats.org/drawingml/2006/main" x="685800" y="2114550"/>
          <a:ext xmlns:a="http://schemas.openxmlformats.org/drawingml/2006/main" cx="10820400" cy="3257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3981450"/>
                <a:gridCol w="398145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Available evidence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7DDE3"/>
                      </a:solidFill>
                      <a:prstDash val="solid"/>
                    </a:lnL>
                    <a:lnR w="5715">
                      <a:solidFill>
                        <a:srgbClr val="D7DDE3"/>
                      </a:solidFill>
                      <a:prstDash val="solid"/>
                    </a:lnR>
                    <a:lnT w="5715">
                      <a:solidFill>
                        <a:srgbClr val="D7DDE3"/>
                      </a:solidFill>
                      <a:prstDash val="solid"/>
                    </a:lnT>
                    <a:lnB w="5715">
                      <a:solidFill>
                        <a:srgbClr val="D7DDE3"/>
                      </a:solidFill>
                      <a:prstDash val="solid"/>
                    </a:lnB>
                    <a:solidFill>
                      <a:srgbClr val="173F7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What we implement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7DDE3"/>
                      </a:solidFill>
                      <a:prstDash val="solid"/>
                    </a:lnR>
                    <a:lnT w="5715">
                      <a:solidFill>
                        <a:srgbClr val="D7DDE3"/>
                      </a:solidFill>
                      <a:prstDash val="solid"/>
                    </a:lnT>
                    <a:lnB w="5715">
                      <a:solidFill>
                        <a:srgbClr val="D7DDE3"/>
                      </a:solidFill>
                      <a:prstDash val="solid"/>
                    </a:lnB>
                    <a:solidFill>
                      <a:srgbClr val="173F7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What remains an assumption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7DDE3"/>
                      </a:solidFill>
                      <a:prstDash val="solid"/>
                    </a:lnR>
                    <a:lnT w="5715">
                      <a:solidFill>
                        <a:srgbClr val="D7DDE3"/>
                      </a:solidFill>
                      <a:prstDash val="solid"/>
                    </a:lnT>
                    <a:lnB w="5715">
                      <a:solidFill>
                        <a:srgbClr val="D7DDE3"/>
                      </a:solidFill>
                      <a:prstDash val="solid"/>
                    </a:lnB>
                    <a:solidFill>
                      <a:srgbClr val="173F70"/>
                    </a:solidFill>
                  </a:tcPr>
                </a:tc>
              </a:tr>
              <a:tr h="933450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233142"/>
                          </a:solidFill>
                          <a:latin typeface="Aptos"/>
                          <a:ea typeface="Aptos"/>
                          <a:cs typeface="Aptos"/>
                        </a:rPr>
                        <a:t>LAVA paper + course artifacts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7DDE3"/>
                      </a:solidFill>
                      <a:prstDash val="solid"/>
                    </a:lnL>
                    <a:lnR w="5715">
                      <a:solidFill>
                        <a:srgbClr val="D7DDE3"/>
                      </a:solidFill>
                      <a:prstDash val="solid"/>
                    </a:lnR>
                    <a:lnB w="5715">
                      <a:solidFill>
                        <a:srgbClr val="D7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233142"/>
                          </a:solidFill>
                          <a:latin typeface="Aptos"/>
                          <a:ea typeface="Aptos"/>
                          <a:cs typeface="Aptos"/>
                        </a:rPr>
                        <a:t>Six placement policies; host lifecycle; prediction updates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7DDE3"/>
                      </a:solidFill>
                      <a:prstDash val="solid"/>
                    </a:lnR>
                    <a:lnB w="5715">
                      <a:solidFill>
                        <a:srgbClr val="D7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233142"/>
                          </a:solidFill>
                          <a:latin typeface="Aptos"/>
                          <a:ea typeface="Aptos"/>
                          <a:cs typeface="Aptos"/>
                        </a:rPr>
                        <a:t>Exact original code and production traces unavailable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7DDE3"/>
                      </a:solidFill>
                      <a:prstDash val="solid"/>
                    </a:lnR>
                    <a:lnB w="5715">
                      <a:solidFill>
                        <a:srgbClr val="D7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33450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233142"/>
                          </a:solidFill>
                          <a:latin typeface="Aptos"/>
                          <a:ea typeface="Aptos"/>
                          <a:cs typeface="Aptos"/>
                        </a:rPr>
                        <a:t>Course experiment settings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7DDE3"/>
                      </a:solidFill>
                      <a:prstDash val="solid"/>
                    </a:lnL>
                    <a:lnR w="5715">
                      <a:solidFill>
                        <a:srgbClr val="D7DDE3"/>
                      </a:solidFill>
                      <a:prstDash val="solid"/>
                    </a:lnR>
                    <a:lnB w="5715">
                      <a:solidFill>
                        <a:srgbClr val="D7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233142"/>
                          </a:solidFill>
                          <a:latin typeface="Aptos"/>
                          <a:ea typeface="Aptos"/>
                          <a:cs typeface="Aptos"/>
                        </a:rPr>
                        <a:t>180 hosts; 2,500 VMs; 8 arrivals/h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7DDE3"/>
                      </a:solidFill>
                      <a:prstDash val="solid"/>
                    </a:lnR>
                    <a:lnB w="5715">
                      <a:solidFill>
                        <a:srgbClr val="D7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233142"/>
                          </a:solidFill>
                          <a:latin typeface="Aptos"/>
                          <a:ea typeface="Aptos"/>
                          <a:cs typeface="Aptos"/>
                        </a:rPr>
                        <a:t>Poisson arrivals; profile proportions; resource shapes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7DDE3"/>
                      </a:solidFill>
                      <a:prstDash val="solid"/>
                    </a:lnR>
                    <a:lnB w="5715">
                      <a:solidFill>
                        <a:srgbClr val="D7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33450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233142"/>
                          </a:solidFill>
                          <a:latin typeface="Aptos"/>
                          <a:ea typeface="Aptos"/>
                          <a:cs typeface="Aptos"/>
                        </a:rPr>
                        <a:t>Prediction model description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7DDE3"/>
                      </a:solidFill>
                      <a:prstDash val="solid"/>
                    </a:lnL>
                    <a:lnR w="5715">
                      <a:solidFill>
                        <a:srgbClr val="D7DDE3"/>
                      </a:solidFill>
                      <a:prstDash val="solid"/>
                    </a:lnR>
                    <a:lnB w="5715">
                      <a:solidFill>
                        <a:srgbClr val="D7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233142"/>
                          </a:solidFill>
                          <a:latin typeface="Aptos"/>
                          <a:ea typeface="Aptos"/>
                          <a:cs typeface="Aptos"/>
                        </a:rPr>
                        <a:t>Three VM profiles; controlled prediction errors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7DDE3"/>
                      </a:solidFill>
                      <a:prstDash val="solid"/>
                    </a:lnR>
                    <a:lnB w="5715">
                      <a:solidFill>
                        <a:srgbClr val="D7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233142"/>
                          </a:solidFill>
                          <a:latin typeface="Aptos"/>
                          <a:ea typeface="Aptos"/>
                          <a:cs typeface="Aptos"/>
                        </a:rPr>
                        <a:t>Missing mixture parameters and some update rules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7DDE3"/>
                      </a:solidFill>
                      <a:prstDash val="solid"/>
                    </a:lnR>
                    <a:lnB w="5715">
                      <a:solidFill>
                        <a:srgbClr val="D7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790CB5-4D6B-4727-92FC-7CA6000D4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defPPr>
            <a:lvl1pPr algn="l">
              <a:defRPr sz="1950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1pPr>
            <a:lvl2pPr algn="l">
              <a:defRPr sz="1950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2pPr>
            <a:lvl3pPr algn="l">
              <a:defRPr sz="1950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3pPr>
            <a:lvl4pPr algn="l">
              <a:defRPr sz="1950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4pPr>
            <a:lvl5pPr algn="l">
              <a:defRPr sz="1950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5pPr>
            <a:lvl6pPr algn="l">
              <a:defRPr sz="1950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6pPr>
            <a:lvl7pPr algn="l">
              <a:defRPr sz="1950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7pPr>
            <a:lvl8pPr algn="l">
              <a:defRPr sz="1950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8pPr>
            <a:lvl9pPr algn="l">
              <a:defRPr sz="1950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2F5D8A"/>
                </a:solidFill>
                <a:latin typeface="Aptos"/>
                <a:ea typeface="Aptos"/>
                <a:cs typeface="Aptos"/>
              </a:rPr>
              <a:t>This is a synthetic mechanism reconstruction, not an exact replay of the original experiments.</a:t>
            </a:r>
          </a:p>
        </p:txBody>
      </p:sp>
    </p:spTree>
    <p:extLst>
      <p:ext uri="{BB962C8B-B14F-4D97-AF65-F5344CB8AC3E}">
        <p14:creationId xmlns:p14="http://schemas.microsoft.com/office/powerpoint/2010/main" val="24380468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3292739B-5772-496C-8944-C366C2F5DC5B}"/>
              </a:ext>
            </a:extLst>
          </p:cNvPr>
          <p:cNvGraphicFramePr/>
          <p:nvPr/>
        </p:nvGraphicFramePr>
        <p:xfrm>
          <a:off xmlns:a="http://schemas.openxmlformats.org/drawingml/2006/main" x="685800" y="2095500"/>
          <a:ext xmlns:a="http://schemas.openxmlformats.org/drawingml/2006/main" cx="723900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b43b0b786134b1a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D5F8AF-88FE-4213-A4EC-A5C05DE6D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defPPr>
            <a:lvl1pPr algn="l">
              <a:defRPr sz="12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1pPr>
            <a:lvl2pPr algn="l">
              <a:defRPr sz="12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2pPr>
            <a:lvl3pPr algn="l">
              <a:defRPr sz="12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3pPr>
            <a:lvl4pPr algn="l">
              <a:defRPr sz="12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4pPr>
            <a:lvl5pPr algn="l">
              <a:defRPr sz="12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5pPr>
            <a:lvl6pPr algn="l">
              <a:defRPr sz="12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6pPr>
            <a:lvl7pPr algn="l">
              <a:defRPr sz="12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7pPr>
            <a:lvl8pPr algn="l">
              <a:defRPr sz="12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8pPr>
            <a:lvl9pPr algn="l">
              <a:defRPr sz="12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F5D8A"/>
                </a:solidFill>
                <a:latin typeface="Aptos"/>
                <a:ea typeface="Aptos"/>
                <a:cs typeface="Aptos"/>
              </a:rPr>
              <a:t>PART 2  REPRODUCTION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6DD192-DBD9-4A3A-8CEE-CB7789C71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"/>
            <a:ext cx="108204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775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defPPr>
            <a:lvl1pPr algn="l">
              <a:defRPr sz="2775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lvl1pPr>
            <a:lvl2pPr algn="l">
              <a:defRPr sz="2775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lvl2pPr>
            <a:lvl3pPr algn="l">
              <a:defRPr sz="2775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lvl3pPr>
            <a:lvl4pPr algn="l">
              <a:defRPr sz="2775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lvl4pPr>
            <a:lvl5pPr algn="l">
              <a:defRPr sz="2775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lvl5pPr>
            <a:lvl6pPr algn="l">
              <a:defRPr sz="2775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lvl6pPr>
            <a:lvl7pPr algn="l">
              <a:defRPr sz="2775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lvl7pPr>
            <a:lvl8pPr algn="l">
              <a:defRPr sz="2775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lvl8pPr>
            <a:lvl9pPr algn="l">
              <a:defRPr sz="2775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pPr>
            <a:r>
              <a:rPr sz="2775" b="1">
                <a:solidFill>
                  <a:srgbClr val="233142"/>
                </a:solidFill>
                <a:latin typeface="Aptos"/>
                <a:ea typeface="Aptos"/>
                <a:cs typeface="Aptos"/>
              </a:rPr>
              <a:t>LAVA improves as prediction quality rises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D92805-8F35-4DB7-B6C9-AC39699F0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defPPr>
            <a:lvl1pPr algn="l">
              <a:defRPr sz="180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1pPr>
            <a:lvl2pPr algn="l">
              <a:defRPr sz="180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2pPr>
            <a:lvl3pPr algn="l">
              <a:defRPr sz="180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3pPr>
            <a:lvl4pPr algn="l">
              <a:defRPr sz="180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4pPr>
            <a:lvl5pPr algn="l">
              <a:defRPr sz="180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5pPr>
            <a:lvl6pPr algn="l">
              <a:defRPr sz="180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6pPr>
            <a:lvl7pPr algn="l">
              <a:defRPr sz="180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7pPr>
            <a:lvl8pPr algn="l">
              <a:defRPr sz="180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8pPr>
            <a:lvl9pPr algn="l">
              <a:defRPr sz="180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5A6573"/>
                </a:solidFill>
                <a:latin typeface="Aptos"/>
                <a:ea typeface="Aptos"/>
                <a:cs typeface="Aptos"/>
              </a:rPr>
              <a:t>Fresh-seed comparison: LAVA minus Best-Fit on the same 100 workloads.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14324F-E0BA-475A-BC2B-6E6130A35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95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defPPr>
            <a:lvl1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1pPr>
            <a:lvl2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2pPr>
            <a:lvl3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3pPr>
            <a:lvl4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4pPr>
            <a:lvl5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5pPr>
            <a:lvl6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6pPr>
            <a:lvl7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7pPr>
            <a:lvl8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8pPr>
            <a:lvl9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A6573"/>
                </a:solidFill>
                <a:latin typeface="Aptos"/>
                <a:ea typeface="Aptos"/>
                <a:cs typeface="Aptos"/>
              </a:rPr>
              <a:t>CE7490 · 26S1 Group 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AE33B6-16F0-4B49-AEC8-569EA955C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96050"/>
            <a:ext cx="1028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defPPr>
            <a:lvl1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1pPr>
            <a:lvl2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2pPr>
            <a:lvl3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3pPr>
            <a:lvl4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4pPr>
            <a:lvl5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5pPr>
            <a:lvl6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6pPr>
            <a:lvl7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7pPr>
            <a:lvl8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8pPr>
            <a:lvl9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A6573"/>
                </a:solidFill>
                <a:latin typeface="Aptos"/>
                <a:ea typeface="Aptos"/>
                <a:cs typeface="Aptos"/>
              </a:rPr>
              <a:t>7 / 15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C323AD-4CEC-459A-A70C-3AAE0DABC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43075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defPPr>
            <a:lvl1pPr algn="l">
              <a:defRPr sz="14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1pPr>
            <a:lvl2pPr algn="l">
              <a:defRPr sz="14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2pPr>
            <a:lvl3pPr algn="l">
              <a:defRPr sz="14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3pPr>
            <a:lvl4pPr algn="l">
              <a:defRPr sz="14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4pPr>
            <a:lvl5pPr algn="l">
              <a:defRPr sz="14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5pPr>
            <a:lvl6pPr algn="l">
              <a:defRPr sz="14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6pPr>
            <a:lvl7pPr algn="l">
              <a:defRPr sz="14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7pPr>
            <a:lvl8pPr algn="l">
              <a:defRPr sz="14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8pPr>
            <a:lvl9pPr algn="l">
              <a:defRPr sz="14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A6573"/>
                </a:solidFill>
                <a:latin typeface="Aptos"/>
                <a:ea typeface="Aptos"/>
                <a:cs typeface="Aptos"/>
              </a:rPr>
              <a:t>Accuracy = probability of a near-correct estimate in this controlled test.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7162A8-5430-4FEE-AC09-A8347D225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190750"/>
            <a:ext cx="3009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5A6573"/>
                </a:solidFill>
                <a:latin typeface="Aptos"/>
                <a:ea typeface="Aptos"/>
                <a:cs typeface="Aptos"/>
              </a:defRPr>
            </a:defPPr>
            <a:lvl1pPr algn="l">
              <a:defRPr sz="1875" b="1">
                <a:solidFill>
                  <a:srgbClr val="5A6573"/>
                </a:solidFill>
                <a:latin typeface="Aptos"/>
                <a:ea typeface="Aptos"/>
                <a:cs typeface="Aptos"/>
              </a:defRPr>
            </a:lvl1pPr>
            <a:lvl2pPr algn="l">
              <a:defRPr sz="1875" b="1">
                <a:solidFill>
                  <a:srgbClr val="5A6573"/>
                </a:solidFill>
                <a:latin typeface="Aptos"/>
                <a:ea typeface="Aptos"/>
                <a:cs typeface="Aptos"/>
              </a:defRPr>
            </a:lvl2pPr>
            <a:lvl3pPr algn="l">
              <a:defRPr sz="1875" b="1">
                <a:solidFill>
                  <a:srgbClr val="5A6573"/>
                </a:solidFill>
                <a:latin typeface="Aptos"/>
                <a:ea typeface="Aptos"/>
                <a:cs typeface="Aptos"/>
              </a:defRPr>
            </a:lvl3pPr>
            <a:lvl4pPr algn="l">
              <a:defRPr sz="1875" b="1">
                <a:solidFill>
                  <a:srgbClr val="5A6573"/>
                </a:solidFill>
                <a:latin typeface="Aptos"/>
                <a:ea typeface="Aptos"/>
                <a:cs typeface="Aptos"/>
              </a:defRPr>
            </a:lvl4pPr>
            <a:lvl5pPr algn="l">
              <a:defRPr sz="1875" b="1">
                <a:solidFill>
                  <a:srgbClr val="5A6573"/>
                </a:solidFill>
                <a:latin typeface="Aptos"/>
                <a:ea typeface="Aptos"/>
                <a:cs typeface="Aptos"/>
              </a:defRPr>
            </a:lvl5pPr>
            <a:lvl6pPr algn="l">
              <a:defRPr sz="1875" b="1">
                <a:solidFill>
                  <a:srgbClr val="5A6573"/>
                </a:solidFill>
                <a:latin typeface="Aptos"/>
                <a:ea typeface="Aptos"/>
                <a:cs typeface="Aptos"/>
              </a:defRPr>
            </a:lvl6pPr>
            <a:lvl7pPr algn="l">
              <a:defRPr sz="1875" b="1">
                <a:solidFill>
                  <a:srgbClr val="5A6573"/>
                </a:solidFill>
                <a:latin typeface="Aptos"/>
                <a:ea typeface="Aptos"/>
                <a:cs typeface="Aptos"/>
              </a:defRPr>
            </a:lvl7pPr>
            <a:lvl8pPr algn="l">
              <a:defRPr sz="1875" b="1">
                <a:solidFill>
                  <a:srgbClr val="5A6573"/>
                </a:solidFill>
                <a:latin typeface="Aptos"/>
                <a:ea typeface="Aptos"/>
                <a:cs typeface="Aptos"/>
              </a:defRPr>
            </a:lvl8pPr>
            <a:lvl9pPr algn="l">
              <a:defRPr sz="1875" b="1">
                <a:solidFill>
                  <a:srgbClr val="5A657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5A657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5A6573"/>
                </a:solidFill>
                <a:latin typeface="Aptos"/>
                <a:ea typeface="Aptos"/>
                <a:cs typeface="Aptos"/>
              </a:rPr>
              <a:t>25% accuracy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E87807-F602-47A2-AD4A-BDA3FF1B9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628900"/>
            <a:ext cx="3009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775" b="1">
                <a:solidFill>
                  <a:srgbClr val="A23D39"/>
                </a:solidFill>
                <a:latin typeface="Aptos"/>
                <a:ea typeface="Aptos"/>
                <a:cs typeface="Aptos"/>
              </a:defRPr>
            </a:defPPr>
            <a:lvl1pPr algn="l">
              <a:defRPr sz="2775" b="1">
                <a:solidFill>
                  <a:srgbClr val="A23D39"/>
                </a:solidFill>
                <a:latin typeface="Aptos"/>
                <a:ea typeface="Aptos"/>
                <a:cs typeface="Aptos"/>
              </a:defRPr>
            </a:lvl1pPr>
            <a:lvl2pPr algn="l">
              <a:defRPr sz="2775" b="1">
                <a:solidFill>
                  <a:srgbClr val="A23D39"/>
                </a:solidFill>
                <a:latin typeface="Aptos"/>
                <a:ea typeface="Aptos"/>
                <a:cs typeface="Aptos"/>
              </a:defRPr>
            </a:lvl2pPr>
            <a:lvl3pPr algn="l">
              <a:defRPr sz="2775" b="1">
                <a:solidFill>
                  <a:srgbClr val="A23D39"/>
                </a:solidFill>
                <a:latin typeface="Aptos"/>
                <a:ea typeface="Aptos"/>
                <a:cs typeface="Aptos"/>
              </a:defRPr>
            </a:lvl3pPr>
            <a:lvl4pPr algn="l">
              <a:defRPr sz="2775" b="1">
                <a:solidFill>
                  <a:srgbClr val="A23D39"/>
                </a:solidFill>
                <a:latin typeface="Aptos"/>
                <a:ea typeface="Aptos"/>
                <a:cs typeface="Aptos"/>
              </a:defRPr>
            </a:lvl4pPr>
            <a:lvl5pPr algn="l">
              <a:defRPr sz="2775" b="1">
                <a:solidFill>
                  <a:srgbClr val="A23D39"/>
                </a:solidFill>
                <a:latin typeface="Aptos"/>
                <a:ea typeface="Aptos"/>
                <a:cs typeface="Aptos"/>
              </a:defRPr>
            </a:lvl5pPr>
            <a:lvl6pPr algn="l">
              <a:defRPr sz="2775" b="1">
                <a:solidFill>
                  <a:srgbClr val="A23D39"/>
                </a:solidFill>
                <a:latin typeface="Aptos"/>
                <a:ea typeface="Aptos"/>
                <a:cs typeface="Aptos"/>
              </a:defRPr>
            </a:lvl6pPr>
            <a:lvl7pPr algn="l">
              <a:defRPr sz="2775" b="1">
                <a:solidFill>
                  <a:srgbClr val="A23D39"/>
                </a:solidFill>
                <a:latin typeface="Aptos"/>
                <a:ea typeface="Aptos"/>
                <a:cs typeface="Aptos"/>
              </a:defRPr>
            </a:lvl7pPr>
            <a:lvl8pPr algn="l">
              <a:defRPr sz="2775" b="1">
                <a:solidFill>
                  <a:srgbClr val="A23D39"/>
                </a:solidFill>
                <a:latin typeface="Aptos"/>
                <a:ea typeface="Aptos"/>
                <a:cs typeface="Aptos"/>
              </a:defRPr>
            </a:lvl8pPr>
            <a:lvl9pPr algn="l">
              <a:defRPr sz="2775" b="1">
                <a:solidFill>
                  <a:srgbClr val="A23D39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A23D39"/>
                </a:solidFill>
                <a:latin typeface="Aptos"/>
                <a:ea typeface="Aptos"/>
                <a:cs typeface="Aptos"/>
              </a:defRPr>
            </a:pPr>
            <a:r>
              <a:rPr sz="2775" b="1">
                <a:solidFill>
                  <a:srgbClr val="A23D39"/>
                </a:solidFill>
                <a:latin typeface="Aptos"/>
                <a:ea typeface="Aptos"/>
                <a:cs typeface="Aptos"/>
              </a:rPr>
              <a:t>−0.187 pp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13735E-8B21-4E68-8F4A-B9EFFA1AD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219450"/>
            <a:ext cx="30099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33142"/>
                </a:solidFill>
                <a:latin typeface="Aptos"/>
                <a:ea typeface="Aptos"/>
                <a:cs typeface="Aptos"/>
              </a:defRPr>
            </a:defPPr>
            <a:lvl1pPr algn="l">
              <a:defRPr sz="1575" b="0">
                <a:solidFill>
                  <a:srgbClr val="233142"/>
                </a:solidFill>
                <a:latin typeface="Aptos"/>
                <a:ea typeface="Aptos"/>
                <a:cs typeface="Aptos"/>
              </a:defRPr>
            </a:lvl1pPr>
            <a:lvl2pPr algn="l">
              <a:defRPr sz="1575" b="0">
                <a:solidFill>
                  <a:srgbClr val="233142"/>
                </a:solidFill>
                <a:latin typeface="Aptos"/>
                <a:ea typeface="Aptos"/>
                <a:cs typeface="Aptos"/>
              </a:defRPr>
            </a:lvl2pPr>
            <a:lvl3pPr algn="l">
              <a:defRPr sz="1575" b="0">
                <a:solidFill>
                  <a:srgbClr val="233142"/>
                </a:solidFill>
                <a:latin typeface="Aptos"/>
                <a:ea typeface="Aptos"/>
                <a:cs typeface="Aptos"/>
              </a:defRPr>
            </a:lvl3pPr>
            <a:lvl4pPr algn="l">
              <a:defRPr sz="1575" b="0">
                <a:solidFill>
                  <a:srgbClr val="233142"/>
                </a:solidFill>
                <a:latin typeface="Aptos"/>
                <a:ea typeface="Aptos"/>
                <a:cs typeface="Aptos"/>
              </a:defRPr>
            </a:lvl4pPr>
            <a:lvl5pPr algn="l">
              <a:defRPr sz="1575" b="0">
                <a:solidFill>
                  <a:srgbClr val="233142"/>
                </a:solidFill>
                <a:latin typeface="Aptos"/>
                <a:ea typeface="Aptos"/>
                <a:cs typeface="Aptos"/>
              </a:defRPr>
            </a:lvl5pPr>
            <a:lvl6pPr algn="l">
              <a:defRPr sz="1575" b="0">
                <a:solidFill>
                  <a:srgbClr val="233142"/>
                </a:solidFill>
                <a:latin typeface="Aptos"/>
                <a:ea typeface="Aptos"/>
                <a:cs typeface="Aptos"/>
              </a:defRPr>
            </a:lvl6pPr>
            <a:lvl7pPr algn="l">
              <a:defRPr sz="1575" b="0">
                <a:solidFill>
                  <a:srgbClr val="233142"/>
                </a:solidFill>
                <a:latin typeface="Aptos"/>
                <a:ea typeface="Aptos"/>
                <a:cs typeface="Aptos"/>
              </a:defRPr>
            </a:lvl7pPr>
            <a:lvl8pPr algn="l">
              <a:defRPr sz="1575" b="0">
                <a:solidFill>
                  <a:srgbClr val="233142"/>
                </a:solidFill>
                <a:latin typeface="Aptos"/>
                <a:ea typeface="Aptos"/>
                <a:cs typeface="Aptos"/>
              </a:defRPr>
            </a:lvl8pPr>
            <a:lvl9pPr algn="l">
              <a:defRPr sz="1575" b="0">
                <a:solidFill>
                  <a:srgbClr val="23314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23314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33142"/>
                </a:solidFill>
                <a:latin typeface="Aptos"/>
                <a:ea typeface="Aptos"/>
                <a:cs typeface="Aptos"/>
              </a:rPr>
              <a:t>95% CI [−0.240, −0.135]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6B0122-CABA-43FE-9392-A3997E443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010025"/>
            <a:ext cx="3009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5A6573"/>
                </a:solidFill>
                <a:latin typeface="Aptos"/>
                <a:ea typeface="Aptos"/>
                <a:cs typeface="Aptos"/>
              </a:defRPr>
            </a:defPPr>
            <a:lvl1pPr algn="l">
              <a:defRPr sz="1875" b="1">
                <a:solidFill>
                  <a:srgbClr val="5A6573"/>
                </a:solidFill>
                <a:latin typeface="Aptos"/>
                <a:ea typeface="Aptos"/>
                <a:cs typeface="Aptos"/>
              </a:defRPr>
            </a:lvl1pPr>
            <a:lvl2pPr algn="l">
              <a:defRPr sz="1875" b="1">
                <a:solidFill>
                  <a:srgbClr val="5A6573"/>
                </a:solidFill>
                <a:latin typeface="Aptos"/>
                <a:ea typeface="Aptos"/>
                <a:cs typeface="Aptos"/>
              </a:defRPr>
            </a:lvl2pPr>
            <a:lvl3pPr algn="l">
              <a:defRPr sz="1875" b="1">
                <a:solidFill>
                  <a:srgbClr val="5A6573"/>
                </a:solidFill>
                <a:latin typeface="Aptos"/>
                <a:ea typeface="Aptos"/>
                <a:cs typeface="Aptos"/>
              </a:defRPr>
            </a:lvl3pPr>
            <a:lvl4pPr algn="l">
              <a:defRPr sz="1875" b="1">
                <a:solidFill>
                  <a:srgbClr val="5A6573"/>
                </a:solidFill>
                <a:latin typeface="Aptos"/>
                <a:ea typeface="Aptos"/>
                <a:cs typeface="Aptos"/>
              </a:defRPr>
            </a:lvl4pPr>
            <a:lvl5pPr algn="l">
              <a:defRPr sz="1875" b="1">
                <a:solidFill>
                  <a:srgbClr val="5A6573"/>
                </a:solidFill>
                <a:latin typeface="Aptos"/>
                <a:ea typeface="Aptos"/>
                <a:cs typeface="Aptos"/>
              </a:defRPr>
            </a:lvl5pPr>
            <a:lvl6pPr algn="l">
              <a:defRPr sz="1875" b="1">
                <a:solidFill>
                  <a:srgbClr val="5A6573"/>
                </a:solidFill>
                <a:latin typeface="Aptos"/>
                <a:ea typeface="Aptos"/>
                <a:cs typeface="Aptos"/>
              </a:defRPr>
            </a:lvl6pPr>
            <a:lvl7pPr algn="l">
              <a:defRPr sz="1875" b="1">
                <a:solidFill>
                  <a:srgbClr val="5A6573"/>
                </a:solidFill>
                <a:latin typeface="Aptos"/>
                <a:ea typeface="Aptos"/>
                <a:cs typeface="Aptos"/>
              </a:defRPr>
            </a:lvl7pPr>
            <a:lvl8pPr algn="l">
              <a:defRPr sz="1875" b="1">
                <a:solidFill>
                  <a:srgbClr val="5A6573"/>
                </a:solidFill>
                <a:latin typeface="Aptos"/>
                <a:ea typeface="Aptos"/>
                <a:cs typeface="Aptos"/>
              </a:defRPr>
            </a:lvl8pPr>
            <a:lvl9pPr algn="l">
              <a:defRPr sz="1875" b="1">
                <a:solidFill>
                  <a:srgbClr val="5A657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5A657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5A6573"/>
                </a:solidFill>
                <a:latin typeface="Aptos"/>
                <a:ea typeface="Aptos"/>
                <a:cs typeface="Aptos"/>
              </a:rPr>
              <a:t>100% accuracy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A93128-562D-4AD8-BBC0-23525013A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448175"/>
            <a:ext cx="3009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775" b="1">
                <a:solidFill>
                  <a:srgbClr val="3D7F5B"/>
                </a:solidFill>
                <a:latin typeface="Aptos"/>
                <a:ea typeface="Aptos"/>
                <a:cs typeface="Aptos"/>
              </a:defRPr>
            </a:defPPr>
            <a:lvl1pPr algn="l">
              <a:defRPr sz="2775" b="1">
                <a:solidFill>
                  <a:srgbClr val="3D7F5B"/>
                </a:solidFill>
                <a:latin typeface="Aptos"/>
                <a:ea typeface="Aptos"/>
                <a:cs typeface="Aptos"/>
              </a:defRPr>
            </a:lvl1pPr>
            <a:lvl2pPr algn="l">
              <a:defRPr sz="2775" b="1">
                <a:solidFill>
                  <a:srgbClr val="3D7F5B"/>
                </a:solidFill>
                <a:latin typeface="Aptos"/>
                <a:ea typeface="Aptos"/>
                <a:cs typeface="Aptos"/>
              </a:defRPr>
            </a:lvl2pPr>
            <a:lvl3pPr algn="l">
              <a:defRPr sz="2775" b="1">
                <a:solidFill>
                  <a:srgbClr val="3D7F5B"/>
                </a:solidFill>
                <a:latin typeface="Aptos"/>
                <a:ea typeface="Aptos"/>
                <a:cs typeface="Aptos"/>
              </a:defRPr>
            </a:lvl3pPr>
            <a:lvl4pPr algn="l">
              <a:defRPr sz="2775" b="1">
                <a:solidFill>
                  <a:srgbClr val="3D7F5B"/>
                </a:solidFill>
                <a:latin typeface="Aptos"/>
                <a:ea typeface="Aptos"/>
                <a:cs typeface="Aptos"/>
              </a:defRPr>
            </a:lvl4pPr>
            <a:lvl5pPr algn="l">
              <a:defRPr sz="2775" b="1">
                <a:solidFill>
                  <a:srgbClr val="3D7F5B"/>
                </a:solidFill>
                <a:latin typeface="Aptos"/>
                <a:ea typeface="Aptos"/>
                <a:cs typeface="Aptos"/>
              </a:defRPr>
            </a:lvl5pPr>
            <a:lvl6pPr algn="l">
              <a:defRPr sz="2775" b="1">
                <a:solidFill>
                  <a:srgbClr val="3D7F5B"/>
                </a:solidFill>
                <a:latin typeface="Aptos"/>
                <a:ea typeface="Aptos"/>
                <a:cs typeface="Aptos"/>
              </a:defRPr>
            </a:lvl6pPr>
            <a:lvl7pPr algn="l">
              <a:defRPr sz="2775" b="1">
                <a:solidFill>
                  <a:srgbClr val="3D7F5B"/>
                </a:solidFill>
                <a:latin typeface="Aptos"/>
                <a:ea typeface="Aptos"/>
                <a:cs typeface="Aptos"/>
              </a:defRPr>
            </a:lvl7pPr>
            <a:lvl8pPr algn="l">
              <a:defRPr sz="2775" b="1">
                <a:solidFill>
                  <a:srgbClr val="3D7F5B"/>
                </a:solidFill>
                <a:latin typeface="Aptos"/>
                <a:ea typeface="Aptos"/>
                <a:cs typeface="Aptos"/>
              </a:defRPr>
            </a:lvl8pPr>
            <a:lvl9pPr algn="l">
              <a:defRPr sz="2775" b="1">
                <a:solidFill>
                  <a:srgbClr val="3D7F5B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3D7F5B"/>
                </a:solidFill>
                <a:latin typeface="Aptos"/>
                <a:ea typeface="Aptos"/>
                <a:cs typeface="Aptos"/>
              </a:defRPr>
            </a:pPr>
            <a:r>
              <a:rPr sz="2775" b="1">
                <a:solidFill>
                  <a:srgbClr val="3D7F5B"/>
                </a:solidFill>
                <a:latin typeface="Aptos"/>
                <a:ea typeface="Aptos"/>
                <a:cs typeface="Aptos"/>
              </a:rPr>
              <a:t>+0.507 pp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755597-2A12-468A-BDB7-0DA2FDFA6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029200"/>
            <a:ext cx="30099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33142"/>
                </a:solidFill>
                <a:latin typeface="Aptos"/>
                <a:ea typeface="Aptos"/>
                <a:cs typeface="Aptos"/>
              </a:defRPr>
            </a:defPPr>
            <a:lvl1pPr algn="l">
              <a:defRPr sz="1575" b="0">
                <a:solidFill>
                  <a:srgbClr val="233142"/>
                </a:solidFill>
                <a:latin typeface="Aptos"/>
                <a:ea typeface="Aptos"/>
                <a:cs typeface="Aptos"/>
              </a:defRPr>
            </a:lvl1pPr>
            <a:lvl2pPr algn="l">
              <a:defRPr sz="1575" b="0">
                <a:solidFill>
                  <a:srgbClr val="233142"/>
                </a:solidFill>
                <a:latin typeface="Aptos"/>
                <a:ea typeface="Aptos"/>
                <a:cs typeface="Aptos"/>
              </a:defRPr>
            </a:lvl2pPr>
            <a:lvl3pPr algn="l">
              <a:defRPr sz="1575" b="0">
                <a:solidFill>
                  <a:srgbClr val="233142"/>
                </a:solidFill>
                <a:latin typeface="Aptos"/>
                <a:ea typeface="Aptos"/>
                <a:cs typeface="Aptos"/>
              </a:defRPr>
            </a:lvl3pPr>
            <a:lvl4pPr algn="l">
              <a:defRPr sz="1575" b="0">
                <a:solidFill>
                  <a:srgbClr val="233142"/>
                </a:solidFill>
                <a:latin typeface="Aptos"/>
                <a:ea typeface="Aptos"/>
                <a:cs typeface="Aptos"/>
              </a:defRPr>
            </a:lvl4pPr>
            <a:lvl5pPr algn="l">
              <a:defRPr sz="1575" b="0">
                <a:solidFill>
                  <a:srgbClr val="233142"/>
                </a:solidFill>
                <a:latin typeface="Aptos"/>
                <a:ea typeface="Aptos"/>
                <a:cs typeface="Aptos"/>
              </a:defRPr>
            </a:lvl5pPr>
            <a:lvl6pPr algn="l">
              <a:defRPr sz="1575" b="0">
                <a:solidFill>
                  <a:srgbClr val="233142"/>
                </a:solidFill>
                <a:latin typeface="Aptos"/>
                <a:ea typeface="Aptos"/>
                <a:cs typeface="Aptos"/>
              </a:defRPr>
            </a:lvl6pPr>
            <a:lvl7pPr algn="l">
              <a:defRPr sz="1575" b="0">
                <a:solidFill>
                  <a:srgbClr val="233142"/>
                </a:solidFill>
                <a:latin typeface="Aptos"/>
                <a:ea typeface="Aptos"/>
                <a:cs typeface="Aptos"/>
              </a:defRPr>
            </a:lvl7pPr>
            <a:lvl8pPr algn="l">
              <a:defRPr sz="1575" b="0">
                <a:solidFill>
                  <a:srgbClr val="233142"/>
                </a:solidFill>
                <a:latin typeface="Aptos"/>
                <a:ea typeface="Aptos"/>
                <a:cs typeface="Aptos"/>
              </a:defRPr>
            </a:lvl8pPr>
            <a:lvl9pPr algn="l">
              <a:defRPr sz="1575" b="0">
                <a:solidFill>
                  <a:srgbClr val="23314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23314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33142"/>
                </a:solidFill>
                <a:latin typeface="Aptos"/>
                <a:ea typeface="Aptos"/>
                <a:cs typeface="Aptos"/>
              </a:rPr>
              <a:t>95% CI [+0.445, +0.569]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DD0BC9-EED0-490E-AD25-CE1796A90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6737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defPPr>
            <a:lvl1pPr algn="l">
              <a:defRPr sz="18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1pPr>
            <a:lvl2pPr algn="l">
              <a:defRPr sz="18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2pPr>
            <a:lvl3pPr algn="l">
              <a:defRPr sz="18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3pPr>
            <a:lvl4pPr algn="l">
              <a:defRPr sz="18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4pPr>
            <a:lvl5pPr algn="l">
              <a:defRPr sz="18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5pPr>
            <a:lvl6pPr algn="l">
              <a:defRPr sz="18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6pPr>
            <a:lvl7pPr algn="l">
              <a:defRPr sz="18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7pPr>
            <a:lvl8pPr algn="l">
              <a:defRPr sz="18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8pPr>
            <a:lvl9pPr algn="l">
              <a:defRPr sz="18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F5D8A"/>
                </a:solidFill>
                <a:latin typeface="Aptos"/>
                <a:ea typeface="Aptos"/>
                <a:cs typeface="Aptos"/>
              </a:rPr>
              <a:t>Poor estimates can make lifetime-aware placement worse. This motivates a way to handle unreliable predictions.</a:t>
            </a:r>
          </a:p>
        </p:txBody>
      </p:sp>
    </p:spTree>
    <p:extLst>
      <p:ext uri="{BB962C8B-B14F-4D97-AF65-F5344CB8AC3E}">
        <p14:creationId xmlns:p14="http://schemas.microsoft.com/office/powerpoint/2010/main" val="197282016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FE4719-ED3E-4C38-846A-C66F71D6A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defPPr>
            <a:lvl1pPr algn="l">
              <a:defRPr sz="12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1pPr>
            <a:lvl2pPr algn="l">
              <a:defRPr sz="12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2pPr>
            <a:lvl3pPr algn="l">
              <a:defRPr sz="12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3pPr>
            <a:lvl4pPr algn="l">
              <a:defRPr sz="12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4pPr>
            <a:lvl5pPr algn="l">
              <a:defRPr sz="12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5pPr>
            <a:lvl6pPr algn="l">
              <a:defRPr sz="12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6pPr>
            <a:lvl7pPr algn="l">
              <a:defRPr sz="12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7pPr>
            <a:lvl8pPr algn="l">
              <a:defRPr sz="12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8pPr>
            <a:lvl9pPr algn="l">
              <a:defRPr sz="12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F5D8A"/>
                </a:solidFill>
                <a:latin typeface="Aptos"/>
                <a:ea typeface="Aptos"/>
                <a:cs typeface="Aptos"/>
              </a:rPr>
              <a:t>PART 2  REPRODUCTION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173180-6584-4ADD-A49B-00D1134F3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"/>
            <a:ext cx="108204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775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defPPr>
            <a:lvl1pPr algn="l">
              <a:defRPr sz="2775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lvl1pPr>
            <a:lvl2pPr algn="l">
              <a:defRPr sz="2775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lvl2pPr>
            <a:lvl3pPr algn="l">
              <a:defRPr sz="2775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lvl3pPr>
            <a:lvl4pPr algn="l">
              <a:defRPr sz="2775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lvl4pPr>
            <a:lvl5pPr algn="l">
              <a:defRPr sz="2775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lvl5pPr>
            <a:lvl6pPr algn="l">
              <a:defRPr sz="2775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lvl6pPr>
            <a:lvl7pPr algn="l">
              <a:defRPr sz="2775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lvl7pPr>
            <a:lvl8pPr algn="l">
              <a:defRPr sz="2775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lvl8pPr>
            <a:lvl9pPr algn="l">
              <a:defRPr sz="2775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pPr>
            <a:r>
              <a:rPr sz="2775" b="1">
                <a:solidFill>
                  <a:srgbClr val="233142"/>
                </a:solidFill>
                <a:latin typeface="Aptos"/>
                <a:ea typeface="Aptos"/>
                <a:cs typeface="Aptos"/>
              </a:rPr>
              <a:t>Reproducing confidence-aware routing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E85D31-8A24-4557-9E87-86F942380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defPPr>
            <a:lvl1pPr algn="l">
              <a:defRPr sz="180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1pPr>
            <a:lvl2pPr algn="l">
              <a:defRPr sz="180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2pPr>
            <a:lvl3pPr algn="l">
              <a:defRPr sz="180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3pPr>
            <a:lvl4pPr algn="l">
              <a:defRPr sz="180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4pPr>
            <a:lvl5pPr algn="l">
              <a:defRPr sz="180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5pPr>
            <a:lvl6pPr algn="l">
              <a:defRPr sz="180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6pPr>
            <a:lvl7pPr algn="l">
              <a:defRPr sz="180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7pPr>
            <a:lvl8pPr algn="l">
              <a:defRPr sz="180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8pPr>
            <a:lvl9pPr algn="l">
              <a:defRPr sz="180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5A6573"/>
                </a:solidFill>
                <a:latin typeface="Aptos"/>
                <a:ea typeface="Aptos"/>
                <a:cs typeface="Aptos"/>
              </a:rPr>
              <a:t>Alongside LAVA, we rebuild two course-project extensions that route uncertain arrivals to Best-Fit.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06BC54-8C52-4F90-A57A-15F82E38F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95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defPPr>
            <a:lvl1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1pPr>
            <a:lvl2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2pPr>
            <a:lvl3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3pPr>
            <a:lvl4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4pPr>
            <a:lvl5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5pPr>
            <a:lvl6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6pPr>
            <a:lvl7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7pPr>
            <a:lvl8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8pPr>
            <a:lvl9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A6573"/>
                </a:solidFill>
                <a:latin typeface="Aptos"/>
                <a:ea typeface="Aptos"/>
                <a:cs typeface="Aptos"/>
              </a:rPr>
              <a:t>CE7490 · 26S1 Group 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98D177-024E-4DE1-BDD5-425A7A66D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96050"/>
            <a:ext cx="1028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defPPr>
            <a:lvl1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1pPr>
            <a:lvl2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2pPr>
            <a:lvl3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3pPr>
            <a:lvl4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4pPr>
            <a:lvl5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5pPr>
            <a:lvl6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6pPr>
            <a:lvl7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7pPr>
            <a:lvl8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8pPr>
            <a:lvl9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A6573"/>
                </a:solidFill>
                <a:latin typeface="Aptos"/>
                <a:ea typeface="Aptos"/>
                <a:cs typeface="Aptos"/>
              </a:rPr>
              <a:t>8 / 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ED93B2-76F4-48BC-B2E8-77D407D87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71675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defPPr>
            <a:lvl1pPr algn="l">
              <a:defRPr sz="18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1pPr>
            <a:lvl2pPr algn="l">
              <a:defRPr sz="18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2pPr>
            <a:lvl3pPr algn="l">
              <a:defRPr sz="18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3pPr>
            <a:lvl4pPr algn="l">
              <a:defRPr sz="18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4pPr>
            <a:lvl5pPr algn="l">
              <a:defRPr sz="18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5pPr>
            <a:lvl6pPr algn="l">
              <a:defRPr sz="18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6pPr>
            <a:lvl7pPr algn="l">
              <a:defRPr sz="18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7pPr>
            <a:lvl8pPr algn="l">
              <a:defRPr sz="18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8pPr>
            <a:lvl9pPr algn="l">
              <a:defRPr sz="18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F5D8A"/>
                </a:solidFill>
                <a:latin typeface="Aptos"/>
                <a:ea typeface="Aptos"/>
                <a:cs typeface="Aptos"/>
              </a:rPr>
              <a:t>Confidence = probability of the lifetime class containing the estimate. Threshold: 0.3.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D5AA7D-CC9F-43EE-9392-5BDFB0D8D7FE}"/>
              </a:ext>
            </a:extLst>
          </p:cNvPr>
          <p:cNvGraphicFramePr/>
          <p:nvPr/>
        </p:nvGraphicFramePr>
        <p:xfrm>
          <a:off xmlns:a="http://schemas.openxmlformats.org/drawingml/2006/main" x="685800" y="2781300"/>
          <a:ext xmlns:a="http://schemas.openxmlformats.org/drawingml/2006/main" cx="10820400" cy="2667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4362450"/>
                <a:gridCol w="4362450"/>
              </a:tblGrid>
              <a:tr h="43815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Mechanism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7DDE3"/>
                      </a:solidFill>
                      <a:prstDash val="solid"/>
                    </a:lnL>
                    <a:lnR w="5715">
                      <a:solidFill>
                        <a:srgbClr val="D7DDE3"/>
                      </a:solidFill>
                      <a:prstDash val="solid"/>
                    </a:lnR>
                    <a:lnT w="5715">
                      <a:solidFill>
                        <a:srgbClr val="D7DDE3"/>
                      </a:solidFill>
                      <a:prstDash val="solid"/>
                    </a:lnT>
                    <a:lnB w="5715">
                      <a:solidFill>
                        <a:srgbClr val="D7DDE3"/>
                      </a:solidFill>
                      <a:prstDash val="solid"/>
                    </a:lnB>
                    <a:solidFill>
                      <a:srgbClr val="173F7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VM-level CA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7DDE3"/>
                      </a:solidFill>
                      <a:prstDash val="solid"/>
                    </a:lnR>
                    <a:lnT w="5715">
                      <a:solidFill>
                        <a:srgbClr val="D7DDE3"/>
                      </a:solidFill>
                      <a:prstDash val="solid"/>
                    </a:lnT>
                    <a:lnB w="5715">
                      <a:solidFill>
                        <a:srgbClr val="D7DDE3"/>
                      </a:solidFill>
                      <a:prstDash val="solid"/>
                    </a:lnB>
                    <a:solidFill>
                      <a:srgbClr val="173F7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Host-level CA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7DDE3"/>
                      </a:solidFill>
                      <a:prstDash val="solid"/>
                    </a:lnR>
                    <a:lnT w="5715">
                      <a:solidFill>
                        <a:srgbClr val="D7DDE3"/>
                      </a:solidFill>
                      <a:prstDash val="solid"/>
                    </a:lnT>
                    <a:lnB w="5715">
                      <a:solidFill>
                        <a:srgbClr val="D7DDE3"/>
                      </a:solidFill>
                      <a:prstDash val="solid"/>
                    </a:lnB>
                    <a:solidFill>
                      <a:srgbClr val="173F70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233142"/>
                          </a:solidFill>
                          <a:latin typeface="Aptos"/>
                          <a:ea typeface="Aptos"/>
                          <a:cs typeface="Aptos"/>
                        </a:rPr>
                        <a:t>Decision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7DDE3"/>
                      </a:solidFill>
                      <a:prstDash val="solid"/>
                    </a:lnL>
                    <a:lnR w="5715">
                      <a:solidFill>
                        <a:srgbClr val="D7DDE3"/>
                      </a:solidFill>
                      <a:prstDash val="solid"/>
                    </a:lnR>
                    <a:lnB w="5715">
                      <a:solidFill>
                        <a:srgbClr val="D7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33142"/>
                          </a:solidFill>
                          <a:latin typeface="Aptos"/>
                          <a:ea typeface="Aptos"/>
                          <a:cs typeface="Aptos"/>
                        </a:rPr>
                        <a:t>Choose LAVA or Best-Fit for each arrival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7DDE3"/>
                      </a:solidFill>
                      <a:prstDash val="solid"/>
                    </a:lnR>
                    <a:lnB w="5715">
                      <a:solidFill>
                        <a:srgbClr val="D7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33142"/>
                          </a:solidFill>
                          <a:latin typeface="Aptos"/>
                          <a:ea typeface="Aptos"/>
                          <a:cs typeface="Aptos"/>
                        </a:rPr>
                        <a:t>Choose a LAVA or Best-Fit host pool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7DDE3"/>
                      </a:solidFill>
                      <a:prstDash val="solid"/>
                    </a:lnR>
                    <a:lnB w="5715">
                      <a:solidFill>
                        <a:srgbClr val="D7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233142"/>
                          </a:solidFill>
                          <a:latin typeface="Aptos"/>
                          <a:ea typeface="Aptos"/>
                          <a:cs typeface="Aptos"/>
                        </a:rPr>
                        <a:t>Host sharing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7DDE3"/>
                      </a:solidFill>
                      <a:prstDash val="solid"/>
                    </a:lnL>
                    <a:lnR w="5715">
                      <a:solidFill>
                        <a:srgbClr val="D7DDE3"/>
                      </a:solidFill>
                      <a:prstDash val="solid"/>
                    </a:lnR>
                    <a:lnB w="5715">
                      <a:solidFill>
                        <a:srgbClr val="D7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33142"/>
                          </a:solidFill>
                          <a:latin typeface="Aptos"/>
                          <a:ea typeface="Aptos"/>
                          <a:cs typeface="Aptos"/>
                        </a:rPr>
                        <a:t>Both decisions use the same hosts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7DDE3"/>
                      </a:solidFill>
                      <a:prstDash val="solid"/>
                    </a:lnR>
                    <a:lnB w="5715">
                      <a:solidFill>
                        <a:srgbClr val="D7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33142"/>
                          </a:solidFill>
                          <a:latin typeface="Aptos"/>
                          <a:ea typeface="Aptos"/>
                          <a:cs typeface="Aptos"/>
                        </a:rPr>
                        <a:t>Keep host modes separate until empty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7DDE3"/>
                      </a:solidFill>
                      <a:prstDash val="solid"/>
                    </a:lnR>
                    <a:lnB w="5715">
                      <a:solidFill>
                        <a:srgbClr val="D7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pPr algn="l"/>
                      <a:r>
                        <a:rPr sz="1800" b="1">
                          <a:solidFill>
                            <a:srgbClr val="233142"/>
                          </a:solidFill>
                          <a:latin typeface="Aptos"/>
                          <a:ea typeface="Aptos"/>
                          <a:cs typeface="Aptos"/>
                        </a:rPr>
                        <a:t>Intended benefit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7DDE3"/>
                      </a:solidFill>
                      <a:prstDash val="solid"/>
                    </a:lnL>
                    <a:lnR w="5715">
                      <a:solidFill>
                        <a:srgbClr val="D7DDE3"/>
                      </a:solidFill>
                      <a:prstDash val="solid"/>
                    </a:lnR>
                    <a:lnB w="5715">
                      <a:solidFill>
                        <a:srgbClr val="D7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33142"/>
                          </a:solidFill>
                          <a:latin typeface="Aptos"/>
                          <a:ea typeface="Aptos"/>
                          <a:cs typeface="Aptos"/>
                        </a:rPr>
                        <a:t>Avoid trusting a weak prediction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7DDE3"/>
                      </a:solidFill>
                      <a:prstDash val="solid"/>
                    </a:lnR>
                    <a:lnB w="5715">
                      <a:solidFill>
                        <a:srgbClr val="D7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233142"/>
                          </a:solidFill>
                          <a:latin typeface="Aptos"/>
                          <a:ea typeface="Aptos"/>
                          <a:cs typeface="Aptos"/>
                        </a:rPr>
                        <a:t>Also avoid interference between the modes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7DDE3"/>
                      </a:solidFill>
                      <a:prstDash val="solid"/>
                    </a:lnR>
                    <a:lnB w="5715">
                      <a:solidFill>
                        <a:srgbClr val="D7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DEFD9A-F074-4883-B684-F40E89D98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defPPr>
            <a:lvl1pPr algn="l">
              <a:defRPr sz="18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1pPr>
            <a:lvl2pPr algn="l">
              <a:defRPr sz="18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2pPr>
            <a:lvl3pPr algn="l">
              <a:defRPr sz="18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3pPr>
            <a:lvl4pPr algn="l">
              <a:defRPr sz="18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4pPr>
            <a:lvl5pPr algn="l">
              <a:defRPr sz="18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5pPr>
            <a:lvl6pPr algn="l">
              <a:defRPr sz="18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6pPr>
            <a:lvl7pPr algn="l">
              <a:defRPr sz="18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7pPr>
            <a:lvl8pPr algn="l">
              <a:defRPr sz="18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8pPr>
            <a:lvl9pPr algn="l">
              <a:defRPr sz="18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F5D8A"/>
                </a:solidFill>
                <a:latin typeface="Aptos"/>
                <a:ea typeface="Aptos"/>
                <a:cs typeface="Aptos"/>
              </a:rPr>
              <a:t>A high probability for a lifetime class need not imply that choosing LAVA will improve packing.</a:t>
            </a:r>
          </a:p>
        </p:txBody>
      </p:sp>
    </p:spTree>
    <p:extLst>
      <p:ext uri="{BB962C8B-B14F-4D97-AF65-F5344CB8AC3E}">
        <p14:creationId xmlns:p14="http://schemas.microsoft.com/office/powerpoint/2010/main" val="168421356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96EC2D-194D-4802-A75A-7C333F1EC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defPPr>
            <a:lvl1pPr algn="l">
              <a:defRPr sz="12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1pPr>
            <a:lvl2pPr algn="l">
              <a:defRPr sz="12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2pPr>
            <a:lvl3pPr algn="l">
              <a:defRPr sz="12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3pPr>
            <a:lvl4pPr algn="l">
              <a:defRPr sz="12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4pPr>
            <a:lvl5pPr algn="l">
              <a:defRPr sz="12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5pPr>
            <a:lvl6pPr algn="l">
              <a:defRPr sz="12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6pPr>
            <a:lvl7pPr algn="l">
              <a:defRPr sz="12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7pPr>
            <a:lvl8pPr algn="l">
              <a:defRPr sz="12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8pPr>
            <a:lvl9pPr algn="l">
              <a:defRPr sz="12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F5D8A"/>
                </a:solidFill>
                <a:latin typeface="Aptos"/>
                <a:ea typeface="Aptos"/>
                <a:cs typeface="Aptos"/>
              </a:rPr>
              <a:t>PART 2  REPRODUCTION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6C7A4A-9A4C-4CF4-BDE0-BC9621EF6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"/>
            <a:ext cx="108204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775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defPPr>
            <a:lvl1pPr algn="l">
              <a:defRPr sz="2775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lvl1pPr>
            <a:lvl2pPr algn="l">
              <a:defRPr sz="2775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lvl2pPr>
            <a:lvl3pPr algn="l">
              <a:defRPr sz="2775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lvl3pPr>
            <a:lvl4pPr algn="l">
              <a:defRPr sz="2775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lvl4pPr>
            <a:lvl5pPr algn="l">
              <a:defRPr sz="2775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lvl5pPr>
            <a:lvl6pPr algn="l">
              <a:defRPr sz="2775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lvl6pPr>
            <a:lvl7pPr algn="l">
              <a:defRPr sz="2775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lvl7pPr>
            <a:lvl8pPr algn="l">
              <a:defRPr sz="2775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lvl8pPr>
            <a:lvl9pPr algn="l">
              <a:defRPr sz="2775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pPr>
            <a:r>
              <a:rPr sz="2775" b="1">
                <a:solidFill>
                  <a:srgbClr val="233142"/>
                </a:solidFill>
                <a:latin typeface="Aptos"/>
                <a:ea typeface="Aptos"/>
                <a:cs typeface="Aptos"/>
              </a:rPr>
              <a:t>Reproduction experiment and implementation checks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AA8DB4-40E0-41BF-938B-94F2CFD1E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defPPr>
            <a:lvl1pPr algn="l">
              <a:defRPr sz="180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1pPr>
            <a:lvl2pPr algn="l">
              <a:defRPr sz="180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2pPr>
            <a:lvl3pPr algn="l">
              <a:defRPr sz="180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3pPr>
            <a:lvl4pPr algn="l">
              <a:defRPr sz="180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4pPr>
            <a:lvl5pPr algn="l">
              <a:defRPr sz="180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5pPr>
            <a:lvl6pPr algn="l">
              <a:defRPr sz="180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6pPr>
            <a:lvl7pPr algn="l">
              <a:defRPr sz="180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7pPr>
            <a:lvl8pPr algn="l">
              <a:defRPr sz="180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8pPr>
            <a:lvl9pPr algn="l">
              <a:defRPr sz="180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5A6573"/>
                </a:solidFill>
                <a:latin typeface="Aptos"/>
                <a:ea typeface="Aptos"/>
                <a:cs typeface="Aptos"/>
              </a:rPr>
              <a:t>The same workload and noisy observations are replayed for every policy in a paired comparison.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C11296-0D12-4667-A37C-281BAE984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95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defPPr>
            <a:lvl1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1pPr>
            <a:lvl2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2pPr>
            <a:lvl3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3pPr>
            <a:lvl4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4pPr>
            <a:lvl5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5pPr>
            <a:lvl6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6pPr>
            <a:lvl7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7pPr>
            <a:lvl8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8pPr>
            <a:lvl9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A6573"/>
                </a:solidFill>
                <a:latin typeface="Aptos"/>
                <a:ea typeface="Aptos"/>
                <a:cs typeface="Aptos"/>
              </a:rPr>
              <a:t>CE7490 · 26S1 Group 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E8DDFD-F8A0-4839-8084-5813978E0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96050"/>
            <a:ext cx="1028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defPPr>
            <a:lvl1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1pPr>
            <a:lvl2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2pPr>
            <a:lvl3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3pPr>
            <a:lvl4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4pPr>
            <a:lvl5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5pPr>
            <a:lvl6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6pPr>
            <a:lvl7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7pPr>
            <a:lvl8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8pPr>
            <a:lvl9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A6573"/>
                </a:solidFill>
                <a:latin typeface="Aptos"/>
                <a:ea typeface="Aptos"/>
                <a:cs typeface="Aptos"/>
              </a:rPr>
              <a:t>9 / 15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CA5EAD-7869-4A24-B09F-BEFBEBD3B1E6}"/>
              </a:ext>
            </a:extLst>
          </p:cNvPr>
          <p:cNvGraphicFramePr/>
          <p:nvPr/>
        </p:nvGraphicFramePr>
        <p:xfrm>
          <a:off xmlns:a="http://schemas.openxmlformats.org/drawingml/2006/main" x="685800" y="2085975"/>
          <a:ext xmlns:a="http://schemas.openxmlformats.org/drawingml/2006/main" cx="108204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62250"/>
                <a:gridCol w="4524375"/>
                <a:gridCol w="3533775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Check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7DDE3"/>
                      </a:solidFill>
                      <a:prstDash val="solid"/>
                    </a:lnL>
                    <a:lnR w="5715">
                      <a:solidFill>
                        <a:srgbClr val="D7DDE3"/>
                      </a:solidFill>
                      <a:prstDash val="solid"/>
                    </a:lnR>
                    <a:lnT w="5715">
                      <a:solidFill>
                        <a:srgbClr val="D7DDE3"/>
                      </a:solidFill>
                      <a:prstDash val="solid"/>
                    </a:lnT>
                    <a:lnB w="5715">
                      <a:solidFill>
                        <a:srgbClr val="D7DDE3"/>
                      </a:solidFill>
                      <a:prstDash val="solid"/>
                    </a:lnB>
                    <a:solidFill>
                      <a:srgbClr val="173F7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Implementation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7DDE3"/>
                      </a:solidFill>
                      <a:prstDash val="solid"/>
                    </a:lnR>
                    <a:lnT w="5715">
                      <a:solidFill>
                        <a:srgbClr val="D7DDE3"/>
                      </a:solidFill>
                      <a:prstDash val="solid"/>
                    </a:lnT>
                    <a:lnB w="5715">
                      <a:solidFill>
                        <a:srgbClr val="D7DDE3"/>
                      </a:solidFill>
                      <a:prstDash val="solid"/>
                    </a:lnB>
                    <a:solidFill>
                      <a:srgbClr val="173F7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Why it matters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7DDE3"/>
                      </a:solidFill>
                      <a:prstDash val="solid"/>
                    </a:lnR>
                    <a:lnT w="5715">
                      <a:solidFill>
                        <a:srgbClr val="D7DDE3"/>
                      </a:solidFill>
                      <a:prstDash val="solid"/>
                    </a:lnT>
                    <a:lnB w="5715">
                      <a:solidFill>
                        <a:srgbClr val="D7DDE3"/>
                      </a:solidFill>
                      <a:prstDash val="solid"/>
                    </a:lnB>
                    <a:solidFill>
                      <a:srgbClr val="173F70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233142"/>
                          </a:solidFill>
                          <a:latin typeface="Aptos"/>
                          <a:ea typeface="Aptos"/>
                          <a:cs typeface="Aptos"/>
                        </a:rPr>
                        <a:t>Workload and metric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7DDE3"/>
                      </a:solidFill>
                      <a:prstDash val="solid"/>
                    </a:lnL>
                    <a:lnR w="5715">
                      <a:solidFill>
                        <a:srgbClr val="D7DDE3"/>
                      </a:solidFill>
                      <a:prstDash val="solid"/>
                    </a:lnR>
                    <a:lnB w="5715">
                      <a:solidFill>
                        <a:srgbClr val="D7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233142"/>
                          </a:solidFill>
                          <a:latin typeface="Aptos"/>
                          <a:ea typeface="Aptos"/>
                          <a:cs typeface="Aptos"/>
                        </a:rPr>
                        <a:t>180 hosts, CPU + memory; empty-host-time %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7DDE3"/>
                      </a:solidFill>
                      <a:prstDash val="solid"/>
                    </a:lnR>
                    <a:lnB w="5715">
                      <a:solidFill>
                        <a:srgbClr val="D7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233142"/>
                          </a:solidFill>
                          <a:latin typeface="Aptos"/>
                          <a:ea typeface="Aptos"/>
                          <a:cs typeface="Aptos"/>
                        </a:rPr>
                        <a:t>Same requests; no capacity oversubscription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7DDE3"/>
                      </a:solidFill>
                      <a:prstDash val="solid"/>
                    </a:lnR>
                    <a:lnB w="5715">
                      <a:solidFill>
                        <a:srgbClr val="D7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233142"/>
                          </a:solidFill>
                          <a:latin typeface="Aptos"/>
                          <a:ea typeface="Aptos"/>
                          <a:cs typeface="Aptos"/>
                        </a:rPr>
                        <a:t>Independent seed groups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7DDE3"/>
                      </a:solidFill>
                      <a:prstDash val="solid"/>
                    </a:lnL>
                    <a:lnR w="5715">
                      <a:solidFill>
                        <a:srgbClr val="D7DDE3"/>
                      </a:solidFill>
                      <a:prstDash val="solid"/>
                    </a:lnR>
                    <a:lnB w="5715">
                      <a:solidFill>
                        <a:srgbClr val="D7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233142"/>
                          </a:solidFill>
                          <a:latin typeface="Aptos"/>
                          <a:ea typeface="Aptos"/>
                          <a:cs typeface="Aptos"/>
                        </a:rPr>
                        <a:t>Initial 0–19; validation 200–205; heldout 20–39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7DDE3"/>
                      </a:solidFill>
                      <a:prstDash val="solid"/>
                    </a:lnR>
                    <a:lnB w="5715">
                      <a:solidFill>
                        <a:srgbClr val="D7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233142"/>
                          </a:solidFill>
                          <a:latin typeface="Aptos"/>
                          <a:ea typeface="Aptos"/>
                          <a:cs typeface="Aptos"/>
                        </a:rPr>
                        <a:t>Select settings without tuning to heldout outcomes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7DDE3"/>
                      </a:solidFill>
                      <a:prstDash val="solid"/>
                    </a:lnR>
                    <a:lnB w="5715">
                      <a:solidFill>
                        <a:srgbClr val="D7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233142"/>
                          </a:solidFill>
                          <a:latin typeface="Aptos"/>
                          <a:ea typeface="Aptos"/>
                          <a:cs typeface="Aptos"/>
                        </a:rPr>
                        <a:t>Original reconstruction audit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7DDE3"/>
                      </a:solidFill>
                      <a:prstDash val="solid"/>
                    </a:lnL>
                    <a:lnR w="5715">
                      <a:solidFill>
                        <a:srgbClr val="D7DDE3"/>
                      </a:solidFill>
                      <a:prstDash val="solid"/>
                    </a:lnR>
                    <a:lnB w="5715">
                      <a:solidFill>
                        <a:srgbClr val="D7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233142"/>
                          </a:solidFill>
                          <a:latin typeface="Aptos"/>
                          <a:ea typeface="Aptos"/>
                          <a:cs typeface="Aptos"/>
                        </a:rPr>
                        <a:t>1,644 runs; 16 independent tests passed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7DDE3"/>
                      </a:solidFill>
                      <a:prstDash val="solid"/>
                    </a:lnR>
                    <a:lnB w="5715">
                      <a:solidFill>
                        <a:srgbClr val="D7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233142"/>
                          </a:solidFill>
                          <a:latin typeface="Aptos"/>
                          <a:ea typeface="Aptos"/>
                          <a:cs typeface="Aptos"/>
                        </a:rPr>
                        <a:t>All VMs admitted; no resource-limit violations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7DDE3"/>
                      </a:solidFill>
                      <a:prstDash val="solid"/>
                    </a:lnR>
                    <a:lnB w="5715">
                      <a:solidFill>
                        <a:srgbClr val="D7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233142"/>
                          </a:solidFill>
                          <a:latin typeface="Aptos"/>
                          <a:ea typeface="Aptos"/>
                          <a:cs typeface="Aptos"/>
                        </a:rPr>
                        <a:t>Information boundary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7DDE3"/>
                      </a:solidFill>
                      <a:prstDash val="solid"/>
                    </a:lnL>
                    <a:lnR w="5715">
                      <a:solidFill>
                        <a:srgbClr val="D7DDE3"/>
                      </a:solidFill>
                      <a:prstDash val="solid"/>
                    </a:lnR>
                    <a:lnB w="5715">
                      <a:solidFill>
                        <a:srgbClr val="D7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233142"/>
                          </a:solidFill>
                          <a:latin typeface="Aptos"/>
                          <a:ea typeface="Aptos"/>
                          <a:cs typeface="Aptos"/>
                        </a:rPr>
                        <a:t>Scheduler cannot read true lifetime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7DDE3"/>
                      </a:solidFill>
                      <a:prstDash val="solid"/>
                    </a:lnR>
                    <a:lnB w="5715">
                      <a:solidFill>
                        <a:srgbClr val="D7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233142"/>
                          </a:solidFill>
                          <a:latin typeface="Aptos"/>
                          <a:ea typeface="Aptos"/>
                          <a:cs typeface="Aptos"/>
                        </a:rPr>
                        <a:t>Only the Oracle control gets future information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7DDE3"/>
                      </a:solidFill>
                      <a:prstDash val="solid"/>
                    </a:lnR>
                    <a:lnB w="5715">
                      <a:solidFill>
                        <a:srgbClr val="D7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C06B1A-F874-493B-830C-AAC007EBE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8204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defPPr>
            <a:lvl1pPr algn="l">
              <a:defRPr sz="1800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1pPr>
            <a:lvl2pPr algn="l">
              <a:defRPr sz="1800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2pPr>
            <a:lvl3pPr algn="l">
              <a:defRPr sz="1800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3pPr>
            <a:lvl4pPr algn="l">
              <a:defRPr sz="1800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4pPr>
            <a:lvl5pPr algn="l">
              <a:defRPr sz="1800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5pPr>
            <a:lvl6pPr algn="l">
              <a:defRPr sz="1800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6pPr>
            <a:lvl7pPr algn="l">
              <a:defRPr sz="1800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7pPr>
            <a:lvl8pPr algn="l">
              <a:defRPr sz="1800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8pPr>
            <a:lvl9pPr algn="l">
              <a:defRPr sz="1800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F5D8A"/>
                </a:solidFill>
                <a:latin typeface="Aptos"/>
                <a:ea typeface="Aptos"/>
                <a:cs typeface="Aptos"/>
              </a:rPr>
              <a:t>Differences are percentage points (pp), with paired 95% intervals across workloads.</a:t>
            </a:r>
          </a:p>
        </p:txBody>
      </p:sp>
    </p:spTree>
    <p:extLst>
      <p:ext uri="{BB962C8B-B14F-4D97-AF65-F5344CB8AC3E}">
        <p14:creationId xmlns:p14="http://schemas.microsoft.com/office/powerpoint/2010/main" val="123832465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98545E-91ED-4C87-9EA4-BD146B56C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defPPr>
            <a:lvl1pPr algn="l">
              <a:defRPr sz="12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1pPr>
            <a:lvl2pPr algn="l">
              <a:defRPr sz="12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2pPr>
            <a:lvl3pPr algn="l">
              <a:defRPr sz="12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3pPr>
            <a:lvl4pPr algn="l">
              <a:defRPr sz="12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4pPr>
            <a:lvl5pPr algn="l">
              <a:defRPr sz="12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5pPr>
            <a:lvl6pPr algn="l">
              <a:defRPr sz="12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6pPr>
            <a:lvl7pPr algn="l">
              <a:defRPr sz="12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7pPr>
            <a:lvl8pPr algn="l">
              <a:defRPr sz="12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8pPr>
            <a:lvl9pPr algn="l">
              <a:defRPr sz="12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F5D8A"/>
                </a:solidFill>
                <a:latin typeface="Aptos"/>
                <a:ea typeface="Aptos"/>
                <a:cs typeface="Aptos"/>
              </a:rPr>
              <a:t>PART 2  REPRODUCTION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277BA5-03E9-4EEB-894F-4496C795F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"/>
            <a:ext cx="108204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775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defPPr>
            <a:lvl1pPr algn="l">
              <a:defRPr sz="2775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lvl1pPr>
            <a:lvl2pPr algn="l">
              <a:defRPr sz="2775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lvl2pPr>
            <a:lvl3pPr algn="l">
              <a:defRPr sz="2775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lvl3pPr>
            <a:lvl4pPr algn="l">
              <a:defRPr sz="2775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lvl4pPr>
            <a:lvl5pPr algn="l">
              <a:defRPr sz="2775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lvl5pPr>
            <a:lvl6pPr algn="l">
              <a:defRPr sz="2775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lvl6pPr>
            <a:lvl7pPr algn="l">
              <a:defRPr sz="2775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lvl7pPr>
            <a:lvl8pPr algn="l">
              <a:defRPr sz="2775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lvl8pPr>
            <a:lvl9pPr algn="l">
              <a:defRPr sz="2775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pPr>
            <a:r>
              <a:rPr sz="2775" b="1">
                <a:solidFill>
                  <a:srgbClr val="233142"/>
                </a:solidFill>
                <a:latin typeface="Aptos"/>
                <a:ea typeface="Aptos"/>
                <a:cs typeface="Aptos"/>
              </a:rPr>
              <a:t>Which findings reproduced, and which did not?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8B9389-05BD-4F1F-B3EE-8D5A9F63C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defPPr>
            <a:lvl1pPr algn="l">
              <a:defRPr sz="180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1pPr>
            <a:lvl2pPr algn="l">
              <a:defRPr sz="180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2pPr>
            <a:lvl3pPr algn="l">
              <a:defRPr sz="180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3pPr>
            <a:lvl4pPr algn="l">
              <a:defRPr sz="180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4pPr>
            <a:lvl5pPr algn="l">
              <a:defRPr sz="180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5pPr>
            <a:lvl6pPr algn="l">
              <a:defRPr sz="180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6pPr>
            <a:lvl7pPr algn="l">
              <a:defRPr sz="180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7pPr>
            <a:lvl8pPr algn="l">
              <a:defRPr sz="180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8pPr>
            <a:lvl9pPr algn="l">
              <a:defRPr sz="180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5A6573"/>
                </a:solidFill>
                <a:latin typeface="Aptos"/>
                <a:ea typeface="Aptos"/>
                <a:cs typeface="Aptos"/>
              </a:rPr>
              <a:t>Compare the historical course report with our heldout reconstruction: 20 paired workloads per setting.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DA4210-A570-4EF6-8888-3847E4E94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95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defPPr>
            <a:lvl1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1pPr>
            <a:lvl2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2pPr>
            <a:lvl3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3pPr>
            <a:lvl4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4pPr>
            <a:lvl5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5pPr>
            <a:lvl6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6pPr>
            <a:lvl7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7pPr>
            <a:lvl8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8pPr>
            <a:lvl9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A6573"/>
                </a:solidFill>
                <a:latin typeface="Aptos"/>
                <a:ea typeface="Aptos"/>
                <a:cs typeface="Aptos"/>
              </a:rPr>
              <a:t>CE7490 · 26S1 Group 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1EA0B4-3FFC-4BC7-808F-414513F1E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96050"/>
            <a:ext cx="1028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defPPr>
            <a:lvl1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1pPr>
            <a:lvl2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2pPr>
            <a:lvl3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3pPr>
            <a:lvl4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4pPr>
            <a:lvl5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5pPr>
            <a:lvl6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6pPr>
            <a:lvl7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7pPr>
            <a:lvl8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8pPr>
            <a:lvl9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A6573"/>
                </a:solidFill>
                <a:latin typeface="Aptos"/>
                <a:ea typeface="Aptos"/>
                <a:cs typeface="Aptos"/>
              </a:rPr>
              <a:t>10 / 15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F9A4A9-7B47-4615-9F3E-97C0219F8437}"/>
              </a:ext>
            </a:extLst>
          </p:cNvPr>
          <p:cNvGraphicFramePr/>
          <p:nvPr/>
        </p:nvGraphicFramePr>
        <p:xfrm>
          <a:off xmlns:a="http://schemas.openxmlformats.org/drawingml/2006/main" x="685800" y="2124075"/>
          <a:ext xmlns:a="http://schemas.openxmlformats.org/drawingml/2006/main" cx="10820400" cy="3200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5250"/>
                <a:gridCol w="2667000"/>
                <a:gridCol w="4248150"/>
              </a:tblGrid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Setting / policy vs Best-Fit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7DDE3"/>
                      </a:solidFill>
                      <a:prstDash val="solid"/>
                    </a:lnL>
                    <a:lnR w="5715">
                      <a:solidFill>
                        <a:srgbClr val="D7DDE3"/>
                      </a:solidFill>
                      <a:prstDash val="solid"/>
                    </a:lnR>
                    <a:lnT w="5715">
                      <a:solidFill>
                        <a:srgbClr val="D7DDE3"/>
                      </a:solidFill>
                      <a:prstDash val="solid"/>
                    </a:lnT>
                    <a:lnB w="5715">
                      <a:solidFill>
                        <a:srgbClr val="D7DDE3"/>
                      </a:solidFill>
                      <a:prstDash val="solid"/>
                    </a:lnB>
                    <a:solidFill>
                      <a:srgbClr val="173F7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Historical course report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7DDE3"/>
                      </a:solidFill>
                      <a:prstDash val="solid"/>
                    </a:lnR>
                    <a:lnT w="5715">
                      <a:solidFill>
                        <a:srgbClr val="D7DDE3"/>
                      </a:solidFill>
                      <a:prstDash val="solid"/>
                    </a:lnT>
                    <a:lnB w="5715">
                      <a:solidFill>
                        <a:srgbClr val="D7DDE3"/>
                      </a:solidFill>
                      <a:prstDash val="solid"/>
                    </a:lnB>
                    <a:solidFill>
                      <a:srgbClr val="173F7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Our reconstruction [95% CI]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7DDE3"/>
                      </a:solidFill>
                      <a:prstDash val="solid"/>
                    </a:lnR>
                    <a:lnT w="5715">
                      <a:solidFill>
                        <a:srgbClr val="D7DDE3"/>
                      </a:solidFill>
                      <a:prstDash val="solid"/>
                    </a:lnT>
                    <a:lnB w="5715">
                      <a:solidFill>
                        <a:srgbClr val="D7DDE3"/>
                      </a:solidFill>
                      <a:prstDash val="solid"/>
                    </a:lnB>
                    <a:solidFill>
                      <a:srgbClr val="173F70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233142"/>
                          </a:solidFill>
                          <a:latin typeface="Aptos"/>
                          <a:ea typeface="Aptos"/>
                          <a:cs typeface="Aptos"/>
                        </a:rPr>
                        <a:t>25% accuracy / LAVA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7DDE3"/>
                      </a:solidFill>
                      <a:prstDash val="solid"/>
                    </a:lnL>
                    <a:lnR w="5715">
                      <a:solidFill>
                        <a:srgbClr val="D7DDE3"/>
                      </a:solidFill>
                      <a:prstDash val="solid"/>
                    </a:lnR>
                    <a:lnB w="5715">
                      <a:solidFill>
                        <a:srgbClr val="D7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233142"/>
                          </a:solidFill>
                          <a:latin typeface="Aptos"/>
                          <a:ea typeface="Aptos"/>
                          <a:cs typeface="Aptos"/>
                        </a:rPr>
                        <a:t>−0.005 pp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7DDE3"/>
                      </a:solidFill>
                      <a:prstDash val="solid"/>
                    </a:lnR>
                    <a:lnB w="5715">
                      <a:solidFill>
                        <a:srgbClr val="D7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233142"/>
                          </a:solidFill>
                          <a:latin typeface="Aptos"/>
                          <a:ea typeface="Aptos"/>
                          <a:cs typeface="Aptos"/>
                        </a:rPr>
                        <a:t>−0.137 [−0.247, −0.026] pp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7DDE3"/>
                      </a:solidFill>
                      <a:prstDash val="solid"/>
                    </a:lnR>
                    <a:lnB w="5715">
                      <a:solidFill>
                        <a:srgbClr val="D7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233142"/>
                          </a:solidFill>
                          <a:latin typeface="Aptos"/>
                          <a:ea typeface="Aptos"/>
                          <a:cs typeface="Aptos"/>
                        </a:rPr>
                        <a:t>85% accuracy / LAVA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7DDE3"/>
                      </a:solidFill>
                      <a:prstDash val="solid"/>
                    </a:lnL>
                    <a:lnR w="5715">
                      <a:solidFill>
                        <a:srgbClr val="D7DDE3"/>
                      </a:solidFill>
                      <a:prstDash val="solid"/>
                    </a:lnR>
                    <a:lnB w="5715">
                      <a:solidFill>
                        <a:srgbClr val="D7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233142"/>
                          </a:solidFill>
                          <a:latin typeface="Aptos"/>
                          <a:ea typeface="Aptos"/>
                          <a:cs typeface="Aptos"/>
                        </a:rPr>
                        <a:t>+0.200 pp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7DDE3"/>
                      </a:solidFill>
                      <a:prstDash val="solid"/>
                    </a:lnR>
                    <a:lnB w="5715">
                      <a:solidFill>
                        <a:srgbClr val="D7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233142"/>
                          </a:solidFill>
                          <a:latin typeface="Aptos"/>
                          <a:ea typeface="Aptos"/>
                          <a:cs typeface="Aptos"/>
                        </a:rPr>
                        <a:t>+0.399 [+0.281, +0.517] pp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7DDE3"/>
                      </a:solidFill>
                      <a:prstDash val="solid"/>
                    </a:lnR>
                    <a:lnB w="5715">
                      <a:solidFill>
                        <a:srgbClr val="D7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233142"/>
                          </a:solidFill>
                          <a:latin typeface="Aptos"/>
                          <a:ea typeface="Aptos"/>
                          <a:cs typeface="Aptos"/>
                        </a:rPr>
                        <a:t>Perfect information / LAVA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7DDE3"/>
                      </a:solidFill>
                      <a:prstDash val="solid"/>
                    </a:lnL>
                    <a:lnR w="5715">
                      <a:solidFill>
                        <a:srgbClr val="D7DDE3"/>
                      </a:solidFill>
                      <a:prstDash val="solid"/>
                    </a:lnR>
                    <a:lnB w="5715">
                      <a:solidFill>
                        <a:srgbClr val="D7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233142"/>
                          </a:solidFill>
                          <a:latin typeface="Aptos"/>
                          <a:ea typeface="Aptos"/>
                          <a:cs typeface="Aptos"/>
                        </a:rPr>
                        <a:t>+0.584 pp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7DDE3"/>
                      </a:solidFill>
                      <a:prstDash val="solid"/>
                    </a:lnR>
                    <a:lnB w="5715">
                      <a:solidFill>
                        <a:srgbClr val="D7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233142"/>
                          </a:solidFill>
                          <a:latin typeface="Aptos"/>
                          <a:ea typeface="Aptos"/>
                          <a:cs typeface="Aptos"/>
                        </a:rPr>
                        <a:t>+0.661 [+0.549, +0.774] pp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7DDE3"/>
                      </a:solidFill>
                      <a:prstDash val="solid"/>
                    </a:lnR>
                    <a:lnB w="5715">
                      <a:solidFill>
                        <a:srgbClr val="D7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233142"/>
                          </a:solidFill>
                          <a:latin typeface="Aptos"/>
                          <a:ea typeface="Aptos"/>
                          <a:cs typeface="Aptos"/>
                        </a:rPr>
                        <a:t>Default predictor / Host-CA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7DDE3"/>
                      </a:solidFill>
                      <a:prstDash val="solid"/>
                    </a:lnL>
                    <a:lnR w="5715">
                      <a:solidFill>
                        <a:srgbClr val="D7DDE3"/>
                      </a:solidFill>
                      <a:prstDash val="solid"/>
                    </a:lnR>
                    <a:lnB w="5715">
                      <a:solidFill>
                        <a:srgbClr val="D7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233142"/>
                          </a:solidFill>
                          <a:latin typeface="Aptos"/>
                          <a:ea typeface="Aptos"/>
                          <a:cs typeface="Aptos"/>
                        </a:rPr>
                        <a:t>+0.241 pp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7DDE3"/>
                      </a:solidFill>
                      <a:prstDash val="solid"/>
                    </a:lnR>
                    <a:lnB w="5715">
                      <a:solidFill>
                        <a:srgbClr val="D7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233142"/>
                          </a:solidFill>
                          <a:latin typeface="Aptos"/>
                          <a:ea typeface="Aptos"/>
                          <a:cs typeface="Aptos"/>
                        </a:rPr>
                        <a:t>−0.045 [−0.138, +0.049] pp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7DDE3"/>
                      </a:solidFill>
                      <a:prstDash val="solid"/>
                    </a:lnR>
                    <a:lnB w="5715">
                      <a:solidFill>
                        <a:srgbClr val="D7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584161-40ED-449C-BBAC-1E3E953AE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defPPr>
            <a:lvl1pPr algn="l">
              <a:defRPr sz="1950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1pPr>
            <a:lvl2pPr algn="l">
              <a:defRPr sz="1950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2pPr>
            <a:lvl3pPr algn="l">
              <a:defRPr sz="1950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3pPr>
            <a:lvl4pPr algn="l">
              <a:defRPr sz="1950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4pPr>
            <a:lvl5pPr algn="l">
              <a:defRPr sz="1950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5pPr>
            <a:lvl6pPr algn="l">
              <a:defRPr sz="1950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6pPr>
            <a:lvl7pPr algn="l">
              <a:defRPr sz="1950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7pPr>
            <a:lvl8pPr algn="l">
              <a:defRPr sz="1950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8pPr>
            <a:lvl9pPr algn="l">
              <a:defRPr sz="1950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2F5D8A"/>
                </a:solidFill>
                <a:latin typeface="Aptos"/>
                <a:ea typeface="Aptos"/>
                <a:cs typeface="Aptos"/>
              </a:rPr>
              <a:t>The accuracy trend is similar; the reported Host-CA advantage does not reproduce here.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CA85F7-09F5-4548-9003-30F2A7654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3410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defPPr>
            <a:lvl1pPr algn="l">
              <a:defRPr sz="14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1pPr>
            <a:lvl2pPr algn="l">
              <a:defRPr sz="14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2pPr>
            <a:lvl3pPr algn="l">
              <a:defRPr sz="14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3pPr>
            <a:lvl4pPr algn="l">
              <a:defRPr sz="14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4pPr>
            <a:lvl5pPr algn="l">
              <a:defRPr sz="14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5pPr>
            <a:lvl6pPr algn="l">
              <a:defRPr sz="14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6pPr>
            <a:lvl7pPr algn="l">
              <a:defRPr sz="14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7pPr>
            <a:lvl8pPr algn="l">
              <a:defRPr sz="14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8pPr>
            <a:lvl9pPr algn="l">
              <a:defRPr sz="14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A6573"/>
                </a:solidFill>
                <a:latin typeface="Aptos"/>
                <a:ea typeface="Aptos"/>
                <a:cs typeface="Aptos"/>
              </a:rPr>
              <a:t>Historical course numbers are not the original paper’s production measurements.</a:t>
            </a:r>
          </a:p>
        </p:txBody>
      </p:sp>
    </p:spTree>
    <p:extLst>
      <p:ext uri="{BB962C8B-B14F-4D97-AF65-F5344CB8AC3E}">
        <p14:creationId xmlns:p14="http://schemas.microsoft.com/office/powerpoint/2010/main" val="161232450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C77DA5-5604-4B09-A175-945E55452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defPPr>
            <a:lvl1pPr algn="l">
              <a:defRPr sz="12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1pPr>
            <a:lvl2pPr algn="l">
              <a:defRPr sz="12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2pPr>
            <a:lvl3pPr algn="l">
              <a:defRPr sz="12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3pPr>
            <a:lvl4pPr algn="l">
              <a:defRPr sz="12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4pPr>
            <a:lvl5pPr algn="l">
              <a:defRPr sz="12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5pPr>
            <a:lvl6pPr algn="l">
              <a:defRPr sz="12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6pPr>
            <a:lvl7pPr algn="l">
              <a:defRPr sz="12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7pPr>
            <a:lvl8pPr algn="l">
              <a:defRPr sz="12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8pPr>
            <a:lvl9pPr algn="l">
              <a:defRPr sz="12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F5D8A"/>
                </a:solidFill>
                <a:latin typeface="Aptos"/>
                <a:ea typeface="Aptos"/>
                <a:cs typeface="Aptos"/>
              </a:rPr>
              <a:t>PART 2  REPRODUCTION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3436CB-F468-48A7-AAB6-68ECF6BC3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"/>
            <a:ext cx="108204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775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defPPr>
            <a:lvl1pPr algn="l">
              <a:defRPr sz="2775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lvl1pPr>
            <a:lvl2pPr algn="l">
              <a:defRPr sz="2775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lvl2pPr>
            <a:lvl3pPr algn="l">
              <a:defRPr sz="2775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lvl3pPr>
            <a:lvl4pPr algn="l">
              <a:defRPr sz="2775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lvl4pPr>
            <a:lvl5pPr algn="l">
              <a:defRPr sz="2775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lvl5pPr>
            <a:lvl6pPr algn="l">
              <a:defRPr sz="2775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lvl6pPr>
            <a:lvl7pPr algn="l">
              <a:defRPr sz="2775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lvl7pPr>
            <a:lvl8pPr algn="l">
              <a:defRPr sz="2775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lvl8pPr>
            <a:lvl9pPr algn="l">
              <a:defRPr sz="2775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pPr>
            <a:r>
              <a:rPr sz="2775" b="1">
                <a:solidFill>
                  <a:srgbClr val="233142"/>
                </a:solidFill>
                <a:latin typeface="Aptos"/>
                <a:ea typeface="Aptos"/>
                <a:cs typeface="Aptos"/>
              </a:rPr>
              <a:t>Diagnosing the unreproduced Host-CA benefit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9DF2FE-F121-4658-BF56-F60A36C55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defPPr>
            <a:lvl1pPr algn="l">
              <a:defRPr sz="180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1pPr>
            <a:lvl2pPr algn="l">
              <a:defRPr sz="180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2pPr>
            <a:lvl3pPr algn="l">
              <a:defRPr sz="180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3pPr>
            <a:lvl4pPr algn="l">
              <a:defRPr sz="180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4pPr>
            <a:lvl5pPr algn="l">
              <a:defRPr sz="180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5pPr>
            <a:lvl6pPr algn="l">
              <a:defRPr sz="180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6pPr>
            <a:lvl7pPr algn="l">
              <a:defRPr sz="180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7pPr>
            <a:lvl8pPr algn="l">
              <a:defRPr sz="180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8pPr>
            <a:lvl9pPr algn="l">
              <a:defRPr sz="180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5A6573"/>
                </a:solidFill>
                <a:latin typeface="Aptos"/>
                <a:ea typeface="Aptos"/>
                <a:cs typeface="Aptos"/>
              </a:rPr>
              <a:t>We check whether the isolation mechanism failed, before interpreting its performance.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CA0BD4-2A5A-4BAC-8549-2CED4CBBF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95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defPPr>
            <a:lvl1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1pPr>
            <a:lvl2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2pPr>
            <a:lvl3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3pPr>
            <a:lvl4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4pPr>
            <a:lvl5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5pPr>
            <a:lvl6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6pPr>
            <a:lvl7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7pPr>
            <a:lvl8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8pPr>
            <a:lvl9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A6573"/>
                </a:solidFill>
                <a:latin typeface="Aptos"/>
                <a:ea typeface="Aptos"/>
                <a:cs typeface="Aptos"/>
              </a:rPr>
              <a:t>CE7490 · 26S1 Group 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6B2D3D-507A-4160-A92A-B42DED5D2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96050"/>
            <a:ext cx="1028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defPPr>
            <a:lvl1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1pPr>
            <a:lvl2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2pPr>
            <a:lvl3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3pPr>
            <a:lvl4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4pPr>
            <a:lvl5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5pPr>
            <a:lvl6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6pPr>
            <a:lvl7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7pPr>
            <a:lvl8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8pPr>
            <a:lvl9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A6573"/>
                </a:solidFill>
                <a:latin typeface="Aptos"/>
                <a:ea typeface="Aptos"/>
                <a:cs typeface="Aptos"/>
              </a:rPr>
              <a:t>11 / 15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BACCB1-B7D3-4884-BA90-9CB261F3A5DD}"/>
              </a:ext>
            </a:extLst>
          </p:cNvPr>
          <p:cNvGraphicFramePr/>
          <p:nvPr/>
        </p:nvGraphicFramePr>
        <p:xfrm>
          <a:off xmlns:a="http://schemas.openxmlformats.org/drawingml/2006/main" x="685800" y="2105025"/>
          <a:ext xmlns:a="http://schemas.openxmlformats.org/drawingml/2006/main" cx="10820400" cy="2971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905500"/>
                <a:gridCol w="2457450"/>
                <a:gridCol w="245745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Heldout default predictor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7DDE3"/>
                      </a:solidFill>
                      <a:prstDash val="solid"/>
                    </a:lnL>
                    <a:lnR w="5715">
                      <a:solidFill>
                        <a:srgbClr val="D7DDE3"/>
                      </a:solidFill>
                      <a:prstDash val="solid"/>
                    </a:lnR>
                    <a:lnT w="5715">
                      <a:solidFill>
                        <a:srgbClr val="D7DDE3"/>
                      </a:solidFill>
                      <a:prstDash val="solid"/>
                    </a:lnT>
                    <a:lnB w="5715">
                      <a:solidFill>
                        <a:srgbClr val="D7DDE3"/>
                      </a:solidFill>
                      <a:prstDash val="solid"/>
                    </a:lnB>
                    <a:solidFill>
                      <a:srgbClr val="173F7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VM-level CA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7DDE3"/>
                      </a:solidFill>
                      <a:prstDash val="solid"/>
                    </a:lnR>
                    <a:lnT w="5715">
                      <a:solidFill>
                        <a:srgbClr val="D7DDE3"/>
                      </a:solidFill>
                      <a:prstDash val="solid"/>
                    </a:lnT>
                    <a:lnB w="5715">
                      <a:solidFill>
                        <a:srgbClr val="D7DDE3"/>
                      </a:solidFill>
                      <a:prstDash val="solid"/>
                    </a:lnB>
                    <a:solidFill>
                      <a:srgbClr val="173F7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Host-level CA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7DDE3"/>
                      </a:solidFill>
                      <a:prstDash val="solid"/>
                    </a:lnR>
                    <a:lnT w="5715">
                      <a:solidFill>
                        <a:srgbClr val="D7DDE3"/>
                      </a:solidFill>
                      <a:prstDash val="solid"/>
                    </a:lnT>
                    <a:lnB w="5715">
                      <a:solidFill>
                        <a:srgbClr val="D7DDE3"/>
                      </a:solidFill>
                      <a:prstDash val="solid"/>
                    </a:lnB>
                    <a:solidFill>
                      <a:srgbClr val="173F70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233142"/>
                          </a:solidFill>
                          <a:latin typeface="Aptos"/>
                          <a:ea typeface="Aptos"/>
                          <a:cs typeface="Aptos"/>
                        </a:rPr>
                        <a:t>Gate changes per 1,000 arrivals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7DDE3"/>
                      </a:solidFill>
                      <a:prstDash val="solid"/>
                    </a:lnL>
                    <a:lnR w="5715">
                      <a:solidFill>
                        <a:srgbClr val="D7DDE3"/>
                      </a:solidFill>
                      <a:prstDash val="solid"/>
                    </a:lnR>
                    <a:lnB w="5715">
                      <a:solidFill>
                        <a:srgbClr val="D7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233142"/>
                          </a:solidFill>
                          <a:latin typeface="Aptos"/>
                          <a:ea typeface="Aptos"/>
                          <a:cs typeface="Aptos"/>
                        </a:rPr>
                        <a:t>318.640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7DDE3"/>
                      </a:solidFill>
                      <a:prstDash val="solid"/>
                    </a:lnR>
                    <a:lnB w="5715">
                      <a:solidFill>
                        <a:srgbClr val="D7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233142"/>
                          </a:solidFill>
                          <a:latin typeface="Aptos"/>
                          <a:ea typeface="Aptos"/>
                          <a:cs typeface="Aptos"/>
                        </a:rPr>
                        <a:t>318.640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7DDE3"/>
                      </a:solidFill>
                      <a:prstDash val="solid"/>
                    </a:lnR>
                    <a:lnB w="5715">
                      <a:solidFill>
                        <a:srgbClr val="D7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233142"/>
                          </a:solidFill>
                          <a:latin typeface="Aptos"/>
                          <a:ea typeface="Aptos"/>
                          <a:cs typeface="Aptos"/>
                        </a:rPr>
                        <a:t>Best-Fit decisions into LAVA hosts / trace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7DDE3"/>
                      </a:solidFill>
                      <a:prstDash val="solid"/>
                    </a:lnL>
                    <a:lnR w="5715">
                      <a:solidFill>
                        <a:srgbClr val="D7DDE3"/>
                      </a:solidFill>
                      <a:prstDash val="solid"/>
                    </a:lnR>
                    <a:lnB w="5715">
                      <a:solidFill>
                        <a:srgbClr val="D7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233142"/>
                          </a:solidFill>
                          <a:latin typeface="Aptos"/>
                          <a:ea typeface="Aptos"/>
                          <a:cs typeface="Aptos"/>
                        </a:rPr>
                        <a:t>607.750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7DDE3"/>
                      </a:solidFill>
                      <a:prstDash val="solid"/>
                    </a:lnR>
                    <a:lnB w="5715">
                      <a:solidFill>
                        <a:srgbClr val="D7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233142"/>
                          </a:solidFill>
                          <a:latin typeface="Aptos"/>
                          <a:ea typeface="Aptos"/>
                          <a:cs typeface="Aptos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7DDE3"/>
                      </a:solidFill>
                      <a:prstDash val="solid"/>
                    </a:lnR>
                    <a:lnB w="5715">
                      <a:solidFill>
                        <a:srgbClr val="D7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233142"/>
                          </a:solidFill>
                          <a:latin typeface="Aptos"/>
                          <a:ea typeface="Aptos"/>
                          <a:cs typeface="Aptos"/>
                        </a:rPr>
                        <a:t>LAVA decisions into Best-Fit hosts / trace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7DDE3"/>
                      </a:solidFill>
                      <a:prstDash val="solid"/>
                    </a:lnL>
                    <a:lnR w="5715">
                      <a:solidFill>
                        <a:srgbClr val="D7DDE3"/>
                      </a:solidFill>
                      <a:prstDash val="solid"/>
                    </a:lnR>
                    <a:lnB w="5715">
                      <a:solidFill>
                        <a:srgbClr val="D7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233142"/>
                          </a:solidFill>
                          <a:latin typeface="Aptos"/>
                          <a:ea typeface="Aptos"/>
                          <a:cs typeface="Aptos"/>
                        </a:rPr>
                        <a:t>319.400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7DDE3"/>
                      </a:solidFill>
                      <a:prstDash val="solid"/>
                    </a:lnR>
                    <a:lnB w="5715">
                      <a:solidFill>
                        <a:srgbClr val="D7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233142"/>
                          </a:solidFill>
                          <a:latin typeface="Aptos"/>
                          <a:ea typeface="Aptos"/>
                          <a:cs typeface="Aptos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7DDE3"/>
                      </a:solidFill>
                      <a:prstDash val="solid"/>
                    </a:lnR>
                    <a:lnB w="5715">
                      <a:solidFill>
                        <a:srgbClr val="D7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233142"/>
                          </a:solidFill>
                          <a:latin typeface="Aptos"/>
                          <a:ea typeface="Aptos"/>
                          <a:cs typeface="Aptos"/>
                        </a:rPr>
                        <a:t>Capacity fallback / trace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7DDE3"/>
                      </a:solidFill>
                      <a:prstDash val="solid"/>
                    </a:lnL>
                    <a:lnR w="5715">
                      <a:solidFill>
                        <a:srgbClr val="D7DDE3"/>
                      </a:solidFill>
                      <a:prstDash val="solid"/>
                    </a:lnR>
                    <a:lnB w="5715">
                      <a:solidFill>
                        <a:srgbClr val="D7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233142"/>
                          </a:solidFill>
                          <a:latin typeface="Aptos"/>
                          <a:ea typeface="Aptos"/>
                          <a:cs typeface="Aptos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7DDE3"/>
                      </a:solidFill>
                      <a:prstDash val="solid"/>
                    </a:lnR>
                    <a:lnB w="5715">
                      <a:solidFill>
                        <a:srgbClr val="D7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25" b="0">
                          <a:solidFill>
                            <a:srgbClr val="233142"/>
                          </a:solidFill>
                          <a:latin typeface="Aptos"/>
                          <a:ea typeface="Aptos"/>
                          <a:cs typeface="Aptos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7DDE3"/>
                      </a:solidFill>
                      <a:prstDash val="solid"/>
                    </a:lnR>
                    <a:lnB w="5715">
                      <a:solidFill>
                        <a:srgbClr val="D7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9D1716-4592-4D4D-A60F-B01F231AA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05425"/>
            <a:ext cx="10820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defPPr>
            <a:lvl1pPr algn="l">
              <a:defRPr sz="202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1pPr>
            <a:lvl2pPr algn="l">
              <a:defRPr sz="202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2pPr>
            <a:lvl3pPr algn="l">
              <a:defRPr sz="202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3pPr>
            <a:lvl4pPr algn="l">
              <a:defRPr sz="202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4pPr>
            <a:lvl5pPr algn="l">
              <a:defRPr sz="202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5pPr>
            <a:lvl6pPr algn="l">
              <a:defRPr sz="202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6pPr>
            <a:lvl7pPr algn="l">
              <a:defRPr sz="202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7pPr>
            <a:lvl8pPr algn="l">
              <a:defRPr sz="202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8pPr>
            <a:lvl9pPr algn="l">
              <a:defRPr sz="202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2F5D8A"/>
                </a:solidFill>
                <a:latin typeface="Aptos"/>
                <a:ea typeface="Aptos"/>
                <a:cs typeface="Aptos"/>
              </a:rPr>
              <a:t>Isolation works as designed, yet its packing benefit is not confirmed.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74FA78-16E6-48CF-B7C7-4E242AFCE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9775"/>
            <a:ext cx="10820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33142"/>
                </a:solidFill>
                <a:latin typeface="Aptos"/>
                <a:ea typeface="Aptos"/>
                <a:cs typeface="Aptos"/>
              </a:defRPr>
            </a:defPPr>
            <a:lvl1pPr algn="l">
              <a:defRPr sz="1875" b="0">
                <a:solidFill>
                  <a:srgbClr val="233142"/>
                </a:solidFill>
                <a:latin typeface="Aptos"/>
                <a:ea typeface="Aptos"/>
                <a:cs typeface="Aptos"/>
              </a:defRPr>
            </a:lvl1pPr>
            <a:lvl2pPr algn="l">
              <a:defRPr sz="1875" b="0">
                <a:solidFill>
                  <a:srgbClr val="233142"/>
                </a:solidFill>
                <a:latin typeface="Aptos"/>
                <a:ea typeface="Aptos"/>
                <a:cs typeface="Aptos"/>
              </a:defRPr>
            </a:lvl2pPr>
            <a:lvl3pPr algn="l">
              <a:defRPr sz="1875" b="0">
                <a:solidFill>
                  <a:srgbClr val="233142"/>
                </a:solidFill>
                <a:latin typeface="Aptos"/>
                <a:ea typeface="Aptos"/>
                <a:cs typeface="Aptos"/>
              </a:defRPr>
            </a:lvl3pPr>
            <a:lvl4pPr algn="l">
              <a:defRPr sz="1875" b="0">
                <a:solidFill>
                  <a:srgbClr val="233142"/>
                </a:solidFill>
                <a:latin typeface="Aptos"/>
                <a:ea typeface="Aptos"/>
                <a:cs typeface="Aptos"/>
              </a:defRPr>
            </a:lvl4pPr>
            <a:lvl5pPr algn="l">
              <a:defRPr sz="1875" b="0">
                <a:solidFill>
                  <a:srgbClr val="233142"/>
                </a:solidFill>
                <a:latin typeface="Aptos"/>
                <a:ea typeface="Aptos"/>
                <a:cs typeface="Aptos"/>
              </a:defRPr>
            </a:lvl5pPr>
            <a:lvl6pPr algn="l">
              <a:defRPr sz="1875" b="0">
                <a:solidFill>
                  <a:srgbClr val="233142"/>
                </a:solidFill>
                <a:latin typeface="Aptos"/>
                <a:ea typeface="Aptos"/>
                <a:cs typeface="Aptos"/>
              </a:defRPr>
            </a:lvl6pPr>
            <a:lvl7pPr algn="l">
              <a:defRPr sz="1875" b="0">
                <a:solidFill>
                  <a:srgbClr val="233142"/>
                </a:solidFill>
                <a:latin typeface="Aptos"/>
                <a:ea typeface="Aptos"/>
                <a:cs typeface="Aptos"/>
              </a:defRPr>
            </a:lvl7pPr>
            <a:lvl8pPr algn="l">
              <a:defRPr sz="1875" b="0">
                <a:solidFill>
                  <a:srgbClr val="233142"/>
                </a:solidFill>
                <a:latin typeface="Aptos"/>
                <a:ea typeface="Aptos"/>
                <a:cs typeface="Aptos"/>
              </a:defRPr>
            </a:lvl8pPr>
            <a:lvl9pPr algn="l">
              <a:defRPr sz="1875" b="0">
                <a:solidFill>
                  <a:srgbClr val="23314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3314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233142"/>
                </a:solidFill>
                <a:latin typeface="Aptos"/>
                <a:ea typeface="Aptos"/>
                <a:cs typeface="Aptos"/>
              </a:rPr>
              <a:t>That motivates the next step: improve the lifetime estimate itself, rather than rely only on routing.</a:t>
            </a:r>
          </a:p>
        </p:txBody>
      </p:sp>
    </p:spTree>
    <p:extLst>
      <p:ext uri="{BB962C8B-B14F-4D97-AF65-F5344CB8AC3E}">
        <p14:creationId xmlns:p14="http://schemas.microsoft.com/office/powerpoint/2010/main" val="63698997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1D17EB-9240-4D79-AABA-8045EF8C7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defPPr>
            <a:lvl1pPr algn="l">
              <a:defRPr sz="12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1pPr>
            <a:lvl2pPr algn="l">
              <a:defRPr sz="12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2pPr>
            <a:lvl3pPr algn="l">
              <a:defRPr sz="12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3pPr>
            <a:lvl4pPr algn="l">
              <a:defRPr sz="12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4pPr>
            <a:lvl5pPr algn="l">
              <a:defRPr sz="12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5pPr>
            <a:lvl6pPr algn="l">
              <a:defRPr sz="12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6pPr>
            <a:lvl7pPr algn="l">
              <a:defRPr sz="12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7pPr>
            <a:lvl8pPr algn="l">
              <a:defRPr sz="12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8pPr>
            <a:lvl9pPr algn="l">
              <a:defRPr sz="12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F5D8A"/>
                </a:solidFill>
                <a:latin typeface="Aptos"/>
                <a:ea typeface="Aptos"/>
                <a:cs typeface="Aptos"/>
              </a:rPr>
              <a:t>PART 3  IMPROVEMENT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46CBE2-E9B5-46F2-9566-AE9C783FC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"/>
            <a:ext cx="108204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775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defPPr>
            <a:lvl1pPr algn="l">
              <a:defRPr sz="2775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lvl1pPr>
            <a:lvl2pPr algn="l">
              <a:defRPr sz="2775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lvl2pPr>
            <a:lvl3pPr algn="l">
              <a:defRPr sz="2775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lvl3pPr>
            <a:lvl4pPr algn="l">
              <a:defRPr sz="2775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lvl4pPr>
            <a:lvl5pPr algn="l">
              <a:defRPr sz="2775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lvl5pPr>
            <a:lvl6pPr algn="l">
              <a:defRPr sz="2775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lvl6pPr>
            <a:lvl7pPr algn="l">
              <a:defRPr sz="2775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lvl7pPr>
            <a:lvl8pPr algn="l">
              <a:defRPr sz="2775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lvl8pPr>
            <a:lvl9pPr algn="l">
              <a:defRPr sz="2775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pPr>
            <a:r>
              <a:rPr sz="2775" b="1">
                <a:solidFill>
                  <a:srgbClr val="233142"/>
                </a:solidFill>
                <a:latin typeface="Aptos"/>
                <a:ea typeface="Aptos"/>
                <a:cs typeface="Aptos"/>
              </a:rPr>
              <a:t>Improvement: combine the prediction with a prior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237213-F8D6-43B2-AD15-8B6E297D6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defPPr>
            <a:lvl1pPr algn="l">
              <a:defRPr sz="180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1pPr>
            <a:lvl2pPr algn="l">
              <a:defRPr sz="180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2pPr>
            <a:lvl3pPr algn="l">
              <a:defRPr sz="180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3pPr>
            <a:lvl4pPr algn="l">
              <a:defRPr sz="180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4pPr>
            <a:lvl5pPr algn="l">
              <a:defRPr sz="180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5pPr>
            <a:lvl6pPr algn="l">
              <a:defRPr sz="180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6pPr>
            <a:lvl7pPr algn="l">
              <a:defRPr sz="180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7pPr>
            <a:lvl8pPr algn="l">
              <a:defRPr sz="180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8pPr>
            <a:lvl9pPr algn="l">
              <a:defRPr sz="180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5A6573"/>
                </a:solidFill>
                <a:latin typeface="Aptos"/>
                <a:ea typeface="Aptos"/>
                <a:cs typeface="Aptos"/>
              </a:rPr>
              <a:t>Prior = the usual lifetime pattern for this kind of VM. Fusion combines it with a new estimate.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1FB559-52D7-4637-A2D9-3DC148F00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95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defPPr>
            <a:lvl1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1pPr>
            <a:lvl2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2pPr>
            <a:lvl3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3pPr>
            <a:lvl4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4pPr>
            <a:lvl5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5pPr>
            <a:lvl6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6pPr>
            <a:lvl7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7pPr>
            <a:lvl8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8pPr>
            <a:lvl9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A6573"/>
                </a:solidFill>
                <a:latin typeface="Aptos"/>
                <a:ea typeface="Aptos"/>
                <a:cs typeface="Aptos"/>
              </a:rPr>
              <a:t>CE7490 · 26S1 Group 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338006-4985-4D7D-8305-4B6676CD3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96050"/>
            <a:ext cx="1028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defPPr>
            <a:lvl1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1pPr>
            <a:lvl2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2pPr>
            <a:lvl3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3pPr>
            <a:lvl4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4pPr>
            <a:lvl5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5pPr>
            <a:lvl6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6pPr>
            <a:lvl7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7pPr>
            <a:lvl8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8pPr>
            <a:lvl9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A6573"/>
                </a:solidFill>
                <a:latin typeface="Aptos"/>
                <a:ea typeface="Aptos"/>
                <a:cs typeface="Aptos"/>
              </a:rPr>
              <a:t>12 / 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7B56F8-AD5D-4C1F-AC1E-8BE736261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defPPr>
            <a:lvl1pPr algn="l">
              <a:defRPr sz="202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1pPr>
            <a:lvl2pPr algn="l">
              <a:defRPr sz="202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2pPr>
            <a:lvl3pPr algn="l">
              <a:defRPr sz="202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3pPr>
            <a:lvl4pPr algn="l">
              <a:defRPr sz="202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4pPr>
            <a:lvl5pPr algn="l">
              <a:defRPr sz="202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5pPr>
            <a:lvl6pPr algn="l">
              <a:defRPr sz="202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6pPr>
            <a:lvl7pPr algn="l">
              <a:defRPr sz="202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7pPr>
            <a:lvl8pPr algn="l">
              <a:defRPr sz="202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8pPr>
            <a:lvl9pPr algn="l">
              <a:defRPr sz="202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2F5D8A"/>
                </a:solidFill>
                <a:latin typeface="Aptos"/>
                <a:ea typeface="Aptos"/>
                <a:cs typeface="Aptos"/>
              </a:rPr>
              <a:t>The prior asks: how plausible is this observation for this kind of VM?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A1BA7A-635E-4E92-950D-5E9D1783B69F}"/>
              </a:ext>
            </a:extLst>
          </p:cNvPr>
          <p:cNvGraphicFramePr/>
          <p:nvPr/>
        </p:nvGraphicFramePr>
        <p:xfrm>
          <a:off xmlns:a="http://schemas.openxmlformats.org/drawingml/2006/main" x="685800" y="2857500"/>
          <a:ext xmlns:a="http://schemas.openxmlformats.org/drawingml/2006/main" cx="10820400" cy="22288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524250"/>
                <a:gridCol w="2381250"/>
                <a:gridCol w="2457450"/>
                <a:gridCol w="245745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Example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7DDE3"/>
                      </a:solidFill>
                      <a:prstDash val="solid"/>
                    </a:lnL>
                    <a:lnR w="5715">
                      <a:solidFill>
                        <a:srgbClr val="D7DDE3"/>
                      </a:solidFill>
                      <a:prstDash val="solid"/>
                    </a:lnR>
                    <a:lnT w="5715">
                      <a:solidFill>
                        <a:srgbClr val="D7DDE3"/>
                      </a:solidFill>
                      <a:prstDash val="solid"/>
                    </a:lnT>
                    <a:lnB w="5715">
                      <a:solidFill>
                        <a:srgbClr val="D7DDE3"/>
                      </a:solidFill>
                      <a:prstDash val="solid"/>
                    </a:lnB>
                    <a:solidFill>
                      <a:srgbClr val="173F7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Prior mean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7DDE3"/>
                      </a:solidFill>
                      <a:prstDash val="solid"/>
                    </a:lnR>
                    <a:lnT w="5715">
                      <a:solidFill>
                        <a:srgbClr val="D7DDE3"/>
                      </a:solidFill>
                      <a:prstDash val="solid"/>
                    </a:lnT>
                    <a:lnB w="5715">
                      <a:solidFill>
                        <a:srgbClr val="D7DDE3"/>
                      </a:solidFill>
                      <a:prstDash val="solid"/>
                    </a:lnB>
                    <a:solidFill>
                      <a:srgbClr val="173F7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Noisy estimate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7DDE3"/>
                      </a:solidFill>
                      <a:prstDash val="solid"/>
                    </a:lnR>
                    <a:lnT w="5715">
                      <a:solidFill>
                        <a:srgbClr val="D7DDE3"/>
                      </a:solidFill>
                      <a:prstDash val="solid"/>
                    </a:lnT>
                    <a:lnB w="5715">
                      <a:solidFill>
                        <a:srgbClr val="D7DDE3"/>
                      </a:solidFill>
                      <a:prstDash val="solid"/>
                    </a:lnB>
                    <a:solidFill>
                      <a:srgbClr val="173F7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Fused estimate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7DDE3"/>
                      </a:solidFill>
                      <a:prstDash val="solid"/>
                    </a:lnR>
                    <a:lnT w="5715">
                      <a:solidFill>
                        <a:srgbClr val="D7DDE3"/>
                      </a:solidFill>
                      <a:prstDash val="solid"/>
                    </a:lnT>
                    <a:lnB w="5715">
                      <a:solidFill>
                        <a:srgbClr val="D7DDE3"/>
                      </a:solidFill>
                      <a:prstDash val="solid"/>
                    </a:lnB>
                    <a:solidFill>
                      <a:srgbClr val="173F70"/>
                    </a:solidFill>
                  </a:tcPr>
                </a:tc>
              </a:tr>
              <a:tr h="885825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233142"/>
                          </a:solidFill>
                          <a:latin typeface="Aptos"/>
                          <a:ea typeface="Aptos"/>
                          <a:cs typeface="Aptos"/>
                        </a:rPr>
                        <a:t>Interactive VM</a:t>
                      </a:r>
                    </a:p>
                    <a:p>
                      <a:pPr algn="l"/>
                      <a:r>
                        <a:rPr sz="1875" b="1">
                          <a:solidFill>
                            <a:srgbClr val="233142"/>
                          </a:solidFill>
                          <a:latin typeface="Aptos"/>
                          <a:ea typeface="Aptos"/>
                          <a:cs typeface="Aptos"/>
                        </a:rPr>
                        <a:t>25% accuracy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7DDE3"/>
                      </a:solidFill>
                      <a:prstDash val="solid"/>
                    </a:lnL>
                    <a:lnR w="5715">
                      <a:solidFill>
                        <a:srgbClr val="D7DDE3"/>
                      </a:solidFill>
                      <a:prstDash val="solid"/>
                    </a:lnR>
                    <a:lnB w="5715">
                      <a:solidFill>
                        <a:srgbClr val="D7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233142"/>
                          </a:solidFill>
                          <a:latin typeface="Aptos"/>
                          <a:ea typeface="Aptos"/>
                          <a:cs typeface="Aptos"/>
                        </a:rPr>
                        <a:t>1.07 h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7DDE3"/>
                      </a:solidFill>
                      <a:prstDash val="solid"/>
                    </a:lnR>
                    <a:lnB w="5715">
                      <a:solidFill>
                        <a:srgbClr val="D7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233142"/>
                          </a:solidFill>
                          <a:latin typeface="Aptos"/>
                          <a:ea typeface="Aptos"/>
                          <a:cs typeface="Aptos"/>
                        </a:rPr>
                        <a:t>300 h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7DDE3"/>
                      </a:solidFill>
                      <a:prstDash val="solid"/>
                    </a:lnR>
                    <a:lnB w="5715">
                      <a:solidFill>
                        <a:srgbClr val="D7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233142"/>
                          </a:solidFill>
                          <a:latin typeface="Aptos"/>
                          <a:ea typeface="Aptos"/>
                          <a:cs typeface="Aptos"/>
                        </a:rPr>
                        <a:t>1.52 h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7DDE3"/>
                      </a:solidFill>
                      <a:prstDash val="solid"/>
                    </a:lnR>
                    <a:lnB w="5715">
                      <a:solidFill>
                        <a:srgbClr val="D7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85825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233142"/>
                          </a:solidFill>
                          <a:latin typeface="Aptos"/>
                          <a:ea typeface="Aptos"/>
                          <a:cs typeface="Aptos"/>
                        </a:rPr>
                        <a:t>Service VM</a:t>
                      </a:r>
                    </a:p>
                    <a:p>
                      <a:pPr algn="l"/>
                      <a:r>
                        <a:rPr sz="1875" b="1">
                          <a:solidFill>
                            <a:srgbClr val="233142"/>
                          </a:solidFill>
                          <a:latin typeface="Aptos"/>
                          <a:ea typeface="Aptos"/>
                          <a:cs typeface="Aptos"/>
                        </a:rPr>
                        <a:t>50% accuracy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7DDE3"/>
                      </a:solidFill>
                      <a:prstDash val="solid"/>
                    </a:lnL>
                    <a:lnR w="5715">
                      <a:solidFill>
                        <a:srgbClr val="D7DDE3"/>
                      </a:solidFill>
                      <a:prstDash val="solid"/>
                    </a:lnR>
                    <a:lnB w="5715">
                      <a:solidFill>
                        <a:srgbClr val="D7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233142"/>
                          </a:solidFill>
                          <a:latin typeface="Aptos"/>
                          <a:ea typeface="Aptos"/>
                          <a:cs typeface="Aptos"/>
                        </a:rPr>
                        <a:t>85.2 h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7DDE3"/>
                      </a:solidFill>
                      <a:prstDash val="solid"/>
                    </a:lnR>
                    <a:lnB w="5715">
                      <a:solidFill>
                        <a:srgbClr val="D7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233142"/>
                          </a:solidFill>
                          <a:latin typeface="Aptos"/>
                          <a:ea typeface="Aptos"/>
                          <a:cs typeface="Aptos"/>
                        </a:rPr>
                        <a:t>2 h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7DDE3"/>
                      </a:solidFill>
                      <a:prstDash val="solid"/>
                    </a:lnR>
                    <a:lnB w="5715">
                      <a:solidFill>
                        <a:srgbClr val="D7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75" b="0">
                          <a:solidFill>
                            <a:srgbClr val="233142"/>
                          </a:solidFill>
                          <a:latin typeface="Aptos"/>
                          <a:ea typeface="Aptos"/>
                          <a:cs typeface="Aptos"/>
                        </a:rPr>
                        <a:t>27.0 h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7DDE3"/>
                      </a:solidFill>
                      <a:prstDash val="solid"/>
                    </a:lnR>
                    <a:lnB w="5715">
                      <a:solidFill>
                        <a:srgbClr val="D7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AEA20D-B74C-4937-A35F-FE6318C8E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33142"/>
                </a:solidFill>
                <a:latin typeface="Aptos"/>
                <a:ea typeface="Aptos"/>
                <a:cs typeface="Aptos"/>
              </a:defRPr>
            </a:defPPr>
            <a:lvl1pPr algn="l">
              <a:defRPr sz="1950" b="0">
                <a:solidFill>
                  <a:srgbClr val="233142"/>
                </a:solidFill>
                <a:latin typeface="Aptos"/>
                <a:ea typeface="Aptos"/>
                <a:cs typeface="Aptos"/>
              </a:defRPr>
            </a:lvl1pPr>
            <a:lvl2pPr algn="l">
              <a:defRPr sz="1950" b="0">
                <a:solidFill>
                  <a:srgbClr val="233142"/>
                </a:solidFill>
                <a:latin typeface="Aptos"/>
                <a:ea typeface="Aptos"/>
                <a:cs typeface="Aptos"/>
              </a:defRPr>
            </a:lvl2pPr>
            <a:lvl3pPr algn="l">
              <a:defRPr sz="1950" b="0">
                <a:solidFill>
                  <a:srgbClr val="233142"/>
                </a:solidFill>
                <a:latin typeface="Aptos"/>
                <a:ea typeface="Aptos"/>
                <a:cs typeface="Aptos"/>
              </a:defRPr>
            </a:lvl3pPr>
            <a:lvl4pPr algn="l">
              <a:defRPr sz="1950" b="0">
                <a:solidFill>
                  <a:srgbClr val="233142"/>
                </a:solidFill>
                <a:latin typeface="Aptos"/>
                <a:ea typeface="Aptos"/>
                <a:cs typeface="Aptos"/>
              </a:defRPr>
            </a:lvl4pPr>
            <a:lvl5pPr algn="l">
              <a:defRPr sz="1950" b="0">
                <a:solidFill>
                  <a:srgbClr val="233142"/>
                </a:solidFill>
                <a:latin typeface="Aptos"/>
                <a:ea typeface="Aptos"/>
                <a:cs typeface="Aptos"/>
              </a:defRPr>
            </a:lvl5pPr>
            <a:lvl6pPr algn="l">
              <a:defRPr sz="1950" b="0">
                <a:solidFill>
                  <a:srgbClr val="233142"/>
                </a:solidFill>
                <a:latin typeface="Aptos"/>
                <a:ea typeface="Aptos"/>
                <a:cs typeface="Aptos"/>
              </a:defRPr>
            </a:lvl6pPr>
            <a:lvl7pPr algn="l">
              <a:defRPr sz="1950" b="0">
                <a:solidFill>
                  <a:srgbClr val="233142"/>
                </a:solidFill>
                <a:latin typeface="Aptos"/>
                <a:ea typeface="Aptos"/>
                <a:cs typeface="Aptos"/>
              </a:defRPr>
            </a:lvl7pPr>
            <a:lvl8pPr algn="l">
              <a:defRPr sz="1950" b="0">
                <a:solidFill>
                  <a:srgbClr val="233142"/>
                </a:solidFill>
                <a:latin typeface="Aptos"/>
                <a:ea typeface="Aptos"/>
                <a:cs typeface="Aptos"/>
              </a:defRPr>
            </a:lvl8pPr>
            <a:lvl9pPr algn="l">
              <a:defRPr sz="1950" b="0">
                <a:solidFill>
                  <a:srgbClr val="23314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33142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233142"/>
                </a:solidFill>
                <a:latin typeface="Aptos"/>
                <a:ea typeface="Aptos"/>
                <a:cs typeface="Aptos"/>
              </a:rPr>
              <a:t>An implausible observation gets less weight. A plausible observation can still update the prior.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7EF4C3-DC26-48B3-8475-7EEEB968B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67425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defPPr>
            <a:lvl1pPr algn="l">
              <a:defRPr sz="172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1pPr>
            <a:lvl2pPr algn="l">
              <a:defRPr sz="172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2pPr>
            <a:lvl3pPr algn="l">
              <a:defRPr sz="172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3pPr>
            <a:lvl4pPr algn="l">
              <a:defRPr sz="172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4pPr>
            <a:lvl5pPr algn="l">
              <a:defRPr sz="172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5pPr>
            <a:lvl6pPr algn="l">
              <a:defRPr sz="172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6pPr>
            <a:lvl7pPr algn="l">
              <a:defRPr sz="172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7pPr>
            <a:lvl8pPr algn="l">
              <a:defRPr sz="172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8pPr>
            <a:lvl9pPr algn="l">
              <a:defRPr sz="172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F5D8A"/>
                </a:solidFill>
                <a:latin typeface="Aptos"/>
                <a:ea typeface="Aptos"/>
                <a:cs typeface="Aptos"/>
              </a:rPr>
              <a:t>We change the predictor while preserving the placement code.</a:t>
            </a:r>
          </a:p>
        </p:txBody>
      </p:sp>
    </p:spTree>
    <p:extLst>
      <p:ext uri="{BB962C8B-B14F-4D97-AF65-F5344CB8AC3E}">
        <p14:creationId xmlns:p14="http://schemas.microsoft.com/office/powerpoint/2010/main" val="108140749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661472-3B82-4C57-AC45-D80804367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defPPr>
            <a:lvl1pPr algn="l">
              <a:defRPr sz="12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1pPr>
            <a:lvl2pPr algn="l">
              <a:defRPr sz="12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2pPr>
            <a:lvl3pPr algn="l">
              <a:defRPr sz="12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3pPr>
            <a:lvl4pPr algn="l">
              <a:defRPr sz="12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4pPr>
            <a:lvl5pPr algn="l">
              <a:defRPr sz="12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5pPr>
            <a:lvl6pPr algn="l">
              <a:defRPr sz="12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6pPr>
            <a:lvl7pPr algn="l">
              <a:defRPr sz="12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7pPr>
            <a:lvl8pPr algn="l">
              <a:defRPr sz="12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8pPr>
            <a:lvl9pPr algn="l">
              <a:defRPr sz="12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F5D8A"/>
                </a:solidFill>
                <a:latin typeface="Aptos"/>
                <a:ea typeface="Aptos"/>
                <a:cs typeface="Aptos"/>
              </a:rPr>
              <a:t>PART 3  IMPROVEMENT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902DA8-ED68-4963-BCA1-6FCD0941F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"/>
            <a:ext cx="108204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775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defPPr>
            <a:lvl1pPr algn="l">
              <a:defRPr sz="2775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lvl1pPr>
            <a:lvl2pPr algn="l">
              <a:defRPr sz="2775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lvl2pPr>
            <a:lvl3pPr algn="l">
              <a:defRPr sz="2775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lvl3pPr>
            <a:lvl4pPr algn="l">
              <a:defRPr sz="2775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lvl4pPr>
            <a:lvl5pPr algn="l">
              <a:defRPr sz="2775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lvl5pPr>
            <a:lvl6pPr algn="l">
              <a:defRPr sz="2775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lvl6pPr>
            <a:lvl7pPr algn="l">
              <a:defRPr sz="2775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lvl7pPr>
            <a:lvl8pPr algn="l">
              <a:defRPr sz="2775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lvl8pPr>
            <a:lvl9pPr algn="l">
              <a:defRPr sz="2775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pPr>
            <a:r>
              <a:rPr sz="2775" b="1">
                <a:solidFill>
                  <a:srgbClr val="233142"/>
                </a:solidFill>
                <a:latin typeface="Aptos"/>
                <a:ea typeface="Aptos"/>
                <a:cs typeface="Aptos"/>
              </a:rPr>
              <a:t>Improvement results on 100 fresh workloads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6E34BC-2FF0-402E-803F-A406D371A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defPPr>
            <a:lvl1pPr algn="l">
              <a:defRPr sz="180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1pPr>
            <a:lvl2pPr algn="l">
              <a:defRPr sz="180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2pPr>
            <a:lvl3pPr algn="l">
              <a:defRPr sz="180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3pPr>
            <a:lvl4pPr algn="l">
              <a:defRPr sz="180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4pPr>
            <a:lvl5pPr algn="l">
              <a:defRPr sz="180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5pPr>
            <a:lvl6pPr algn="l">
              <a:defRPr sz="180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6pPr>
            <a:lvl7pPr algn="l">
              <a:defRPr sz="180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7pPr>
            <a:lvl8pPr algn="l">
              <a:defRPr sz="180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8pPr>
            <a:lvl9pPr algn="l">
              <a:defRPr sz="180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5A6573"/>
                </a:solidFill>
                <a:latin typeface="Aptos"/>
                <a:ea typeface="Aptos"/>
                <a:cs typeface="Aptos"/>
              </a:rPr>
              <a:t>Registered VM-CA-Bayes combines fusion with VM-level routing. Paired gains in pp, n = 100.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41FF5A-B231-4AE6-9EBA-D4487C2CA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95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defPPr>
            <a:lvl1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1pPr>
            <a:lvl2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2pPr>
            <a:lvl3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3pPr>
            <a:lvl4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4pPr>
            <a:lvl5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5pPr>
            <a:lvl6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6pPr>
            <a:lvl7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7pPr>
            <a:lvl8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8pPr>
            <a:lvl9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A6573"/>
                </a:solidFill>
                <a:latin typeface="Aptos"/>
                <a:ea typeface="Aptos"/>
                <a:cs typeface="Aptos"/>
              </a:rPr>
              <a:t>CE7490 · 26S1 Group 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60AF85-1567-48F1-B1EC-0702C5E47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96050"/>
            <a:ext cx="1028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defPPr>
            <a:lvl1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1pPr>
            <a:lvl2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2pPr>
            <a:lvl3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3pPr>
            <a:lvl4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4pPr>
            <a:lvl5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5pPr>
            <a:lvl6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6pPr>
            <a:lvl7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7pPr>
            <a:lvl8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8pPr>
            <a:lvl9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A6573"/>
                </a:solidFill>
                <a:latin typeface="Aptos"/>
                <a:ea typeface="Aptos"/>
                <a:cs typeface="Aptos"/>
              </a:rPr>
              <a:t>13 / 15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4DCF91-2E80-4AFB-8EA2-59B06FF6DD42}"/>
              </a:ext>
            </a:extLst>
          </p:cNvPr>
          <p:cNvGraphicFramePr/>
          <p:nvPr/>
        </p:nvGraphicFramePr>
        <p:xfrm>
          <a:off xmlns:a="http://schemas.openxmlformats.org/drawingml/2006/main" x="685800" y="2124075"/>
          <a:ext xmlns:a="http://schemas.openxmlformats.org/drawingml/2006/main" cx="10820400" cy="3200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38250"/>
                <a:gridCol w="4791075"/>
                <a:gridCol w="4791075"/>
              </a:tblGrid>
              <a:tr h="495300"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Accuracy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7DDE3"/>
                      </a:solidFill>
                      <a:prstDash val="solid"/>
                    </a:lnL>
                    <a:lnR w="5715">
                      <a:solidFill>
                        <a:srgbClr val="D7DDE3"/>
                      </a:solidFill>
                      <a:prstDash val="solid"/>
                    </a:lnR>
                    <a:lnT w="5715">
                      <a:solidFill>
                        <a:srgbClr val="D7DDE3"/>
                      </a:solidFill>
                      <a:prstDash val="solid"/>
                    </a:lnT>
                    <a:lnB w="5715">
                      <a:solidFill>
                        <a:srgbClr val="D7DDE3"/>
                      </a:solidFill>
                      <a:prstDash val="solid"/>
                    </a:lnB>
                    <a:solidFill>
                      <a:srgbClr val="173F7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Gain over LAVA [95% CI]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7DDE3"/>
                      </a:solidFill>
                      <a:prstDash val="solid"/>
                    </a:lnR>
                    <a:lnT w="5715">
                      <a:solidFill>
                        <a:srgbClr val="D7DDE3"/>
                      </a:solidFill>
                      <a:prstDash val="solid"/>
                    </a:lnT>
                    <a:lnB w="5715">
                      <a:solidFill>
                        <a:srgbClr val="D7DDE3"/>
                      </a:solidFill>
                      <a:prstDash val="solid"/>
                    </a:lnB>
                    <a:solidFill>
                      <a:srgbClr val="173F7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Gain over Best-Fit [95% CI]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7DDE3"/>
                      </a:solidFill>
                      <a:prstDash val="solid"/>
                    </a:lnR>
                    <a:lnT w="5715">
                      <a:solidFill>
                        <a:srgbClr val="D7DDE3"/>
                      </a:solidFill>
                      <a:prstDash val="solid"/>
                    </a:lnT>
                    <a:lnB w="5715">
                      <a:solidFill>
                        <a:srgbClr val="D7DDE3"/>
                      </a:solidFill>
                      <a:prstDash val="solid"/>
                    </a:lnB>
                    <a:solidFill>
                      <a:srgbClr val="173F70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233142"/>
                          </a:solidFill>
                          <a:latin typeface="Aptos"/>
                          <a:ea typeface="Aptos"/>
                          <a:cs typeface="Aptos"/>
                        </a:rPr>
                        <a:t>25%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7DDE3"/>
                      </a:solidFill>
                      <a:prstDash val="solid"/>
                    </a:lnL>
                    <a:lnR w="5715">
                      <a:solidFill>
                        <a:srgbClr val="D7DDE3"/>
                      </a:solidFill>
                      <a:prstDash val="solid"/>
                    </a:lnR>
                    <a:lnB w="5715">
                      <a:solidFill>
                        <a:srgbClr val="D7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233142"/>
                          </a:solidFill>
                          <a:latin typeface="Aptos"/>
                          <a:ea typeface="Aptos"/>
                          <a:cs typeface="Aptos"/>
                        </a:rPr>
                        <a:t>+0.224 [+0.174, +0.275]</a:t>
                      </a:r>
                    </a:p>
                    <a:p>
                      <a:pPr algn="l"/>
                      <a:r>
                        <a:rPr sz="1650" b="0">
                          <a:solidFill>
                            <a:srgbClr val="233142"/>
                          </a:solidFill>
                          <a:latin typeface="Aptos"/>
                          <a:ea typeface="Aptos"/>
                          <a:cs typeface="Aptos"/>
                        </a:rPr>
                        <a:t>Confirmed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7DDE3"/>
                      </a:solidFill>
                      <a:prstDash val="solid"/>
                    </a:lnR>
                    <a:lnB w="5715">
                      <a:solidFill>
                        <a:srgbClr val="D7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233142"/>
                          </a:solidFill>
                          <a:latin typeface="Aptos"/>
                          <a:ea typeface="Aptos"/>
                          <a:cs typeface="Aptos"/>
                        </a:rPr>
                        <a:t>+0.037 [-0.012, +0.086]</a:t>
                      </a:r>
                    </a:p>
                    <a:p>
                      <a:pPr algn="l"/>
                      <a:r>
                        <a:rPr sz="1650" b="0">
                          <a:solidFill>
                            <a:srgbClr val="233142"/>
                          </a:solidFill>
                          <a:latin typeface="Aptos"/>
                          <a:ea typeface="Aptos"/>
                          <a:cs typeface="Aptos"/>
                        </a:rPr>
                        <a:t>Not confirmed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7DDE3"/>
                      </a:solidFill>
                      <a:prstDash val="solid"/>
                    </a:lnR>
                    <a:lnB w="5715">
                      <a:solidFill>
                        <a:srgbClr val="D7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233142"/>
                          </a:solidFill>
                          <a:latin typeface="Aptos"/>
                          <a:ea typeface="Aptos"/>
                          <a:cs typeface="Aptos"/>
                        </a:rPr>
                        <a:t>50%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7DDE3"/>
                      </a:solidFill>
                      <a:prstDash val="solid"/>
                    </a:lnL>
                    <a:lnR w="5715">
                      <a:solidFill>
                        <a:srgbClr val="D7DDE3"/>
                      </a:solidFill>
                      <a:prstDash val="solid"/>
                    </a:lnR>
                    <a:lnB w="5715">
                      <a:solidFill>
                        <a:srgbClr val="D7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233142"/>
                          </a:solidFill>
                          <a:latin typeface="Aptos"/>
                          <a:ea typeface="Aptos"/>
                          <a:cs typeface="Aptos"/>
                        </a:rPr>
                        <a:t>+0.147 [+0.088, +0.205]</a:t>
                      </a:r>
                    </a:p>
                    <a:p>
                      <a:pPr algn="l"/>
                      <a:r>
                        <a:rPr sz="1650" b="0">
                          <a:solidFill>
                            <a:srgbClr val="233142"/>
                          </a:solidFill>
                          <a:latin typeface="Aptos"/>
                          <a:ea typeface="Aptos"/>
                          <a:cs typeface="Aptos"/>
                        </a:rPr>
                        <a:t>Confirmed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7DDE3"/>
                      </a:solidFill>
                      <a:prstDash val="solid"/>
                    </a:lnR>
                    <a:lnB w="5715">
                      <a:solidFill>
                        <a:srgbClr val="D7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233142"/>
                          </a:solidFill>
                          <a:latin typeface="Aptos"/>
                          <a:ea typeface="Aptos"/>
                          <a:cs typeface="Aptos"/>
                        </a:rPr>
                        <a:t>+0.122 [+0.064, +0.180]</a:t>
                      </a:r>
                    </a:p>
                    <a:p>
                      <a:pPr algn="l"/>
                      <a:r>
                        <a:rPr sz="1650" b="0">
                          <a:solidFill>
                            <a:srgbClr val="233142"/>
                          </a:solidFill>
                          <a:latin typeface="Aptos"/>
                          <a:ea typeface="Aptos"/>
                          <a:cs typeface="Aptos"/>
                        </a:rPr>
                        <a:t>Confirmed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7DDE3"/>
                      </a:solidFill>
                      <a:prstDash val="solid"/>
                    </a:lnR>
                    <a:lnB w="5715">
                      <a:solidFill>
                        <a:srgbClr val="D7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233142"/>
                          </a:solidFill>
                          <a:latin typeface="Aptos"/>
                          <a:ea typeface="Aptos"/>
                          <a:cs typeface="Aptos"/>
                        </a:rPr>
                        <a:t>75%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7DDE3"/>
                      </a:solidFill>
                      <a:prstDash val="solid"/>
                    </a:lnL>
                    <a:lnR w="5715">
                      <a:solidFill>
                        <a:srgbClr val="D7DDE3"/>
                      </a:solidFill>
                      <a:prstDash val="solid"/>
                    </a:lnR>
                    <a:lnB w="5715">
                      <a:solidFill>
                        <a:srgbClr val="D7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233142"/>
                          </a:solidFill>
                          <a:latin typeface="Aptos"/>
                          <a:ea typeface="Aptos"/>
                          <a:cs typeface="Aptos"/>
                        </a:rPr>
                        <a:t>+0.054 [-0.001, +0.109]</a:t>
                      </a:r>
                    </a:p>
                    <a:p>
                      <a:pPr algn="l"/>
                      <a:r>
                        <a:rPr sz="1650" b="0">
                          <a:solidFill>
                            <a:srgbClr val="233142"/>
                          </a:solidFill>
                          <a:latin typeface="Aptos"/>
                          <a:ea typeface="Aptos"/>
                          <a:cs typeface="Aptos"/>
                        </a:rPr>
                        <a:t>Not confirmed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7DDE3"/>
                      </a:solidFill>
                      <a:prstDash val="solid"/>
                    </a:lnR>
                    <a:lnB w="5715">
                      <a:solidFill>
                        <a:srgbClr val="D7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233142"/>
                          </a:solidFill>
                          <a:latin typeface="Aptos"/>
                          <a:ea typeface="Aptos"/>
                          <a:cs typeface="Aptos"/>
                        </a:rPr>
                        <a:t>+0.272 [+0.217, +0.327]</a:t>
                      </a:r>
                    </a:p>
                    <a:p>
                      <a:pPr algn="l"/>
                      <a:r>
                        <a:rPr sz="1650" b="0">
                          <a:solidFill>
                            <a:srgbClr val="233142"/>
                          </a:solidFill>
                          <a:latin typeface="Aptos"/>
                          <a:ea typeface="Aptos"/>
                          <a:cs typeface="Aptos"/>
                        </a:rPr>
                        <a:t>Confirmed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7DDE3"/>
                      </a:solidFill>
                      <a:prstDash val="solid"/>
                    </a:lnR>
                    <a:lnB w="5715">
                      <a:solidFill>
                        <a:srgbClr val="D7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233142"/>
                          </a:solidFill>
                          <a:latin typeface="Aptos"/>
                          <a:ea typeface="Aptos"/>
                          <a:cs typeface="Aptos"/>
                        </a:rPr>
                        <a:t>85%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7DDE3"/>
                      </a:solidFill>
                      <a:prstDash val="solid"/>
                    </a:lnL>
                    <a:lnR w="5715">
                      <a:solidFill>
                        <a:srgbClr val="D7DDE3"/>
                      </a:solidFill>
                      <a:prstDash val="solid"/>
                    </a:lnR>
                    <a:lnB w="5715">
                      <a:solidFill>
                        <a:srgbClr val="D7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233142"/>
                          </a:solidFill>
                          <a:latin typeface="Aptos"/>
                          <a:ea typeface="Aptos"/>
                          <a:cs typeface="Aptos"/>
                        </a:rPr>
                        <a:t>+0.088 [+0.037, +0.139]</a:t>
                      </a:r>
                    </a:p>
                    <a:p>
                      <a:pPr algn="l"/>
                      <a:r>
                        <a:rPr sz="1650" b="0">
                          <a:solidFill>
                            <a:srgbClr val="233142"/>
                          </a:solidFill>
                          <a:latin typeface="Aptos"/>
                          <a:ea typeface="Aptos"/>
                          <a:cs typeface="Aptos"/>
                        </a:rPr>
                        <a:t>Confirmed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7DDE3"/>
                      </a:solidFill>
                      <a:prstDash val="solid"/>
                    </a:lnR>
                    <a:lnB w="5715">
                      <a:solidFill>
                        <a:srgbClr val="D7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233142"/>
                          </a:solidFill>
                          <a:latin typeface="Aptos"/>
                          <a:ea typeface="Aptos"/>
                          <a:cs typeface="Aptos"/>
                        </a:rPr>
                        <a:t>+0.398 [+0.338, +0.457]</a:t>
                      </a:r>
                    </a:p>
                    <a:p>
                      <a:pPr algn="l"/>
                      <a:r>
                        <a:rPr sz="1650" b="0">
                          <a:solidFill>
                            <a:srgbClr val="233142"/>
                          </a:solidFill>
                          <a:latin typeface="Aptos"/>
                          <a:ea typeface="Aptos"/>
                          <a:cs typeface="Aptos"/>
                        </a:rPr>
                        <a:t>Confirmed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7DDE3"/>
                      </a:solidFill>
                      <a:prstDash val="solid"/>
                    </a:lnR>
                    <a:lnB w="5715">
                      <a:solidFill>
                        <a:srgbClr val="D7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FF4DCD-34B2-4447-9468-500833C1E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0820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defPPr>
            <a:lvl1pPr algn="l">
              <a:defRPr sz="1800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1pPr>
            <a:lvl2pPr algn="l">
              <a:defRPr sz="1800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2pPr>
            <a:lvl3pPr algn="l">
              <a:defRPr sz="1800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3pPr>
            <a:lvl4pPr algn="l">
              <a:defRPr sz="1800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4pPr>
            <a:lvl5pPr algn="l">
              <a:defRPr sz="1800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5pPr>
            <a:lvl6pPr algn="l">
              <a:defRPr sz="1800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6pPr>
            <a:lvl7pPr algn="l">
              <a:defRPr sz="1800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7pPr>
            <a:lvl8pPr algn="l">
              <a:defRPr sz="1800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8pPr>
            <a:lvl9pPr algn="l">
              <a:defRPr sz="1800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F5D8A"/>
                </a:solidFill>
                <a:latin typeface="Aptos"/>
                <a:ea typeface="Aptos"/>
                <a:cs typeface="Aptos"/>
              </a:rPr>
              <a:t>75% versus LAVA remains unconfirmed (Holm p = 0.11).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74382C-54FB-4BEA-B63D-4242B07D5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43600"/>
            <a:ext cx="10820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defPPr>
            <a:lvl1pPr algn="l">
              <a:defRPr sz="150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1pPr>
            <a:lvl2pPr algn="l">
              <a:defRPr sz="150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2pPr>
            <a:lvl3pPr algn="l">
              <a:defRPr sz="150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3pPr>
            <a:lvl4pPr algn="l">
              <a:defRPr sz="150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4pPr>
            <a:lvl5pPr algn="l">
              <a:defRPr sz="150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5pPr>
            <a:lvl6pPr algn="l">
              <a:defRPr sz="150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6pPr>
            <a:lvl7pPr algn="l">
              <a:defRPr sz="150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7pPr>
            <a:lvl8pPr algn="l">
              <a:defRPr sz="150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8pPr>
            <a:lvl9pPr algn="l">
              <a:defRPr sz="150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A6573"/>
                </a:solidFill>
                <a:latin typeface="Aptos"/>
                <a:ea typeface="Aptos"/>
                <a:cs typeface="Aptos"/>
              </a:rPr>
              <a:t>25% versus Best-Fit also remains unconfirmed. Intervals are unadjusted, decisions use Holm correction across 8 tests.</a:t>
            </a:r>
          </a:p>
        </p:txBody>
      </p:sp>
    </p:spTree>
    <p:extLst>
      <p:ext uri="{BB962C8B-B14F-4D97-AF65-F5344CB8AC3E}">
        <p14:creationId xmlns:p14="http://schemas.microsoft.com/office/powerpoint/2010/main" val="9622649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226D21-3CED-43E2-9561-86189724E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defPPr>
            <a:lvl1pPr algn="l">
              <a:defRPr sz="12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1pPr>
            <a:lvl2pPr algn="l">
              <a:defRPr sz="12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2pPr>
            <a:lvl3pPr algn="l">
              <a:defRPr sz="12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3pPr>
            <a:lvl4pPr algn="l">
              <a:defRPr sz="12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4pPr>
            <a:lvl5pPr algn="l">
              <a:defRPr sz="12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5pPr>
            <a:lvl6pPr algn="l">
              <a:defRPr sz="12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6pPr>
            <a:lvl7pPr algn="l">
              <a:defRPr sz="12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7pPr>
            <a:lvl8pPr algn="l">
              <a:defRPr sz="12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8pPr>
            <a:lvl9pPr algn="l">
              <a:defRPr sz="12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F5D8A"/>
                </a:solidFill>
                <a:latin typeface="Aptos"/>
                <a:ea typeface="Aptos"/>
                <a:cs typeface="Aptos"/>
              </a:rPr>
              <a:t>PART 3  IMPROVEMENT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AA0518-7970-4505-9AA3-AF5E6A9DF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"/>
            <a:ext cx="108204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775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defPPr>
            <a:lvl1pPr algn="l">
              <a:defRPr sz="2775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lvl1pPr>
            <a:lvl2pPr algn="l">
              <a:defRPr sz="2775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lvl2pPr>
            <a:lvl3pPr algn="l">
              <a:defRPr sz="2775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lvl3pPr>
            <a:lvl4pPr algn="l">
              <a:defRPr sz="2775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lvl4pPr>
            <a:lvl5pPr algn="l">
              <a:defRPr sz="2775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lvl5pPr>
            <a:lvl6pPr algn="l">
              <a:defRPr sz="2775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lvl6pPr>
            <a:lvl7pPr algn="l">
              <a:defRPr sz="2775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lvl7pPr>
            <a:lvl8pPr algn="l">
              <a:defRPr sz="2775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lvl8pPr>
            <a:lvl9pPr algn="l">
              <a:defRPr sz="2775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pPr>
            <a:r>
              <a:rPr sz="2775" b="1">
                <a:solidFill>
                  <a:srgbClr val="233142"/>
                </a:solidFill>
                <a:latin typeface="Aptos"/>
                <a:ea typeface="Aptos"/>
                <a:cs typeface="Aptos"/>
              </a:rPr>
              <a:t>A useful predictor still depends on its assumptions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6A80CC-CD0C-4CB4-B842-331673B5E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defPPr>
            <a:lvl1pPr algn="l">
              <a:defRPr sz="180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1pPr>
            <a:lvl2pPr algn="l">
              <a:defRPr sz="180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2pPr>
            <a:lvl3pPr algn="l">
              <a:defRPr sz="180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3pPr>
            <a:lvl4pPr algn="l">
              <a:defRPr sz="180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4pPr>
            <a:lvl5pPr algn="l">
              <a:defRPr sz="180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5pPr>
            <a:lvl6pPr algn="l">
              <a:defRPr sz="180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6pPr>
            <a:lvl7pPr algn="l">
              <a:defRPr sz="180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7pPr>
            <a:lvl8pPr algn="l">
              <a:defRPr sz="180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8pPr>
            <a:lvl9pPr algn="l">
              <a:defRPr sz="180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5A6573"/>
                </a:solidFill>
                <a:latin typeface="Aptos"/>
                <a:ea typeface="Aptos"/>
                <a:cs typeface="Aptos"/>
              </a:rPr>
              <a:t>Robustness changes one assumption at a time, using 50 fresh workloads per setting.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BEA99F-5AC8-4E41-99FA-D24A8BF00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95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defPPr>
            <a:lvl1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1pPr>
            <a:lvl2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2pPr>
            <a:lvl3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3pPr>
            <a:lvl4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4pPr>
            <a:lvl5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5pPr>
            <a:lvl6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6pPr>
            <a:lvl7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7pPr>
            <a:lvl8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8pPr>
            <a:lvl9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A6573"/>
                </a:solidFill>
                <a:latin typeface="Aptos"/>
                <a:ea typeface="Aptos"/>
                <a:cs typeface="Aptos"/>
              </a:rPr>
              <a:t>CE7490 · 26S1 Group 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62520E-D6A4-4AE5-BCDB-75BD5A21C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96050"/>
            <a:ext cx="1028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defPPr>
            <a:lvl1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1pPr>
            <a:lvl2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2pPr>
            <a:lvl3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3pPr>
            <a:lvl4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4pPr>
            <a:lvl5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5pPr>
            <a:lvl6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6pPr>
            <a:lvl7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7pPr>
            <a:lvl8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8pPr>
            <a:lvl9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A6573"/>
                </a:solidFill>
                <a:latin typeface="Aptos"/>
                <a:ea typeface="Aptos"/>
                <a:cs typeface="Aptos"/>
              </a:rPr>
              <a:t>14 / 15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C0F9F0-270A-46CA-821C-27AEEE22456F}"/>
              </a:ext>
            </a:extLst>
          </p:cNvPr>
          <p:cNvGraphicFramePr/>
          <p:nvPr/>
        </p:nvGraphicFramePr>
        <p:xfrm>
          <a:off xmlns:a="http://schemas.openxmlformats.org/drawingml/2006/main" x="685800" y="2105025"/>
          <a:ext xmlns:a="http://schemas.openxmlformats.org/drawingml/2006/main" cx="10820400" cy="3543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14625"/>
                <a:gridCol w="4429125"/>
                <a:gridCol w="367665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Change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7DDE3"/>
                      </a:solidFill>
                      <a:prstDash val="solid"/>
                    </a:lnL>
                    <a:lnR w="5715">
                      <a:solidFill>
                        <a:srgbClr val="D7DDE3"/>
                      </a:solidFill>
                      <a:prstDash val="solid"/>
                    </a:lnR>
                    <a:lnT w="5715">
                      <a:solidFill>
                        <a:srgbClr val="D7DDE3"/>
                      </a:solidFill>
                      <a:prstDash val="solid"/>
                    </a:lnT>
                    <a:lnB w="5715">
                      <a:solidFill>
                        <a:srgbClr val="D7DDE3"/>
                      </a:solidFill>
                      <a:prstDash val="solid"/>
                    </a:lnB>
                    <a:solidFill>
                      <a:srgbClr val="173F7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Observed result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7DDE3"/>
                      </a:solidFill>
                      <a:prstDash val="solid"/>
                    </a:lnR>
                    <a:lnT w="5715">
                      <a:solidFill>
                        <a:srgbClr val="D7DDE3"/>
                      </a:solidFill>
                      <a:prstDash val="solid"/>
                    </a:lnT>
                    <a:lnB w="5715">
                      <a:solidFill>
                        <a:srgbClr val="D7DDE3"/>
                      </a:solidFill>
                      <a:prstDash val="solid"/>
                    </a:lnB>
                    <a:solidFill>
                      <a:srgbClr val="173F7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Interpretation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7DDE3"/>
                      </a:solidFill>
                      <a:prstDash val="solid"/>
                    </a:lnR>
                    <a:lnT w="5715">
                      <a:solidFill>
                        <a:srgbClr val="D7DDE3"/>
                      </a:solidFill>
                      <a:prstDash val="solid"/>
                    </a:lnT>
                    <a:lnB w="5715">
                      <a:solidFill>
                        <a:srgbClr val="D7DDE3"/>
                      </a:solidFill>
                      <a:prstDash val="solid"/>
                    </a:lnB>
                    <a:solidFill>
                      <a:srgbClr val="173F70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233142"/>
                          </a:solidFill>
                          <a:latin typeface="Aptos"/>
                          <a:ea typeface="Aptos"/>
                          <a:cs typeface="Aptos"/>
                        </a:rPr>
                        <a:t>Milder incorrect predictions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7DDE3"/>
                      </a:solidFill>
                      <a:prstDash val="solid"/>
                    </a:lnL>
                    <a:lnR w="5715">
                      <a:solidFill>
                        <a:srgbClr val="D7DDE3"/>
                      </a:solidFill>
                      <a:prstDash val="solid"/>
                    </a:lnR>
                    <a:lnB w="5715">
                      <a:solidFill>
                        <a:srgbClr val="D7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233142"/>
                          </a:solidFill>
                          <a:latin typeface="Aptos"/>
                          <a:ea typeface="Aptos"/>
                          <a:cs typeface="Aptos"/>
                        </a:rPr>
                        <a:t>Only 1–2 of 4 intervals above zero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7DDE3"/>
                      </a:solidFill>
                      <a:prstDash val="solid"/>
                    </a:lnR>
                    <a:lnB w="5715">
                      <a:solidFill>
                        <a:srgbClr val="D7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233142"/>
                          </a:solidFill>
                          <a:latin typeface="Aptos"/>
                          <a:ea typeface="Aptos"/>
                          <a:cs typeface="Aptos"/>
                        </a:rPr>
                        <a:t>Smaller errors are harder to distinguish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7DDE3"/>
                      </a:solidFill>
                      <a:prstDash val="solid"/>
                    </a:lnR>
                    <a:lnB w="5715">
                      <a:solidFill>
                        <a:srgbClr val="D7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233142"/>
                          </a:solidFill>
                          <a:latin typeface="Aptos"/>
                          <a:ea typeface="Aptos"/>
                          <a:cs typeface="Aptos"/>
                        </a:rPr>
                        <a:t>Prior lifetimes × 0.5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7DDE3"/>
                      </a:solidFill>
                      <a:prstDash val="solid"/>
                    </a:lnL>
                    <a:lnR w="5715">
                      <a:solidFill>
                        <a:srgbClr val="D7DDE3"/>
                      </a:solidFill>
                      <a:prstDash val="solid"/>
                    </a:lnR>
                    <a:lnB w="5715">
                      <a:solidFill>
                        <a:srgbClr val="D7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233142"/>
                          </a:solidFill>
                          <a:latin typeface="Aptos"/>
                          <a:ea typeface="Aptos"/>
                          <a:cs typeface="Aptos"/>
                        </a:rPr>
                        <a:t>At 85%: −0.116 [−0.197, −0.034] pp vs LAVA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7DDE3"/>
                      </a:solidFill>
                      <a:prstDash val="solid"/>
                    </a:lnR>
                    <a:lnB w="5715">
                      <a:solidFill>
                        <a:srgbClr val="D7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233142"/>
                          </a:solidFill>
                          <a:latin typeface="Aptos"/>
                          <a:ea typeface="Aptos"/>
                          <a:cs typeface="Aptos"/>
                        </a:rPr>
                        <a:t>Underestimating long lifetimes can hurt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7DDE3"/>
                      </a:solidFill>
                      <a:prstDash val="solid"/>
                    </a:lnR>
                    <a:lnB w="5715">
                      <a:solidFill>
                        <a:srgbClr val="D7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233142"/>
                          </a:solidFill>
                          <a:latin typeface="Aptos"/>
                          <a:ea typeface="Aptos"/>
                          <a:cs typeface="Aptos"/>
                        </a:rPr>
                        <a:t>Prior lifetimes × 2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7DDE3"/>
                      </a:solidFill>
                      <a:prstDash val="solid"/>
                    </a:lnL>
                    <a:lnR w="5715">
                      <a:solidFill>
                        <a:srgbClr val="D7DDE3"/>
                      </a:solidFill>
                      <a:prstDash val="solid"/>
                    </a:lnR>
                    <a:lnB w="5715">
                      <a:solidFill>
                        <a:srgbClr val="D7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233142"/>
                          </a:solidFill>
                          <a:latin typeface="Aptos"/>
                          <a:ea typeface="Aptos"/>
                          <a:cs typeface="Aptos"/>
                        </a:rPr>
                        <a:t>All four gains over LAVA have positive intervals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7DDE3"/>
                      </a:solidFill>
                      <a:prstDash val="solid"/>
                    </a:lnR>
                    <a:lnB w="5715">
                      <a:solidFill>
                        <a:srgbClr val="D7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233142"/>
                          </a:solidFill>
                          <a:latin typeface="Aptos"/>
                          <a:ea typeface="Aptos"/>
                          <a:cs typeface="Aptos"/>
                        </a:rPr>
                        <a:t>The direction of prior error matters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7DDE3"/>
                      </a:solidFill>
                      <a:prstDash val="solid"/>
                    </a:lnR>
                    <a:lnB w="5715">
                      <a:solidFill>
                        <a:srgbClr val="D7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233142"/>
                          </a:solidFill>
                          <a:latin typeface="Aptos"/>
                          <a:ea typeface="Aptos"/>
                          <a:cs typeface="Aptos"/>
                        </a:rPr>
                        <a:t>Twice the arrivals and requests</a:t>
                      </a:r>
                    </a:p>
                  </a:txBody>
                  <a:tcPr marL="91440" marR="91440" marT="45720" marB="45720" anchor="ctr">
                    <a:lnL w="5715">
                      <a:solidFill>
                        <a:srgbClr val="D7DDE3"/>
                      </a:solidFill>
                      <a:prstDash val="solid"/>
                    </a:lnL>
                    <a:lnR w="5715">
                      <a:solidFill>
                        <a:srgbClr val="D7DDE3"/>
                      </a:solidFill>
                      <a:prstDash val="solid"/>
                    </a:lnR>
                    <a:lnB w="5715">
                      <a:solidFill>
                        <a:srgbClr val="D7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233142"/>
                          </a:solidFill>
                          <a:latin typeface="Aptos"/>
                          <a:ea typeface="Aptos"/>
                          <a:cs typeface="Aptos"/>
                        </a:rPr>
                        <a:t>Gains over LAVA at 25–75%, 85% uncertain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7DDE3"/>
                      </a:solidFill>
                      <a:prstDash val="solid"/>
                    </a:lnR>
                    <a:lnB w="5715">
                      <a:solidFill>
                        <a:srgbClr val="D7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233142"/>
                          </a:solidFill>
                          <a:latin typeface="Aptos"/>
                          <a:ea typeface="Aptos"/>
                          <a:cs typeface="Aptos"/>
                        </a:rPr>
                        <a:t>Load changes the size of the benefit</a:t>
                      </a:r>
                    </a:p>
                  </a:txBody>
                  <a:tcPr marL="91440" marR="91440" marT="45720" marB="45720" anchor="ctr">
                    <a:lnR w="5715">
                      <a:solidFill>
                        <a:srgbClr val="D7DDE3"/>
                      </a:solidFill>
                      <a:prstDash val="solid"/>
                    </a:lnR>
                    <a:lnB w="5715">
                      <a:solidFill>
                        <a:srgbClr val="D7DD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9456D8-A255-4FE2-B31C-4C3613E18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8204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defPPr>
            <a:lvl1pPr algn="l">
              <a:defRPr sz="165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1pPr>
            <a:lvl2pPr algn="l">
              <a:defRPr sz="165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2pPr>
            <a:lvl3pPr algn="l">
              <a:defRPr sz="165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3pPr>
            <a:lvl4pPr algn="l">
              <a:defRPr sz="165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4pPr>
            <a:lvl5pPr algn="l">
              <a:defRPr sz="165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5pPr>
            <a:lvl6pPr algn="l">
              <a:defRPr sz="165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6pPr>
            <a:lvl7pPr algn="l">
              <a:defRPr sz="165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7pPr>
            <a:lvl8pPr algn="l">
              <a:defRPr sz="165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8pPr>
            <a:lvl9pPr algn="l">
              <a:defRPr sz="165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A6573"/>
                </a:solidFill>
                <a:latin typeface="Aptos"/>
                <a:ea typeface="Aptos"/>
                <a:cs typeface="Aptos"/>
              </a:rPr>
              <a:t>The failing prior case is still +0.191 pp above Best-Fit. These robustness tests are exploratory and unadjusted.</a:t>
            </a:r>
          </a:p>
        </p:txBody>
      </p:sp>
    </p:spTree>
    <p:extLst>
      <p:ext uri="{BB962C8B-B14F-4D97-AF65-F5344CB8AC3E}">
        <p14:creationId xmlns:p14="http://schemas.microsoft.com/office/powerpoint/2010/main" val="176892066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8C791A-FFCA-4A66-A41C-B59278AA9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defPPr>
            <a:lvl1pPr algn="l">
              <a:defRPr sz="12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1pPr>
            <a:lvl2pPr algn="l">
              <a:defRPr sz="12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2pPr>
            <a:lvl3pPr algn="l">
              <a:defRPr sz="12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3pPr>
            <a:lvl4pPr algn="l">
              <a:defRPr sz="12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4pPr>
            <a:lvl5pPr algn="l">
              <a:defRPr sz="12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5pPr>
            <a:lvl6pPr algn="l">
              <a:defRPr sz="12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6pPr>
            <a:lvl7pPr algn="l">
              <a:defRPr sz="12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7pPr>
            <a:lvl8pPr algn="l">
              <a:defRPr sz="12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8pPr>
            <a:lvl9pPr algn="l">
              <a:defRPr sz="12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F5D8A"/>
                </a:solidFill>
                <a:latin typeface="Aptos"/>
                <a:ea typeface="Aptos"/>
                <a:cs typeface="Aptos"/>
              </a:rPr>
              <a:t>PART 3  IMPROVEMENT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D04AFB-4A52-4AFB-A44A-659B71B74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"/>
            <a:ext cx="108204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775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defPPr>
            <a:lvl1pPr algn="l">
              <a:defRPr sz="2775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lvl1pPr>
            <a:lvl2pPr algn="l">
              <a:defRPr sz="2775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lvl2pPr>
            <a:lvl3pPr algn="l">
              <a:defRPr sz="2775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lvl3pPr>
            <a:lvl4pPr algn="l">
              <a:defRPr sz="2775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lvl4pPr>
            <a:lvl5pPr algn="l">
              <a:defRPr sz="2775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lvl5pPr>
            <a:lvl6pPr algn="l">
              <a:defRPr sz="2775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lvl6pPr>
            <a:lvl7pPr algn="l">
              <a:defRPr sz="2775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lvl7pPr>
            <a:lvl8pPr algn="l">
              <a:defRPr sz="2775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lvl8pPr>
            <a:lvl9pPr algn="l">
              <a:defRPr sz="2775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233142"/>
                </a:solidFill>
                <a:latin typeface="Aptos"/>
                <a:ea typeface="Aptos"/>
                <a:cs typeface="Aptos"/>
              </a:defRPr>
            </a:pPr>
            <a:r>
              <a:rPr sz="2775" b="1">
                <a:solidFill>
                  <a:srgbClr val="233142"/>
                </a:solidFill>
                <a:latin typeface="Aptos"/>
                <a:ea typeface="Aptos"/>
                <a:cs typeface="Aptos"/>
              </a:rPr>
              <a:t>Reproduction findings and the improvement boundary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7C989B-6368-41F6-867C-A5A3ECEA1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defPPr>
            <a:lvl1pPr algn="l">
              <a:defRPr sz="180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1pPr>
            <a:lvl2pPr algn="l">
              <a:defRPr sz="180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2pPr>
            <a:lvl3pPr algn="l">
              <a:defRPr sz="180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3pPr>
            <a:lvl4pPr algn="l">
              <a:defRPr sz="180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4pPr>
            <a:lvl5pPr algn="l">
              <a:defRPr sz="180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5pPr>
            <a:lvl6pPr algn="l">
              <a:defRPr sz="180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6pPr>
            <a:lvl7pPr algn="l">
              <a:defRPr sz="180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7pPr>
            <a:lvl8pPr algn="l">
              <a:defRPr sz="180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8pPr>
            <a:lvl9pPr algn="l">
              <a:defRPr sz="180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5A6573"/>
                </a:solidFill>
                <a:latin typeface="Aptos"/>
                <a:ea typeface="Aptos"/>
                <a:cs typeface="Aptos"/>
              </a:rPr>
              <a:t>Rebuild the method, examine the gaps, then test a targeted improvement.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060D39-36B7-4513-9C7A-1CBC37328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895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defPPr>
            <a:lvl1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1pPr>
            <a:lvl2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2pPr>
            <a:lvl3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3pPr>
            <a:lvl4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4pPr>
            <a:lvl5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5pPr>
            <a:lvl6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6pPr>
            <a:lvl7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7pPr>
            <a:lvl8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8pPr>
            <a:lvl9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A6573"/>
                </a:solidFill>
                <a:latin typeface="Aptos"/>
                <a:ea typeface="Aptos"/>
                <a:cs typeface="Aptos"/>
              </a:rPr>
              <a:t>CE7490 · 26S1 Group 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24BC3F-D774-453B-887D-B8446843F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96050"/>
            <a:ext cx="1028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defPPr>
            <a:lvl1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1pPr>
            <a:lvl2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2pPr>
            <a:lvl3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3pPr>
            <a:lvl4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4pPr>
            <a:lvl5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5pPr>
            <a:lvl6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6pPr>
            <a:lvl7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7pPr>
            <a:lvl8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8pPr>
            <a:lvl9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A6573"/>
                </a:solidFill>
                <a:latin typeface="Aptos"/>
                <a:ea typeface="Aptos"/>
                <a:cs typeface="Aptos"/>
              </a:rPr>
              <a:t>15 / 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CD9B9F-8D4A-4C1E-9038-E30D9F60C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6810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defPPr>
            <a:lvl1pPr algn="l">
              <a:defRPr sz="21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1pPr>
            <a:lvl2pPr algn="l">
              <a:defRPr sz="21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2pPr>
            <a:lvl3pPr algn="l">
              <a:defRPr sz="21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3pPr>
            <a:lvl4pPr algn="l">
              <a:defRPr sz="21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4pPr>
            <a:lvl5pPr algn="l">
              <a:defRPr sz="21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5pPr>
            <a:lvl6pPr algn="l">
              <a:defRPr sz="21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6pPr>
            <a:lvl7pPr algn="l">
              <a:defRPr sz="21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7pPr>
            <a:lvl8pPr algn="l">
              <a:defRPr sz="21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8pPr>
            <a:lvl9pPr algn="l">
              <a:defRPr sz="21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2F5D8A"/>
                </a:solidFill>
                <a:latin typeface="Aptos"/>
                <a:ea typeface="Aptos"/>
                <a:cs typeface="Aptos"/>
              </a:rPr>
              <a:t>Reproduction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2B2655-AD55-4955-8E58-5BD1E038B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57475"/>
            <a:ext cx="65722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33142"/>
                </a:solidFill>
                <a:latin typeface="Aptos"/>
                <a:ea typeface="Aptos"/>
                <a:cs typeface="Aptos"/>
              </a:defRPr>
            </a:defPPr>
            <a:lvl1pPr algn="l">
              <a:defRPr sz="1950" b="0">
                <a:solidFill>
                  <a:srgbClr val="233142"/>
                </a:solidFill>
                <a:latin typeface="Aptos"/>
                <a:ea typeface="Aptos"/>
                <a:cs typeface="Aptos"/>
              </a:defRPr>
            </a:lvl1pPr>
            <a:lvl2pPr algn="l">
              <a:defRPr sz="1950" b="0">
                <a:solidFill>
                  <a:srgbClr val="233142"/>
                </a:solidFill>
                <a:latin typeface="Aptos"/>
                <a:ea typeface="Aptos"/>
                <a:cs typeface="Aptos"/>
              </a:defRPr>
            </a:lvl2pPr>
            <a:lvl3pPr algn="l">
              <a:defRPr sz="1950" b="0">
                <a:solidFill>
                  <a:srgbClr val="233142"/>
                </a:solidFill>
                <a:latin typeface="Aptos"/>
                <a:ea typeface="Aptos"/>
                <a:cs typeface="Aptos"/>
              </a:defRPr>
            </a:lvl3pPr>
            <a:lvl4pPr algn="l">
              <a:defRPr sz="1950" b="0">
                <a:solidFill>
                  <a:srgbClr val="233142"/>
                </a:solidFill>
                <a:latin typeface="Aptos"/>
                <a:ea typeface="Aptos"/>
                <a:cs typeface="Aptos"/>
              </a:defRPr>
            </a:lvl4pPr>
            <a:lvl5pPr algn="l">
              <a:defRPr sz="1950" b="0">
                <a:solidFill>
                  <a:srgbClr val="233142"/>
                </a:solidFill>
                <a:latin typeface="Aptos"/>
                <a:ea typeface="Aptos"/>
                <a:cs typeface="Aptos"/>
              </a:defRPr>
            </a:lvl5pPr>
            <a:lvl6pPr algn="l">
              <a:defRPr sz="1950" b="0">
                <a:solidFill>
                  <a:srgbClr val="233142"/>
                </a:solidFill>
                <a:latin typeface="Aptos"/>
                <a:ea typeface="Aptos"/>
                <a:cs typeface="Aptos"/>
              </a:defRPr>
            </a:lvl6pPr>
            <a:lvl7pPr algn="l">
              <a:defRPr sz="1950" b="0">
                <a:solidFill>
                  <a:srgbClr val="233142"/>
                </a:solidFill>
                <a:latin typeface="Aptos"/>
                <a:ea typeface="Aptos"/>
                <a:cs typeface="Aptos"/>
              </a:defRPr>
            </a:lvl7pPr>
            <a:lvl8pPr algn="l">
              <a:defRPr sz="1950" b="0">
                <a:solidFill>
                  <a:srgbClr val="233142"/>
                </a:solidFill>
                <a:latin typeface="Aptos"/>
                <a:ea typeface="Aptos"/>
                <a:cs typeface="Aptos"/>
              </a:defRPr>
            </a:lvl8pPr>
            <a:lvl9pPr algn="l">
              <a:defRPr sz="1950" b="0">
                <a:solidFill>
                  <a:srgbClr val="23314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33142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233142"/>
                </a:solidFill>
                <a:latin typeface="Aptos"/>
                <a:ea typeface="Aptos"/>
                <a:cs typeface="Aptos"/>
              </a:rPr>
              <a:t>LAVA benefits from better predictions.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>
                <a:solidFill>
                  <a:srgbClr val="233142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233142"/>
                </a:solidFill>
                <a:latin typeface="Aptos"/>
                <a:ea typeface="Aptos"/>
                <a:cs typeface="Aptos"/>
              </a:rPr>
              <a:t>The historical Host-CA advantage does not reproduce in our synthetic setting.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>
                <a:solidFill>
                  <a:srgbClr val="233142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233142"/>
                </a:solidFill>
                <a:latin typeface="Aptos"/>
                <a:ea typeface="Aptos"/>
                <a:cs typeface="Aptos"/>
              </a:rPr>
              <a:t>Checks support the implemented mechanisms, not exact equivalence to missing code.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57AF22-78BC-4BF2-B6E0-6027366C4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76450"/>
            <a:ext cx="3600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defPPr>
            <a:lvl1pPr algn="l">
              <a:defRPr sz="21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1pPr>
            <a:lvl2pPr algn="l">
              <a:defRPr sz="21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2pPr>
            <a:lvl3pPr algn="l">
              <a:defRPr sz="21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3pPr>
            <a:lvl4pPr algn="l">
              <a:defRPr sz="21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4pPr>
            <a:lvl5pPr algn="l">
              <a:defRPr sz="21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5pPr>
            <a:lvl6pPr algn="l">
              <a:defRPr sz="21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6pPr>
            <a:lvl7pPr algn="l">
              <a:defRPr sz="21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7pPr>
            <a:lvl8pPr algn="l">
              <a:defRPr sz="21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8pPr>
            <a:lvl9pPr algn="l">
              <a:defRPr sz="21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2F5D8A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2F5D8A"/>
                </a:solidFill>
                <a:latin typeface="Aptos"/>
                <a:ea typeface="Aptos"/>
                <a:cs typeface="Aptos"/>
              </a:rPr>
              <a:t>Improvement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791255-FD68-4D9C-A5D0-BADB4F085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657475"/>
            <a:ext cx="3600450" cy="3228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33142"/>
                </a:solidFill>
                <a:latin typeface="Aptos"/>
                <a:ea typeface="Aptos"/>
                <a:cs typeface="Aptos"/>
              </a:defRPr>
            </a:defPPr>
            <a:lvl1pPr algn="l">
              <a:defRPr sz="1800" b="0">
                <a:solidFill>
                  <a:srgbClr val="233142"/>
                </a:solidFill>
                <a:latin typeface="Aptos"/>
                <a:ea typeface="Aptos"/>
                <a:cs typeface="Aptos"/>
              </a:defRPr>
            </a:lvl1pPr>
            <a:lvl2pPr algn="l">
              <a:defRPr sz="1800" b="0">
                <a:solidFill>
                  <a:srgbClr val="233142"/>
                </a:solidFill>
                <a:latin typeface="Aptos"/>
                <a:ea typeface="Aptos"/>
                <a:cs typeface="Aptos"/>
              </a:defRPr>
            </a:lvl2pPr>
            <a:lvl3pPr algn="l">
              <a:defRPr sz="1800" b="0">
                <a:solidFill>
                  <a:srgbClr val="233142"/>
                </a:solidFill>
                <a:latin typeface="Aptos"/>
                <a:ea typeface="Aptos"/>
                <a:cs typeface="Aptos"/>
              </a:defRPr>
            </a:lvl3pPr>
            <a:lvl4pPr algn="l">
              <a:defRPr sz="1800" b="0">
                <a:solidFill>
                  <a:srgbClr val="233142"/>
                </a:solidFill>
                <a:latin typeface="Aptos"/>
                <a:ea typeface="Aptos"/>
                <a:cs typeface="Aptos"/>
              </a:defRPr>
            </a:lvl4pPr>
            <a:lvl5pPr algn="l">
              <a:defRPr sz="1800" b="0">
                <a:solidFill>
                  <a:srgbClr val="233142"/>
                </a:solidFill>
                <a:latin typeface="Aptos"/>
                <a:ea typeface="Aptos"/>
                <a:cs typeface="Aptos"/>
              </a:defRPr>
            </a:lvl5pPr>
            <a:lvl6pPr algn="l">
              <a:defRPr sz="1800" b="0">
                <a:solidFill>
                  <a:srgbClr val="233142"/>
                </a:solidFill>
                <a:latin typeface="Aptos"/>
                <a:ea typeface="Aptos"/>
                <a:cs typeface="Aptos"/>
              </a:defRPr>
            </a:lvl6pPr>
            <a:lvl7pPr algn="l">
              <a:defRPr sz="1800" b="0">
                <a:solidFill>
                  <a:srgbClr val="233142"/>
                </a:solidFill>
                <a:latin typeface="Aptos"/>
                <a:ea typeface="Aptos"/>
                <a:cs typeface="Aptos"/>
              </a:defRPr>
            </a:lvl7pPr>
            <a:lvl8pPr algn="l">
              <a:defRPr sz="1800" b="0">
                <a:solidFill>
                  <a:srgbClr val="233142"/>
                </a:solidFill>
                <a:latin typeface="Aptos"/>
                <a:ea typeface="Aptos"/>
                <a:cs typeface="Aptos"/>
              </a:defRPr>
            </a:lvl8pPr>
            <a:lvl9pPr algn="l">
              <a:defRPr sz="1800" b="0">
                <a:solidFill>
                  <a:srgbClr val="233142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3314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33142"/>
                </a:solidFill>
                <a:latin typeface="Aptos"/>
                <a:ea typeface="Aptos"/>
                <a:cs typeface="Aptos"/>
              </a:rPr>
              <a:t>Prior fusion improves on LAVA in 3 of 4 planned tests.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23314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33142"/>
                </a:solidFill>
                <a:latin typeface="Aptos"/>
                <a:ea typeface="Aptos"/>
                <a:cs typeface="Aptos"/>
              </a:rPr>
              <a:t>Known priors and a known error model are strong assumptions.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23314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33142"/>
                </a:solidFill>
                <a:latin typeface="Aptos"/>
                <a:ea typeface="Aptos"/>
                <a:cs typeface="Aptos"/>
              </a:rPr>
              <a:t>Next: learn priors from history and test real traces.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2B009C-1CC2-4E3F-9554-2A4068F46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91225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defPPr>
            <a:lvl1pPr algn="l">
              <a:defRPr sz="165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1pPr>
            <a:lvl2pPr algn="l">
              <a:defRPr sz="165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2pPr>
            <a:lvl3pPr algn="l">
              <a:defRPr sz="165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3pPr>
            <a:lvl4pPr algn="l">
              <a:defRPr sz="165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4pPr>
            <a:lvl5pPr algn="l">
              <a:defRPr sz="165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5pPr>
            <a:lvl6pPr algn="l">
              <a:defRPr sz="165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6pPr>
            <a:lvl7pPr algn="l">
              <a:defRPr sz="165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7pPr>
            <a:lvl8pPr algn="l">
              <a:defRPr sz="165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8pPr>
            <a:lvl9pPr algn="l">
              <a:defRPr sz="165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5A6573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A6573"/>
                </a:solidFill>
                <a:latin typeface="Aptos"/>
                <a:ea typeface="Aptos"/>
                <a:cs typeface="Aptos"/>
              </a:rPr>
              <a:t>Code, frozen settings and per-workload results are available in the project repository.</a:t>
            </a:r>
          </a:p>
        </p:txBody>
      </p:sp>
    </p:spTree>
    <p:extLst>
      <p:ext uri="{BB962C8B-B14F-4D97-AF65-F5344CB8AC3E}">
        <p14:creationId xmlns:p14="http://schemas.microsoft.com/office/powerpoint/2010/main" val="3597724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Zhang Qi; Zhang Saining; Zheng Yitao</dc:creator>
  <lastModifiedBy>Zhang Qi; Zhang Saining; Zheng Yitao</lastModifiedBy>
  <dc:title>Revisiting Lifetime-Aware VM Allocation - Research Presentation</dc:title>
  <dcterms:created xsi:type="dcterms:W3CDTF">2026-10-31T02:22:43.8540000Z</dcterms:created>
  <dcterms:modified xsi:type="dcterms:W3CDTF">2026-10-31T02:22:43.8540000Z</dcterms:modified>
</coreProperties>
</file>