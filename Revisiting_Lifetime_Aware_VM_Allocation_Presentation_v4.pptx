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4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958c02ff064666" /><Relationship Type="http://schemas.openxmlformats.org/officeDocument/2006/relationships/extended-properties" Target="/docProps/app.xml" Id="R615632f85a754157" /><Relationship Type="http://schemas.openxmlformats.org/officeDocument/2006/relationships/officeDocument" Target="/ppt/presentation.xml" Id="R53e1972705e546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6213db29d54582"/>
  </p:sldMasterIdLst>
  <p:notesMasterIdLst>
    <p:notesMasterId xmlns:r="http://schemas.openxmlformats.org/officeDocument/2006/relationships" r:id="Rb8e5ccf52ad442f3"/>
  </p:notesMasterIdLst>
  <p:sldIdLst>
    <p:sldId xmlns:r="http://schemas.openxmlformats.org/officeDocument/2006/relationships" id="256" r:id="Ra26784be004e48e4"/>
    <p:sldId xmlns:r="http://schemas.openxmlformats.org/officeDocument/2006/relationships" id="257" r:id="Rb7133aa6debc4754"/>
    <p:sldId xmlns:r="http://schemas.openxmlformats.org/officeDocument/2006/relationships" id="258" r:id="R68481cc63e644b83"/>
    <p:sldId xmlns:r="http://schemas.openxmlformats.org/officeDocument/2006/relationships" id="259" r:id="R5ce607d6623641f2"/>
    <p:sldId xmlns:r="http://schemas.openxmlformats.org/officeDocument/2006/relationships" id="260" r:id="Rcbc91807f05d4848"/>
    <p:sldId xmlns:r="http://schemas.openxmlformats.org/officeDocument/2006/relationships" id="261" r:id="Rcaee506302414dd7"/>
    <p:sldId xmlns:r="http://schemas.openxmlformats.org/officeDocument/2006/relationships" id="262" r:id="R2f8c833397c8444e"/>
    <p:sldId xmlns:r="http://schemas.openxmlformats.org/officeDocument/2006/relationships" id="263" r:id="Re6bfbab865124ad4"/>
    <p:sldId xmlns:r="http://schemas.openxmlformats.org/officeDocument/2006/relationships" id="264" r:id="R2d5164ff80c4432f"/>
    <p:sldId xmlns:r="http://schemas.openxmlformats.org/officeDocument/2006/relationships" id="265" r:id="R03cf7faf4b234836"/>
    <p:sldId xmlns:r="http://schemas.openxmlformats.org/officeDocument/2006/relationships" id="266" r:id="R53ff91d8dc1543eb"/>
    <p:sldId xmlns:r="http://schemas.openxmlformats.org/officeDocument/2006/relationships" id="267" r:id="R4c3f7a792f4041be"/>
    <p:sldId xmlns:r="http://schemas.openxmlformats.org/officeDocument/2006/relationships" id="268" r:id="Rd5e0cb919f0b4e18"/>
    <p:sldId xmlns:r="http://schemas.openxmlformats.org/officeDocument/2006/relationships" id="269" r:id="R8864ae9e623e4140"/>
    <p:sldId xmlns:r="http://schemas.openxmlformats.org/officeDocument/2006/relationships" id="270" r:id="R418074b6a1ed4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fd24c76acf49a1" /><Relationship Type="http://schemas.openxmlformats.org/officeDocument/2006/relationships/slideMaster" Target="/ppt/slideMasters/slideMaster1.xml" Id="Rff6213db29d54582" /><Relationship Type="http://schemas.openxmlformats.org/officeDocument/2006/relationships/notesMaster" Target="/ppt/notesMasters/notesMaster1.xml" Id="Rb8e5ccf52ad442f3" /><Relationship Type="http://schemas.openxmlformats.org/officeDocument/2006/relationships/presProps" Target="/ppt/presProps.xml" Id="Rf79b17833fe14e25" /><Relationship Type="http://schemas.openxmlformats.org/officeDocument/2006/relationships/tableStyles" Target="/ppt/tableStyles.xml" Id="R2b816e42ce77487e" /><Relationship Type="http://schemas.openxmlformats.org/officeDocument/2006/relationships/slide" Target="/ppt/slides/slide1.xml" Id="Ra26784be004e48e4" /><Relationship Type="http://schemas.openxmlformats.org/officeDocument/2006/relationships/slide" Target="/ppt/slides/slide2.xml" Id="Rb7133aa6debc4754" /><Relationship Type="http://schemas.openxmlformats.org/officeDocument/2006/relationships/slide" Target="/ppt/slides/slide3.xml" Id="R68481cc63e644b83" /><Relationship Type="http://schemas.openxmlformats.org/officeDocument/2006/relationships/slide" Target="/ppt/slides/slide4.xml" Id="R5ce607d6623641f2" /><Relationship Type="http://schemas.openxmlformats.org/officeDocument/2006/relationships/slide" Target="/ppt/slides/slide5.xml" Id="Rcbc91807f05d4848" /><Relationship Type="http://schemas.openxmlformats.org/officeDocument/2006/relationships/slide" Target="/ppt/slides/slide6.xml" Id="Rcaee506302414dd7" /><Relationship Type="http://schemas.openxmlformats.org/officeDocument/2006/relationships/slide" Target="/ppt/slides/slide7.xml" Id="R2f8c833397c8444e" /><Relationship Type="http://schemas.openxmlformats.org/officeDocument/2006/relationships/slide" Target="/ppt/slides/slide8.xml" Id="Re6bfbab865124ad4" /><Relationship Type="http://schemas.openxmlformats.org/officeDocument/2006/relationships/slide" Target="/ppt/slides/slide9.xml" Id="R2d5164ff80c4432f" /><Relationship Type="http://schemas.openxmlformats.org/officeDocument/2006/relationships/slide" Target="/ppt/slides/slide10.xml" Id="R03cf7faf4b234836" /><Relationship Type="http://schemas.openxmlformats.org/officeDocument/2006/relationships/slide" Target="/ppt/slides/slide11.xml" Id="R53ff91d8dc1543eb" /><Relationship Type="http://schemas.openxmlformats.org/officeDocument/2006/relationships/slide" Target="/ppt/slides/slide12.xml" Id="R4c3f7a792f4041be" /><Relationship Type="http://schemas.openxmlformats.org/officeDocument/2006/relationships/slide" Target="/ppt/slides/slide13.xml" Id="Rd5e0cb919f0b4e18" /><Relationship Type="http://schemas.openxmlformats.org/officeDocument/2006/relationships/slide" Target="/ppt/slides/slide14.xml" Id="R8864ae9e623e4140" /><Relationship Type="http://schemas.openxmlformats.org/officeDocument/2006/relationships/slide" Target="/ppt/slides/slide15.xml" Id="R418074b6a1ed4d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9bef66c9ad4b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557f599aa84b1c" /><Relationship Type="http://schemas.openxmlformats.org/officeDocument/2006/relationships/notesMaster" Target="/ppt/notesMasters/notesMaster1.xml" Id="R45db6f2b941649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89efbf719c4c51" /><Relationship Type="http://schemas.openxmlformats.org/officeDocument/2006/relationships/notesMaster" Target="/ppt/notesMasters/notesMaster1.xml" Id="Rf7460e88957d4f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c12a128fa94bbd" /><Relationship Type="http://schemas.openxmlformats.org/officeDocument/2006/relationships/notesMaster" Target="/ppt/notesMasters/notesMaster1.xml" Id="R9eb985e3b4c848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43068197b34758" /><Relationship Type="http://schemas.openxmlformats.org/officeDocument/2006/relationships/notesMaster" Target="/ppt/notesMasters/notesMaster1.xml" Id="Rd7b1ebd7aa364e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98baa540604085" /><Relationship Type="http://schemas.openxmlformats.org/officeDocument/2006/relationships/notesMaster" Target="/ppt/notesMasters/notesMaster1.xml" Id="R88301a55764647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4aed8860c148be" /><Relationship Type="http://schemas.openxmlformats.org/officeDocument/2006/relationships/notesMaster" Target="/ppt/notesMasters/notesMaster1.xml" Id="R49395a84d65e4b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da0375c84d4eb3" /><Relationship Type="http://schemas.openxmlformats.org/officeDocument/2006/relationships/notesMaster" Target="/ppt/notesMasters/notesMaster1.xml" Id="Ra8c1cde6350541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d76f9afa2e44c8" /><Relationship Type="http://schemas.openxmlformats.org/officeDocument/2006/relationships/notesMaster" Target="/ppt/notesMasters/notesMaster1.xml" Id="Rcfdb7e817b1f4e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ec1541e9504ad8" /><Relationship Type="http://schemas.openxmlformats.org/officeDocument/2006/relationships/notesMaster" Target="/ppt/notesMasters/notesMaster1.xml" Id="Rdf4e45c1845d41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b464bb74d74ca7" /><Relationship Type="http://schemas.openxmlformats.org/officeDocument/2006/relationships/notesMaster" Target="/ppt/notesMasters/notesMaster1.xml" Id="R845116f9cd9e4f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c0ea6ae6e244dc" /><Relationship Type="http://schemas.openxmlformats.org/officeDocument/2006/relationships/notesMaster" Target="/ppt/notesMasters/notesMaster1.xml" Id="R1a4170ec67a847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41b2a3d94a4b12" /><Relationship Type="http://schemas.openxmlformats.org/officeDocument/2006/relationships/notesMaster" Target="/ppt/notesMasters/notesMaster1.xml" Id="R0767a9a1090842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25aba511bf406a" /><Relationship Type="http://schemas.openxmlformats.org/officeDocument/2006/relationships/notesMaster" Target="/ppt/notesMasters/notesMaster1.xml" Id="R47b94439ede943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ea6aa2af34b429c" /><Relationship Type="http://schemas.openxmlformats.org/officeDocument/2006/relationships/notesMaster" Target="/ppt/notesMasters/notesMaster1.xml" Id="R0aa8c94b619c43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1c4703ff384eae" /><Relationship Type="http://schemas.openxmlformats.org/officeDocument/2006/relationships/notesMaster" Target="/ppt/notesMasters/notesMaster1.xml" Id="R22171abf533b43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核心问题是：预测不准时，应该切换调度规则，还是修复输入的寿命估计？三部分分别建立问题、给出诊断证据、评估改进。这里保留研究过程与证据，听众不需要先掌握推导。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我们研究把虚拟机放到哪台物理服务器。原论文利用预计运行时间改善放置，我们重点研究预测不准时会发生什么。今天先讲直觉，再讲实验和改进。组员顺序为Zhang Qi、Zhang Saining、Zheng Yitao。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Original project presentation v3, slide 1</a:t>
            </a:r>
          </a:p>
          <a:p xmlns:a="http://schemas.openxmlformats.org/drawingml/2006/main">
            <a:r>
              <a:t>https://github.com/xxxmian/CE7490-P2_Revisiting_LAVA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两个维度：空间上同时满足CPU与内存，时间上要等最后一个VM退出才能清空整台主机。右图是容量示例，非生产测量。为什么不是看CPU空闲百分比？因为维护、承载大请求等目标需要整台主机可用；本实验只测空主机时间，未直接测电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先区分host和VM。CPU和内存必须同时满足，空闲资源还可能被切碎。图中CPU已用50%、内存已用100%是明确标注的容量示例，不是实验测量。CPU还有空位但内存已满，新VM仍放不进去。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 MLSys 2025, Section 2.3</a:t>
            </a:r>
          </a:p>
          <a:p xmlns:a="http://schemas.openxmlformats.org/drawingml/2006/main">
            <a:r>
              <a:t>Project report, Introduction and metric definition</a:t>
            </a:r>
          </a:p>
          <a:p xmlns:a="http://schemas.openxmlformats.org/drawingml/2006/main">
            <a:r>
              <a:t>Illustrative capacity data: CPU 50%, memory 100%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图中A有3个、B有1个、C有4个相同形状VM。加入新VM后，A的CPU刚好满，B仍留较多空间，C的CPU无法容纳。实际分数最小化CPU剩余平方与内存剩余平方之和；这里只用明确的资源条件说明规则。时间维度留给下一页。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Best-Fit只看CPU和内存是否放得下，并选剩余空间最紧的可行主机，不利用运行时间。这是基于项目VM资源形状(0.25 CPU,0.125 RAM)的定量示例。A原有3个同形状VM、B有1个、C有4个，CPU分别使用75%、25%、100%，内存都不是瓶颈。新VM在A后CPU刚好满；B虽然也能放，但剩余空间更多；C不能放。图不是实验trace。实际评分最小化CPU和内存剩余平方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configs/report_scale.json: VM shapes</a:t>
            </a:r>
          </a:p>
          <a:p xmlns:a="http://schemas.openxmlformats.org/drawingml/2006/main">
            <a:r>
              <a:t>lava_reproduction/lava/simulator.py: Best-Fit scoring</a:t>
            </a:r>
          </a:p>
          <a:p xmlns:a="http://schemas.openxmlformats.org/drawingml/2006/main">
            <a:r>
              <a:t>Illustrative capacity data derived from identical VM shapes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明确条件下的定量例子，而不是完整LAVA伪代码。混放两台都会被长VM拖住；按离开时间配对，短VM主机1小时后清空。真实LAVA还会把更短VM填进较长生命周期主机，并根据open/recycling状态、剩余cohort和重预测选择放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同一批VM采用不同排法，可能较早空出整台机器。这里4个VM同时到达、资源形状均为0.5 CPU和0.25 RAM，因此每台主机最多2个。混放时两台各有1个短VM和1个长VM，会都忙到10小时；按离开时间分配后，短VM所在主机在1小时清空，另一台忙到10小时。图只比较1小时这个时点：混放时没有空主机，按离开时间放置时有1台空主机。它是明确条件下的定量示例，不是说LAVA只把同寿命VM放在一起。LAVA实际还把更短VM填入较长主机，并使用主机状态和重新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Ling et al., LAVA, MLSys 2025, Sections 4.2-4.3</a:t>
            </a:r>
          </a:p>
          <a:p xmlns:a="http://schemas.openxmlformats.org/drawingml/2006/main">
            <a:r>
              <a:t>configs/report_scale.json: shape (0.5,0.25)</a:t>
            </a:r>
          </a:p>
          <a:p xmlns:a="http://schemas.openxmlformats.org/drawingml/2006/main">
            <a:r>
              <a:t>Illustrative simultaneous-arrival workload: durations 1,1,10,10 hours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1小时预测、100小时实际只是解释机制的例子。不能据此说LAVA完全不会修正，原论文已包含自适应；我们实际问这种自适应在不同预测质量下能保护多少。下一部分用相同输入的配对实验回答。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第一部分：问题与直觉。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预测只有1小时，但实际运行100小时的VM会拖住主机。其他VM已经退出也没用，只剩它就足以阻止主机清空。LAVA会对误预测做自适应处理，但预测质量仍决定能得到多少收益。图中1和100小时只是机制示例。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 MLSys 2025, adaptation to mispredictions</a:t>
            </a:r>
          </a:p>
          <a:p xmlns:a="http://schemas.openxmlformats.org/drawingml/2006/main">
            <a:r>
              <a:t>Illustrative example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发展只用0–19种子，主测试1000–1099不参与选择。所谓相同预测，是相同原始带噪观测；融合后的输出当然可以不同。工作负载与profile参数是合成假设。主要指标包含长排空尾段，不能外推为生产节能率。本地带时间记录的注册不是第三方存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随机种子生成一个工作场景。所有算法面对相同请求和相同带噪预测，再按种子成对比较。这里用180台主机、每条2500个VM；主测试有100个全新种子1000–1099。主指标为空主机数量随时间的占比，包含最后一次到达之后的排空尾段。约20%的稳态负载和长尾段使绝对结果不能解释为生产节能率。原代码和真实trace均未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configs/report_scale.json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results/improvement/test/manifest.json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uracy是进入近准确噪声分量的概率，不是短长分类正确率。正确桶log10误差σ=.001，错误桶σ=3，预测在336小时截尾。图显示平均差值，右侧补充两个端点的区间。75%后的正区间是此合成工作负载上的结果，不是通用门槛。Oracle是全信息参照，不是所有变体的理论上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只使用100个全新测试场景，不混初始20个种子。accuracy是接近真实值的噪声分量所占比例，不是短长分类正确率，也不是每个预测都偏差某个百分比。25%下LAVA相对Best-Fit显著为负；100%明显为正。图显示均值。对应95%成对区间：25%: -0.18734072732881402 [-0.24007250848442785, -0.13460894617320018]; 50%: -0.02495588121948927 [-0.07725643485268986, 0.02734467241371132]; 75%: 0.2181133508529291 [0.16190859537697583, 0.27431810632888237]; 85%: 0.309254969992174 [0.24978838323698505, 0.36872155674736296]; 100%: 0.5070590768200469 [0.4446893922272242, 0.5694287614128697]。pp是空主机时间占比的百分点差，不是相对速度提升。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results/improvement/test/summary.json: policy=lava, baseline=best_fit, metric=empty_pct</a:t>
            </a:r>
          </a:p>
          <a:p xmlns:a="http://schemas.openxmlformats.org/drawingml/2006/main">
            <a:r>
              <a:t>Controlled-noise protocol: LAVA Appendix G.1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CA是confidence-aware。概率超过阈值则走LAVA，否则Best-Fit。Host-CA仅在无同模式主机与空主机可放时跨池回退，实验中未发生。这里要区分概率事件正确与下游决策有价值，两者不是同一个问题。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表示confidence-aware。这里的confidence是预计剩余寿命所在类别的概率，不等于该VM的实际误差。阈值固定0.3。VM方式为每次到达选LAVA或Best-Fit，但共享主机；Host方式保持主机模式直到清空，只有没有任何同模式主机或空主机可放置才跨模式。图省略容量回退细节，实验中回退为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lava/model.py: confidence calculation</a:t>
            </a:r>
          </a:p>
          <a:p xmlns:a="http://schemas.openxmlformats.org/drawingml/2006/main">
            <a:r>
              <a:t>lava/simulator.py: vm_ca and host_ca</a:t>
            </a:r>
          </a:p>
          <a:p xmlns:a="http://schemas.openxmlformats.org/drawingml/2006/main">
            <a:r>
              <a:t>Project report, confidence-aware routing mechanism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三行分别来自默认profile预测与受控噪声，不要混成同一设置。Host-CA新种子相对Best-Fit为−.090[−.147,−.034]pp。隔离把跨模式计数降为0且没有capacity fallback，说明机制按设计运作；门控没有收益并非因为隔离没实现。仅改成最可能类别也未在开发种子上胜过LAVA。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第二部分：我们怎样实验，结果是什么。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三点来自不同条件，不能混成一个实验。默认profile预测器：Interactive VM有88%概率在1小时内结束，但门控置信度只有0.092；Service却是0.364。受控噪声：99.96%–100%的请求通过0.3阈值，因此基本等于LAVA。隔离主机还损失装箱自由度；到达期少约0.99pp空主机，尾段仅补回约72%。默认预测器的Host-CA对Best-Fit为-0.0901124159590242 [-0.14667169983639552, -0.03355313208165287] pp，n=100。跨模式放置归零表明隔离机制按设计生效，但不代表整体收益改善。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results/improvement/test/summary.json: synthetic host_ca vs best_fit</a:t>
            </a:r>
          </a:p>
          <a:p xmlns:a="http://schemas.openxmlformats.org/drawingml/2006/main">
            <a:r>
              <a:t>results/improvement/gate_by_bucket.json</a:t>
            </a:r>
          </a:p>
          <a:p xmlns:a="http://schemas.openxmlformats.org/drawingml/2006/main">
            <a:r>
              <a:t>Project report: three diagnostic mechanisms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融合不是简单取平均或把所有预测缩短。它用profile分布和已知噪声模型，给每个可能总寿命按观测似然加权；再据uptime条件化。上面两个数字由原build_report.predict_pair直接计算。先验是生成分布，属于重要强假设，后面做误设敏感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300小时对通常很短的interactive VM很可疑，所以结合群体规律后回到1.52小时。这个例子用25%准确率和原项目相同噪声模型计算，原始预测器直接使用300小时，profile先验均值1.07小时。融合不是把所有预测截短：service VM的2小时观测也会被拉到约27小时。Bayes是把先验常识与当前证据结合。先验来自合成生成分布，这会成为结论限制。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lava/model.py: BayesPredictor</a:t>
            </a:r>
          </a:p>
          <a:p xmlns:a="http://schemas.openxmlformats.org/drawingml/2006/main">
            <a:r>
              <a:t>build_report.py: predict_pair("interactive","0.25",300.)</a:t>
            </a:r>
          </a:p>
          <a:p xmlns:a="http://schemas.openxmlformats.org/drawingml/2006/main">
            <a:r>
              <a:t>Figure example computed by original builder; rounded to 1.52 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336小时只表示未截断带噪观测至少达到上限，不是确定真实寿命至少336小时，更不是必然在336小时结束。此例在100%近准确噪声设置下输出模型估计151h，不是真实剩余时间。实现使用425个log-grid atoms加窄分量9个atoms，按uptime丢弃已不可能寿命并用suffix sums加速。绝不读取隐藏bucket或true lifetime。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讲运行中持续更新预测：原先估计过短，VM仍在运行时就要利用新证据重估。以下保留实现细节，汇报可不展开。运行到现在还没结束，本身就是新证据。336小时是预测上限。严格说，落到这个上限代表未截断的带噪观测至少336小时，并非确定真实寿命至少336小时，更不代表恰好336小时结束。这叫删失censoring：知道观测下界，不知道精确值。示例使用100%近准确噪声设置，原预测器在uptime300小时给36小时剩余，而融合预测给约151小时。151是模型估计，不是真实剩余时间，也不是所有VM的固定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build_report.py: predict_pair("service","1.0",336.,300.)</a:t>
            </a:r>
          </a:p>
          <a:p xmlns:a="http://schemas.openxmlformats.org/drawingml/2006/main">
            <a:r>
              <a:t>lava/model.py: BayesPredictor censoring and uptime conditioning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四个预注册准确率对LAVA为3/4，对Best-Fit也为3/4，共6/8。75%对LAVA+.054[−.001,+.109]、Holm p≈.11；25%对BF+.037[−.012,+.086]、Holm p≈.14。75%和85%的原LAVA已优于BF，因此融合特有证据须看对LAVA比较和50%对BF。不要把正均值都说成显著改善。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先在0–19种子开发，测试前将方法、阈值0.3、判定规则和代码哈希写入本地带时间记录的文件，再运行100个新场景。八个计划检验用Holm校正，不能只凭均值大于0宣布成功。对LAVA四个检验为0.25: 0.22432881678660663 [0.17352732682162114, 0.2751303067515921], Holm p=3.2716067461443057e-13; 0.5: 0.14667114680402804 [0.08814061313268129, 0.2052016804753748], Holm p=0.000013915499195045679; 0.75: 0.05363307829278227 [-0.0013488952051875641, 0.1086150517907521], Holm p=0.11155467465028561; 0.85: 0.08824763466648193 [0.03704201041567266, 0.1394532589172912], Holm p=0.0027365579646860525。对Best-Fit四个为0.25: 0.036988089457792625 [-0.011807740559829763, 0.08578391947541501], Holm p=0.13574668244188715; 0.5: 0.12171526558453877 [0.06378672190193595, 0.17964380926714157], Holm p=0.00026237318774533994; 0.75: 0.2717464291457114 [0.2169308044022407, 0.3265620538891821], Holm p=1.7394575879646581e-15; 0.85: 0.39750260465865594 [0.33793067363165935, 0.45707453568565254], Holm p=9.83850424092432e-23。相对两个基线各3/4，共6/8。75%对LAVA区间[-0.001,+0.109]跨0，Holm p约0.11，未证实；25%对Best-Fit+0.037也未证实。页面用四行概览相对LAVA的判定：25%、50%、85%为Better；75%为Not confirmed。3/4只针对相对LAVA这四个计划检验。相对Best-Fit在25%仍未证实。上述区间为未校正95%区间，判定使用Holm校正。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results/improvement/test/summary.json: primary=true</a:t>
            </a:r>
          </a:p>
          <a:p xmlns:a="http://schemas.openxmlformats.org/drawingml/2006/main">
            <a:r>
              <a:t>Holm (1979), multiple-test correction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全部是事后分解。fused−noisy是LAVA-Bayes−LAVA，fused−prior是控制噪声下LAVA-Bayes与同seed默认预测器LAVA之差，gate是VM-CA-Bayes−LAVA-Bayes。只显示25与85两个代表设置；完整25/50/75/85在报告表9.5。75%对noisy的区间含0，不能概括为融合在每个准确率都优于两个成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测试后的事后分解，不是预注册主结论。在使用融合估计之后，再加门控的变化约-0.018到+0.011pp，每个95%区间都跨0，半宽约0.05pp。因此证据更支持估计在起作用，但不能证明门控永远无效，也不能排除约0.05pp的影响。不要把没有显著差异说成完全等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results/improvement/test/raw.csv</a:t>
            </a:r>
          </a:p>
          <a:p xmlns:a="http://schemas.openxmlformats.org/drawingml/2006/main">
            <a:r>
              <a:t>build_report.py: posthoc("vm_ca_bayes","lava_bayes", setting)</a:t>
            </a:r>
          </a:p>
          <a:p xmlns:a="http://schemas.openxmlformats.org/drawingml/2006/main">
            <a:r>
              <a:t>Project report: post hoc decomposition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σ从3减到1或.5时，收益变小，不能说无论噪声如何都有效。先验均值×.5、85%时是32个vs-LAVA单元格中唯一完全负的区间，未校正p=.006；同格对BF仍+.191[+.111,+.272]。负载增加是16VM/h和5000VM、主机数仍180。不能把90主机纯分母缩放当负载测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当先验把长寿命系统性低估时，本来正确的长寿命观测可能被当成异常。先验均值乘0.5、85%准确率时，VM-CA-Bayes相对LAVA为-0.11580359171328183 [-0.19719956355554985, -0.0344076198710138]pp；相对Best-Fit仍为约+0.191pp。它是32个探索性稳健性单元格中唯一显著负值，没有多重校正，不能推广成所有低估都会失败。较轻的错误会缩小收益，更高到达负载可放大收益。现实需要从历史学习先验并检测漂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results/improvement/robust/summary.json: prior_means_x0.5, accuracy=0.85</a:t>
            </a:r>
          </a:p>
          <a:p xmlns:a="http://schemas.openxmlformats.org/drawingml/2006/main">
            <a:r>
              <a:t>Project report: threats to validity and robustness</a:t>
            </a:r>
          </a:p>
          <a:p xmlns:a="http://schemas.openxmlformats.org/drawingml/2006/main">
            <a:r>
              <a:t>All numerical comparisons are paired within the same random seed. Unit: percentage points of time-weighted empty-host share. Synthetic reconstruction; not production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贡献不是宣称生产节能：我们提供可审计重建、诊断置信度路由负结果，并在同一调度规则上验证预测级改进。完整21项学术文献和局限见报告v8。下一步是从历史估计先验、测试漂移、生产trace与更高负载。75%对LAVA仍未证实。代码、数据、冻结协议都在仓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第三部分：改进方法、结果与限制。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得到的是可复现的合成环境证据，不是生产集群提升比例。三点记忆：预测差会害LAVA；用置信度切换策略没有在这里解决问题；把常识放进预测本身，在四个计划对LAVA的检验中有三个成立。75%相对LAVA仍未证实，25%相对Best-Fit也未证实。后续需要用学习得到的先验和真实trace验证。全部代码、原始结果和报告在仓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https://github.com/xxxmian/CE7490-P2_Revisiting_LAVA</a:t>
            </a:r>
          </a:p>
          <a:p xmlns:a="http://schemas.openxmlformats.org/drawingml/2006/main">
            <a:r>
              <a:t>configs/improvement_protocol.json</a:t>
            </a:r>
          </a:p>
          <a:p xmlns:a="http://schemas.openxmlformats.org/drawingml/2006/main">
            <a:r>
              <a:t>results/improvement/test/summary.json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Current report v8 and frozen results in lava_reproduction/results/.</a:t>
            </a:r>
          </a:p>
          <a:p xmlns:a="http://schemas.openxmlformats.org/drawingml/2006/main">
            <a:r>
              <a:t>https://github.com/xxxmian/CE7490-P2_Revisiting_LAVA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81b12d65d44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84d052f73c45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592da97e24c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c8fc4a4c814f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61e87ba56245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608bee6e746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601F3E-A1A0-497F-BB6D-B432CD2FB4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226250D-2C65-479B-954F-A5CD5B9B18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D3FA1FA-0865-48B4-B7E5-EC11514231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A24C6D-A775-43C5-AD7D-326F157BBD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6CFFCD8-5B79-4846-8A8F-CCA9D0558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9D2E4C8-08E0-48A9-B185-C5104050A6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40466C-0013-47D8-AF6E-E44397F691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357022A-A1E7-4EA1-9A3A-EA43811CD41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142610-3817-4704-BC4F-0C168439FA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23963B-FBE5-45F9-9360-906E21BB8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c3ed881de9462f" /><Relationship Type="http://schemas.openxmlformats.org/officeDocument/2006/relationships/slideLayout" Target="/ppt/slideLayouts/slideLayout1.xml" Id="R8884004a513647e6" /><Relationship Type="http://schemas.openxmlformats.org/officeDocument/2006/relationships/slideLayout" Target="/ppt/slideLayouts/slideLayout2.xml" Id="R3c31b009e9924dea" /><Relationship Type="http://schemas.openxmlformats.org/officeDocument/2006/relationships/slideLayout" Target="/ppt/slideLayouts/slideLayout3.xml" Id="R7261551b32d046d4" /><Relationship Type="http://schemas.openxmlformats.org/officeDocument/2006/relationships/slideLayout" Target="/ppt/slideLayouts/slideLayout4.xml" Id="Re0166977d1f54f8d" /><Relationship Type="http://schemas.openxmlformats.org/officeDocument/2006/relationships/slideLayout" Target="/ppt/slideLayouts/slideLayout5.xml" Id="R323da2d1c75c4664" /><Relationship Type="http://schemas.openxmlformats.org/officeDocument/2006/relationships/slideLayout" Target="/ppt/slideLayouts/slideLayout6.xml" Id="R96a77db9364642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84004a513647e6"/>
    <p:sldLayoutId xmlns:r="http://schemas.openxmlformats.org/officeDocument/2006/relationships" id="2147483650" r:id="R3c31b009e9924dea"/>
    <p:sldLayoutId xmlns:r="http://schemas.openxmlformats.org/officeDocument/2006/relationships" id="2147483651" r:id="R7261551b32d046d4"/>
    <p:sldLayoutId xmlns:r="http://schemas.openxmlformats.org/officeDocument/2006/relationships" id="2147483652" r:id="Re0166977d1f54f8d"/>
    <p:sldLayoutId xmlns:r="http://schemas.openxmlformats.org/officeDocument/2006/relationships" id="2147483653" r:id="R323da2d1c75c4664"/>
    <p:sldLayoutId xmlns:r="http://schemas.openxmlformats.org/officeDocument/2006/relationships" id="2147483654" r:id="R96a77db9364642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973c56b374d6f" /><Relationship Type="http://schemas.openxmlformats.org/officeDocument/2006/relationships/image" Target="/ppt/media/image.png" Id="R2f6513b877eb401a" /><Relationship Type="http://schemas.openxmlformats.org/officeDocument/2006/relationships/notesSlide" Target="/ppt/notesSlides/notesSlide1.xml" Id="R878b9519c1c34e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81925aef684672" /><Relationship Type="http://schemas.openxmlformats.org/officeDocument/2006/relationships/chart" Target="/ppt/slides/charts/chart1.xml" Id="R4075569aae254fbd" /><Relationship Type="http://schemas.openxmlformats.org/officeDocument/2006/relationships/notesSlide" Target="/ppt/notesSlides/notesSlide2.xml" Id="Ree865cb6848c4a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2d40d97c5f4dcb" /><Relationship Type="http://schemas.openxmlformats.org/officeDocument/2006/relationships/chart" Target="/ppt/slides/charts/chart2.xml" Id="R91668b9cd8a44b87" /><Relationship Type="http://schemas.openxmlformats.org/officeDocument/2006/relationships/notesSlide" Target="/ppt/notesSlides/notesSlide3.xml" Id="R15134c2652c547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617b3379d4d9d" /><Relationship Type="http://schemas.openxmlformats.org/officeDocument/2006/relationships/chart" Target="/ppt/slides/charts/chart3.xml" Id="Rb38422cb51404601" /><Relationship Type="http://schemas.openxmlformats.org/officeDocument/2006/relationships/notesSlide" Target="/ppt/notesSlides/notesSlide4.xml" Id="R638fd0c6b71545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e727cce19d460e" /><Relationship Type="http://schemas.openxmlformats.org/officeDocument/2006/relationships/chart" Target="/ppt/slides/charts/chart4.xml" Id="Re7b0ca78ac4542e2" /><Relationship Type="http://schemas.openxmlformats.org/officeDocument/2006/relationships/notesSlide" Target="/ppt/notesSlides/notesSlide5.xml" Id="R6192ba28269e48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467800a4ae4bb2" /><Relationship Type="http://schemas.openxmlformats.org/officeDocument/2006/relationships/notesSlide" Target="/ppt/notesSlides/notesSlide6.xml" Id="R525396a7615e42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5effa57e8f4246" /><Relationship Type="http://schemas.openxmlformats.org/officeDocument/2006/relationships/chart" Target="/ppt/slides/charts/chart5.xml" Id="Rbb43b0b786134b1a" /><Relationship Type="http://schemas.openxmlformats.org/officeDocument/2006/relationships/notesSlide" Target="/ppt/notesSlides/notesSlide7.xml" Id="R44c55936920c48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d72c0c81094fd5" /><Relationship Type="http://schemas.openxmlformats.org/officeDocument/2006/relationships/notesSlide" Target="/ppt/notesSlides/notesSlide8.xml" Id="Rf00fac5736a642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47a240c7684ae6" /><Relationship Type="http://schemas.openxmlformats.org/officeDocument/2006/relationships/notesSlide" Target="/ppt/notesSlides/notesSlide9.xml" Id="R5efd522dbd2a47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d2625baa1f483b" /><Relationship Type="http://schemas.openxmlformats.org/officeDocument/2006/relationships/notesSlide" Target="/ppt/notesSlides/notesSlide10.xml" Id="R10b31018605a47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9d70e1099f4a9d" /><Relationship Type="http://schemas.openxmlformats.org/officeDocument/2006/relationships/chart" Target="/ppt/slides/charts/chart6.xml" Id="R0fb1318baa784410" /><Relationship Type="http://schemas.openxmlformats.org/officeDocument/2006/relationships/notesSlide" Target="/ppt/notesSlides/notesSlide11.xml" Id="Rd7105e970a1845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83ff578ddc4ce6" /><Relationship Type="http://schemas.openxmlformats.org/officeDocument/2006/relationships/notesSlide" Target="/ppt/notesSlides/notesSlide12.xml" Id="R941bf4abc38a41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d415f6c5e4203" /><Relationship Type="http://schemas.openxmlformats.org/officeDocument/2006/relationships/notesSlide" Target="/ppt/notesSlides/notesSlide13.xml" Id="Rffd02044656c4e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8e2e723a8d4bb8" /><Relationship Type="http://schemas.openxmlformats.org/officeDocument/2006/relationships/notesSlide" Target="/ppt/notesSlides/notesSlide14.xml" Id="R7619f631b6cc43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90054392be4d80" /><Relationship Type="http://schemas.openxmlformats.org/officeDocument/2006/relationships/notesSlide" Target="/ppt/notesSlides/notesSlide15.xml" Id="Rdc6dd819445c488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Used capacity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CPU used</c:v>
                </c:pt>
                <c:pt idx="1">
                  <c:v>Memory used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Existing VMs</c:v>
          </c:tx>
          <c:spPr>
            <a:solidFill xmlns:a="http://schemas.openxmlformats.org/drawingml/2006/main">
              <a:srgbClr val="2F5D8A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Data'!$B$2:$B$4</c:f>
              <c:numCache>
                <c:formatCode>0"%"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v>New VM</c:v>
          </c:tx>
          <c:spPr>
            <a:solidFill xmlns:a="http://schemas.openxmlformats.org/drawingml/2006/main">
              <a:srgbClr val="C46A1D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Data'!$D$2:$D$4</c:f>
              <c:numCache>
                <c:formatCode>0"%"</c:formatCode>
                <c:ptCount val="3"/>
                <c:pt idx="0">
                  <c:v>25</c:v>
                </c:pt>
                <c:pt idx="1">
                  <c:v>25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v>CPU left</c:v>
          </c:tx>
          <c:spPr>
            <a:solidFill xmlns:a="http://schemas.openxmlformats.org/drawingml/2006/main">
              <a:srgbClr val="DCE8F2"/>
            </a:solidFill>
          </c:spPr>
          <c:invertIfNegative val="0"/>
          <c:cat>
            <c:strRef>
              <c:f>'Chart Data'!$E$2:$E$4</c:f>
              <c:strCache>
                <c:ptCount val="3"/>
                <c:pt idx="0">
                  <c:v>Host A: chosen</c:v>
                </c:pt>
                <c:pt idx="1">
                  <c:v>Host B: more room</c:v>
                </c:pt>
                <c:pt idx="2">
                  <c:v>Host C: full</c:v>
                </c:pt>
              </c:strCache>
            </c:strRef>
          </c:cat>
          <c:val>
            <c:numRef>
              <c:f>'Chart Data'!$F$2:$F$4</c:f>
              <c:numCache>
                <c:formatCode>0"%"</c:formatCode>
                <c:ptCount val="3"/>
                <c:pt idx="0">
                  <c:v>0</c:v>
                </c:pt>
                <c:pt idx="1">
                  <c:v>50</c:v>
                </c:pt>
                <c:pt idx="2">
                  <c:v>0</c:v>
                </c:pt>
              </c:numCache>
            </c:numRef>
          </c:val>
        </c:ser>
        <c:dLbls>
          <c:numFmt formatCode="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233142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Empty hosts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Mix short/long VMs</c:v>
                </c:pt>
                <c:pt idx="1">
                  <c:v>Use departure times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Empty hosts after 1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Hours</c:v>
          </c:tx>
          <c:spPr>
            <a:solidFill xmlns:a="http://schemas.openxmlformats.org/drawingml/2006/main">
              <a:srgbClr val="2F5D8A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C46A1D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Expected lifetime</c:v>
                </c:pt>
                <c:pt idx="1">
                  <c:v>Observed lifetime</c:v>
                </c:pt>
              </c:strCache>
            </c:strRef>
          </c:cat>
          <c:val>
            <c:numRef>
              <c:f>'Chart Data'!$B$2:$B$3</c:f>
              <c:numCache>
                <c:formatCode>0" h"</c:formatCode>
                <c:ptCount val="2"/>
                <c:pt idx="0">
                  <c:v>1</c:v>
                </c:pt>
                <c:pt idx="1">
                  <c:v>100</c:v>
                </c:pt>
              </c:numCache>
            </c:numRef>
          </c:val>
        </c:ser>
        <c:dLbls>
          <c:numFmt formatCode="0&quot; h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05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 h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LAVA</c:v>
          </c:tx>
          <c:spPr>
            <a:ln xmlns:a="http://schemas.openxmlformats.org/drawingml/2006/main" w="28575">
              <a:solidFill>
                <a:srgbClr val="173F70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173F70"/>
              </a:solidFill>
            </c:spPr>
          </c:marker>
          <c:xVal>
            <c:numRef>
              <c:f>'Chart Data'!$A$2:$A$6</c:f>
              <c:numCache>
                <c:formatCode>General</c:formatCode>
                <c:ptCount val="5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85</c:v>
                </c:pt>
                <c:pt idx="4">
                  <c:v>100</c:v>
                </c:pt>
              </c:numCache>
            </c:numRef>
          </c:xVal>
          <c:yVal>
            <c:numRef>
              <c:f>'Chart Data'!$B$2:$B$6</c:f>
              <c:numCache>
                <c:formatCode>+0.0;-0.0;0.0</c:formatCode>
                <c:ptCount val="5"/>
                <c:pt idx="0">
                  <c:v>-0.187341</c:v>
                </c:pt>
                <c:pt idx="1">
                  <c:v>-0.024956</c:v>
                </c:pt>
                <c:pt idx="2">
                  <c:v>0.218113</c:v>
                </c:pt>
                <c:pt idx="3">
                  <c:v>0.309255</c:v>
                </c:pt>
                <c:pt idx="4">
                  <c:v>0.507059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6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Gain in empty-host time (pp)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+0.0;-0.0;0.0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00"/>
          <c:min val="25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A6573"/>
                    </a:solidFill>
                    <a:latin typeface="Aptos"/>
                    <a:ea typeface="Aptos"/>
                    <a:cs typeface="Aptos"/>
                  </a:rPr>
                  <a:t>Prediction accuracy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A6573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majorUnit val="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Predicted hours remaining</c:v>
          </c:tx>
          <c:spPr>
            <a:solidFill xmlns:a="http://schemas.openxmlformats.org/drawingml/2006/main">
              <a:srgbClr val="7B8591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2F5D8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Treat cap as exact</c:v>
                </c:pt>
                <c:pt idx="1">
                  <c:v>Use cap information</c:v>
                </c:pt>
              </c:strCache>
            </c:strRef>
          </c:cat>
          <c:val>
            <c:numRef>
              <c:f>'Chart Data'!$B$2:$B$3</c:f>
              <c:numCache>
                <c:formatCode>0" h"</c:formatCode>
                <c:ptCount val="2"/>
                <c:pt idx="0">
                  <c:v>36</c:v>
                </c:pt>
                <c:pt idx="1">
                  <c:v>151</c:v>
                </c:pt>
              </c:numCache>
            </c:numRef>
          </c:val>
        </c:ser>
        <c:dLbls>
          <c:numFmt formatCode="0&quot; h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233142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DE3"/>
              </a:solidFill>
              <a:prstDash val="solid"/>
            </a:ln>
          </c:spPr>
        </c:majorGridlines>
        <c:numFmt formatCode="0&quot; h&quot;"/>
        <c:majorTickMark val="none"/>
        <c:minorTickMark val="none"/>
        <c:spPr>
          <a:ln xmlns:a="http://schemas.openxmlformats.org/drawingml/2006/main" w="9525">
            <a:solidFill>
              <a:srgbClr val="5A657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6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5B29A1-5944-47C4-B334-66CE8BB0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8B486-C203-48FC-AC56-AB18F055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5953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Revisiting Lifetime-Aware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 Allocation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9562F-8A3E-42C8-A019-53BDE992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953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Does better prediction make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better VM placement?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5A39F3-7B1A-4049-B970-BD0D401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595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9D436-E856-498D-981E-5DCD3D6F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595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Course Project · 26S1 Group 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32BE5-D9B2-4A1D-A9D6-2D32A7EC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Zhang Qi (G2510784F)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C5DF2-187A-44A2-BCE8-4AC1BCB4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qi015@e.ntu.edu.sg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873DE-AF32-4EBA-A6EF-93C43A2F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Zhang Saining (G2511061H)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DA403-AFD1-473B-9067-99BA8699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saining002@e.ntu.edu.sg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4456A9-D47C-427C-BE18-2A29C4D3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95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Zheng Yitao (G2608664B)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7995A-BEDB-4AB3-894A-73B90A2B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5953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A6573"/>
                </a:solidFill>
                <a:latin typeface="Aptos"/>
                <a:ea typeface="Aptos"/>
                <a:cs typeface="Aptos"/>
              </a:rPr>
              <a:t>YZHENG056@e.ntu.edu.sg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35B5A-733B-48FA-9F07-62C1FEADA7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513b877eb401a"/>
          <a:stretch xmlns:a="http://schemas.openxmlformats.org/drawingml/2006/main"/>
        </p:blipFill>
        <p:spPr>
          <a:xfrm xmlns:a="http://schemas.openxmlformats.org/drawingml/2006/main">
            <a:off x="7164731" y="1647825"/>
            <a:ext cx="4682437" cy="34099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352E16-7937-46A9-8B55-1C595D87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4292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Based on LAVA (MLSys 2025)</a:t>
            </a:r>
          </a:p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Synthetic reconstruction with paired tests</a:t>
            </a:r>
          </a:p>
        </p:txBody>
      </p:sp>
    </p:spTree>
    <p:extLst>
      <p:ext uri="{BB962C8B-B14F-4D97-AF65-F5344CB8AC3E}">
        <p14:creationId xmlns:p14="http://schemas.microsoft.com/office/powerpoint/2010/main" val="6421572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717277AE-6D81-406A-8FA5-EEAD01FC8AD1}"/>
              </a:ext>
            </a:extLst>
          </p:cNvPr>
          <p:cNvGraphicFramePr/>
          <p:nvPr/>
        </p:nvGraphicFramePr>
        <p:xfrm>
          <a:off xmlns:a="http://schemas.openxmlformats.org/drawingml/2006/main" x="6953250" y="2286000"/>
          <a:ext xmlns:a="http://schemas.openxmlformats.org/drawingml/2006/main" cx="4572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75569aae254fb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67CD8-7A2C-47EB-9E83-ADB1C828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D61CA-4257-4B75-BE5D-2B8F4230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 placement uses both capacity and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BFBB6-B919-44F4-A43F-D79DA113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 placement must fit CPU and memory. Departures determine when a whole host becomes empty.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86F25-7FD9-43A0-9B4C-0D4860FB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4A941-3A78-4EEB-AA21-F3CCCF16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2 / 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07D32E-58C1-41F8-826E-2CB55B2E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VM: a virtual computer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93E927-AEED-44FD-9773-EFF25EE9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90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Host: a physical server running several VMs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CE8A8-8178-42DF-9DD5-8B50D62E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5619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 request fits only when BOTH resources are available.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9FC42E-F7CF-4EFF-BB6A-D2F8C2A8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571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Even one remaining VM prevents the host from becoming completely empty.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6078D8-BFB0-423B-9000-B035E473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1495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Capacity example: CPU has room, memory is full.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04F7F6-1356-46D2-9024-2FEC708D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Our metric measures time with empty hosts. It does not directly measure electricity savings.</a:t>
            </a:r>
          </a:p>
        </p:txBody>
      </p:sp>
    </p:spTree>
    <p:extLst>
      <p:ext uri="{BB962C8B-B14F-4D97-AF65-F5344CB8AC3E}">
        <p14:creationId xmlns:p14="http://schemas.microsoft.com/office/powerpoint/2010/main" val="20562382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735184E-0FE3-4BF9-96CB-B97667D18777}"/>
              </a:ext>
            </a:extLst>
          </p:cNvPr>
          <p:cNvGraphicFramePr/>
          <p:nvPr/>
        </p:nvGraphicFramePr>
        <p:xfrm>
          <a:off xmlns:a="http://schemas.openxmlformats.org/drawingml/2006/main" x="685800" y="2762250"/>
          <a:ext xmlns:a="http://schemas.openxmlformats.org/drawingml/2006/main" cx="10820400" cy="2476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668b9cd8a44b8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8E2CE-014A-494E-B586-BF8C5D54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31282-F508-4B97-B5AC-7EEC0C30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Best-Fit chooses the tightest feasible host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056BE-FCF7-4569-8FD7-6C6AF840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Best-Fit is the baseline: use the current resource space to select a feasible placement.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B2BB9-2E4F-46EA-853C-712FDECF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B0B01E-C662-4308-AAF9-5B29C85D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3 / 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4498B-0B63-4DFF-9DED-075845C5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1  Check CPU and memory limits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923E37-E0E2-4B51-AC92-06E1D13F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62150"/>
            <a:ext cx="5219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2  Prefer less unused space after placement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5FB19-9C86-4D4B-8A55-0B8C04BB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Example VM: 25% CPU and 12.5% memory. All feasible candidates have enough memory.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951F28-3230-4B43-84D4-36F0FD00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Best-Fit uses current space. LAVA additionally uses expected departure times.</a:t>
            </a:r>
          </a:p>
        </p:txBody>
      </p:sp>
    </p:spTree>
    <p:extLst>
      <p:ext uri="{BB962C8B-B14F-4D97-AF65-F5344CB8AC3E}">
        <p14:creationId xmlns:p14="http://schemas.microsoft.com/office/powerpoint/2010/main" val="823729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DBEE076-16A4-438A-928E-19392A48F898}"/>
              </a:ext>
            </a:extLst>
          </p:cNvPr>
          <p:cNvGraphicFramePr/>
          <p:nvPr/>
        </p:nvGraphicFramePr>
        <p:xfrm>
          <a:off xmlns:a="http://schemas.openxmlformats.org/drawingml/2006/main" x="6953250" y="2857500"/>
          <a:ext xmlns:a="http://schemas.openxmlformats.org/drawingml/2006/main" cx="45529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8422cb5140460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28DE4-907F-4CB7-94CC-B45FF530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EA197-A64F-49D8-BE8C-B33491EA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LAVA adds expected departure times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50ACEB-2D37-43C1-A1D3-E575CBD5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The same VMs can occupy hosts for different lengths of time, depending on how they are grouped.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4DA2BC-8AFF-4818-88EF-9954AD48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501E06-CD5E-4991-A8F8-7DE8F5E7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4 / 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35BD1-F91F-41BF-80B5-D09FA125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Four simultaneous arrivals: two run for 1 h, two for 10 h. Each host fits two VMs.</a:t>
            </a:r>
          </a:p>
        </p:txBody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CA18C0-80B1-449C-8416-F075C99E0C9F}"/>
              </a:ext>
            </a:extLst>
          </p:cNvPr>
          <p:cNvGraphicFramePr/>
          <p:nvPr/>
        </p:nvGraphicFramePr>
        <p:xfrm>
          <a:off xmlns:a="http://schemas.openxmlformats.org/drawingml/2006/main" x="685800" y="2857500"/>
          <a:ext xmlns:a="http://schemas.openxmlformats.org/drawingml/2006/main" cx="5810250" cy="2019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1952625"/>
                <a:gridCol w="1952625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Arrangement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Host A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Host B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Mixed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 h + 10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 h + 10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Similar exits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 h + 1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10 h + 10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85A729-808D-4DF9-89C8-D22A30C5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After 1 hour: grouping similar departures frees one whole host.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832202-7E2D-4771-92F5-43199F55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820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This illustrates the intuition. Full LAVA also updates predictions and adapts host lifecycle states.</a:t>
            </a:r>
          </a:p>
        </p:txBody>
      </p:sp>
    </p:spTree>
    <p:extLst>
      <p:ext uri="{BB962C8B-B14F-4D97-AF65-F5344CB8AC3E}">
        <p14:creationId xmlns:p14="http://schemas.microsoft.com/office/powerpoint/2010/main" val="4838427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506C6EDC-8E71-44F5-8110-64395F2A6A40}"/>
              </a:ext>
            </a:extLst>
          </p:cNvPr>
          <p:cNvGraphicFramePr/>
          <p:nvPr/>
        </p:nvGraphicFramePr>
        <p:xfrm>
          <a:off xmlns:a="http://schemas.openxmlformats.org/drawingml/2006/main" x="6858000" y="2381250"/>
          <a:ext xmlns:a="http://schemas.openxmlformats.org/drawingml/2006/main" cx="4648200" cy="2809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b0ca78ac4542e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9143B-707C-49A6-B647-FAEAF107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1  THE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8F555-4769-4F99-8E66-F72A965C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Prediction errors can reverse the benefit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2B928F-7A82-4FDA-86B5-9DDDCD2D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An unexpectedly long VM can keep a host busy after the other VMs leave.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64528-87FA-4391-A81E-F76FAA10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3F5DF-95F1-4296-A114-A08C4A95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5 /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150C6-F94E-47E8-8CF4-2A96D74B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Illustrative prediction error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8539F-644E-4E6A-A576-C409EE67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61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A VM looks short, so the scheduler expects its host to empty soon.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D1A1A-2758-49F8-8025-E3DA5940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If it runs much longer, that planned departure alignment breaks.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E7E3C4-89DB-4B70-988B-5388906C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LAVA adapts to mispredictions. We test how much the initial prediction quality still matters.</a:t>
            </a:r>
          </a:p>
        </p:txBody>
      </p:sp>
    </p:spTree>
    <p:extLst>
      <p:ext uri="{BB962C8B-B14F-4D97-AF65-F5344CB8AC3E}">
        <p14:creationId xmlns:p14="http://schemas.microsoft.com/office/powerpoint/2010/main" val="4392766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35348-31C4-40B9-9CFE-836C2C21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5908F5-57CA-4E64-80E6-2E695EC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paired experiment separates method from workload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D3773-09F0-4BD1-8D63-C4E41D5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Every policy receives the same arrivals, resource demands and noisy observations for each seed.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264BA-1B1D-402B-8EAB-5372DAD0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45739-32F8-4581-82E3-9F563B33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6 / 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EED4A-FB32-4C4A-96C9-5DB8DB4E786E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191000"/>
                <a:gridCol w="45339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Design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Setting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Workload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180 hosts, 2,500 VMs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8 arrivals per hour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CPU and memory constraints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All requests admitted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Main test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100 unused workloads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Seeds 1000–1099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Separate testing from development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Inference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8 planned tests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Paired 95% intervals, Holm correction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Control multiple-test false positives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30430-12C0-4F2E-9EA4-B289B934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Metric: percentage of host-time completely empty, from first arrival to final exit.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D4B56-D5E4-4A18-8EC6-C7DA0C62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820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Differences use percentage points (pp). +0.224 pp corresponds to about 0.40 extra empty hosts on average.</a:t>
            </a:r>
          </a:p>
        </p:txBody>
      </p:sp>
    </p:spTree>
    <p:extLst>
      <p:ext uri="{BB962C8B-B14F-4D97-AF65-F5344CB8AC3E}">
        <p14:creationId xmlns:p14="http://schemas.microsoft.com/office/powerpoint/2010/main" val="2438046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3292739B-5772-496C-8944-C366C2F5DC5B}"/>
              </a:ext>
            </a:extLst>
          </p:cNvPr>
          <p:cNvGraphicFramePr/>
          <p:nvPr/>
        </p:nvGraphicFramePr>
        <p:xfrm>
          <a:off xmlns:a="http://schemas.openxmlformats.org/drawingml/2006/main" x="685800" y="2095500"/>
          <a:ext xmlns:a="http://schemas.openxmlformats.org/drawingml/2006/main" cx="7239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43b0b786134b1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427AF-B72C-4C42-AD3E-6CC91BB2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F8196-40FC-43F8-B135-8857E98C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LAVA improves as prediction quality rises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ED610-B1A6-4486-B300-52D5B5F0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Fresh-seed comparison: LAVA minus Best-Fit on the same 100 workloads.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AE0B2-A021-4F60-B261-A76EE437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55D7EC-400A-45F6-961B-90638DF3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7 /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3AD1D-A206-4C14-A518-596D708C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Accuracy = probability of a near-correct estimate in this controlled 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2B85E-7BE9-4D0F-BE4D-521EB260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907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25% accuracy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457E9-2788-40AB-8AB8-C13121A7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28900"/>
            <a:ext cx="300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A23D39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A23D39"/>
                </a:solidFill>
                <a:latin typeface="Aptos"/>
                <a:ea typeface="Aptos"/>
                <a:cs typeface="Aptos"/>
              </a:rPr>
              <a:t>−0.187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427FE-CEEC-4002-BB15-B9D43466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19450"/>
            <a:ext cx="3009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95% CI [−0.240, −0.135]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A0244-7C49-477A-AFC2-9A04A25F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10025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A6573"/>
                </a:solidFill>
                <a:latin typeface="Aptos"/>
                <a:ea typeface="Aptos"/>
                <a:cs typeface="Aptos"/>
              </a:rPr>
              <a:t>100% accuracy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001B77-DD15-4C90-B4A4-6C999B4F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48175"/>
            <a:ext cx="300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3D7F5B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3D7F5B"/>
                </a:solidFill>
                <a:latin typeface="Aptos"/>
                <a:ea typeface="Aptos"/>
                <a:cs typeface="Aptos"/>
              </a:rPr>
              <a:t>+0.507 pp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42828-B100-4414-8331-49EA0B46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29200"/>
            <a:ext cx="30099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95% CI [+0.445, +0.569]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38753-371D-4E44-9190-0231E7FB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Poor estimates can make lifetime-aware placement worse. This motivates a way to handle unreliable predictions.</a:t>
            </a:r>
          </a:p>
        </p:txBody>
      </p:sp>
    </p:spTree>
    <p:extLst>
      <p:ext uri="{BB962C8B-B14F-4D97-AF65-F5344CB8AC3E}">
        <p14:creationId xmlns:p14="http://schemas.microsoft.com/office/powerpoint/2010/main" val="19728201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BD4616-458D-45A8-B137-99902A3F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BB890-7C4D-449B-8E02-8D1A34C0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Confidence routing tries to protect LAVA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8FF5E-7FDE-4CBD-A1D4-9E07ACE7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The first idea: send arrivals with unreliable lifetime estimates to Best-Fit.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CF6845-B4C1-42B6-881B-89A9C1B0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34ECA-53B1-402A-9108-B2DF2FFB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8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AD7FF-094F-4853-AF17-260E04AC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Confidence = probability of the lifetime class containing the estimate. Threshold: 0.3.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77E12-0BBA-485D-8E6D-2CAD3C808B92}"/>
              </a:ext>
            </a:extLst>
          </p:cNvPr>
          <p:cNvGraphicFramePr/>
          <p:nvPr/>
        </p:nvGraphicFramePr>
        <p:xfrm>
          <a:off xmlns:a="http://schemas.openxmlformats.org/drawingml/2006/main" x="685800" y="2781300"/>
          <a:ext xmlns:a="http://schemas.openxmlformats.org/drawingml/2006/main" cx="108204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362450"/>
                <a:gridCol w="4362450"/>
              </a:tblGrid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Mechanism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VM-level CA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Host-level CA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Decision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Choose LAVA or Best-Fit for each arrival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Choose a LAVA or Best-Fit host pool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Host sharing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Both decisions use the same hosts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Keep host modes separate until empty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Intended benefit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Avoid trusting a weak prediction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Also avoid interference between the modes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D8200-96BD-4B57-BAC8-F21C1A1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A high probability for a lifetime class need not imply that choosing LAVA will improve packing.</a:t>
            </a:r>
          </a:p>
        </p:txBody>
      </p:sp>
    </p:spTree>
    <p:extLst>
      <p:ext uri="{BB962C8B-B14F-4D97-AF65-F5344CB8AC3E}">
        <p14:creationId xmlns:p14="http://schemas.microsoft.com/office/powerpoint/2010/main" val="1684213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C78AF-9D5D-4F04-B021-821EB50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2  WHAT WE TESTED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EA8A3B-06BA-438D-9D67-06ED4E64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routing mechanism works, but the benefit fails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116B5-124C-407D-BBC5-C11818A6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We diagnose the negative result rather than assume the confidence gate must help.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D6E52-EB72-4A44-968E-47EA18D5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84E67-FD42-4288-92B8-348D203E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9 / 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D49DB-971A-4953-8B36-4C3E4A983984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3505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905250"/>
                <a:gridCol w="3962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Observation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Effect on scheduling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Score ranks profiles poorly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Default model: interactive 0.092, service 0.364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The most predictable profile gets the lowest score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Gate rarely rejects arrivals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Controlled noise: 99.96%–100% pass at τ = 0.3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The gate does not filter the damaging errors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Isolation reduces packing choices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Default model: −0.992 pp during arrivals, −0.090 pp overall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 VM cannot freely use space in the other pool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3F054-9768-440D-A2E0-CE9CDE65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Host isolation removes cross-mode placements, yet the default-model result is still below Best-Fit.</a:t>
            </a:r>
          </a:p>
        </p:txBody>
      </p:sp>
    </p:spTree>
    <p:extLst>
      <p:ext uri="{BB962C8B-B14F-4D97-AF65-F5344CB8AC3E}">
        <p14:creationId xmlns:p14="http://schemas.microsoft.com/office/powerpoint/2010/main" val="12383246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21C3F-240F-45F7-ACF5-ACE03237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CF317-4610-4B03-9615-18264950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Prior fusion checks a prediction against usual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D8D04-943A-437C-A3F8-478D6F38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Prior = the usual lifetime pattern for this kind of VM. Fusion combines it with a new estimate.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8AB63-5E88-4637-B46A-CDFD57AF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AC4E6-81AF-4BA3-853A-628858CC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10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E6E45-8888-447E-8855-24410A0D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The prior asks: how plausible is this observation for this kind of VM?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7EAD7-A1D8-4309-93B9-69D4DB78FBB8}"/>
              </a:ext>
            </a:extLst>
          </p:cNvPr>
          <p:cNvGraphicFramePr/>
          <p:nvPr/>
        </p:nvGraphicFramePr>
        <p:xfrm>
          <a:off xmlns:a="http://schemas.openxmlformats.org/drawingml/2006/main" x="685800" y="2857500"/>
          <a:ext xmlns:a="http://schemas.openxmlformats.org/drawingml/2006/main" cx="10820400" cy="2228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2381250"/>
                <a:gridCol w="2457450"/>
                <a:gridCol w="24574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Example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 mean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Noisy estimate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Fused estimate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Interactive VM</a:t>
                      </a:r>
                    </a:p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25% accuracy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1.07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300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1.52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Service VM</a:t>
                      </a:r>
                    </a:p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50% accuracy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85.2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2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27.0 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F9B01-41F7-43C0-8DF5-72D120EC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An implausible observation gets less weight. A plausible observation can still update the prior.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4C5AA-645E-4CF4-8D88-A22700D1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We change the predictor while preserving the placement code.</a:t>
            </a:r>
          </a:p>
        </p:txBody>
      </p:sp>
    </p:spTree>
    <p:extLst>
      <p:ext uri="{BB962C8B-B14F-4D97-AF65-F5344CB8AC3E}">
        <p14:creationId xmlns:p14="http://schemas.microsoft.com/office/powerpoint/2010/main" val="16123245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BAC582-E771-4967-9423-AA045EF0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A95D67-AF9D-45A9-B7DF-4A140E8B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Fusion uses the observation and continued survival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AB439-A137-4640-B39C-8420872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A VM still running supplies new evidence. A capped prediction also needs careful interpretation.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F52DF-C07B-40AB-A215-4ED7E5C6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84BB8-B69F-4D57-9A17-4FD0FC6B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11 / 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E5FA2-2A73-46D0-BF52-BFE11EE46140}"/>
              </a:ext>
            </a:extLst>
          </p:cNvPr>
          <p:cNvGraphicFramePr/>
          <p:nvPr/>
        </p:nvGraphicFramePr>
        <p:xfrm>
          <a:off xmlns:a="http://schemas.openxmlformats.org/drawingml/2006/main" x="685800" y="2095500"/>
          <a:ext xmlns:a="http://schemas.openxmlformats.org/drawingml/2006/main" cx="10820400" cy="2438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62900"/>
              </a:tblGrid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Step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the predictor does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1  Start with usual behavior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Use the profile’s lifetime distribution as the prior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2  Use the observation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Weight plausible lifetimes using the known noise model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3  Condition on uptime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Retain lifetimes consistent with the VM still running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00D07-78F0-40E7-BC28-FF0AA1D5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Capped observation example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930DB-96AC-4E8A-8E54-B7C3431D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At 100% controlled accuracy: prediction capped at 336 h, VM already running for 300 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D22F4-488D-40BC-9F84-B710AD12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Original estimate: 36 h left. Fused estimate: 151 h left.</a:t>
            </a:r>
          </a:p>
        </p:txBody>
      </p:sp>
    </p:spTree>
    <p:extLst>
      <p:ext uri="{BB962C8B-B14F-4D97-AF65-F5344CB8AC3E}">
        <p14:creationId xmlns:p14="http://schemas.microsoft.com/office/powerpoint/2010/main" val="636989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18857-7DCF-4528-9C01-46224A84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7A7FF-8C8A-48AA-BD53-C310749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registered improvement holds in 3 of 4 LAVA 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C7B62-799B-4E22-ACBF-34CFED4A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Registered VM-CA-Bayes combines fusion with VM-level routing. Paired gains in pp, n = 100.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1A13A-9264-43CE-8797-1A2BBFB1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3F03D-A32C-4BBB-9A71-DAD0D6F6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12 / 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49CA4-3E5E-427D-BFBB-B2BBDA5E1AD7}"/>
              </a:ext>
            </a:extLst>
          </p:cNvPr>
          <p:cNvGraphicFramePr/>
          <p:nvPr/>
        </p:nvGraphicFramePr>
        <p:xfrm>
          <a:off xmlns:a="http://schemas.openxmlformats.org/drawingml/2006/main" x="685800" y="2124075"/>
          <a:ext xmlns:a="http://schemas.openxmlformats.org/drawingml/2006/main" cx="108204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4791075"/>
                <a:gridCol w="4791075"/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Gain over LAVA [95% CI]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Gain over Best-Fit [95% CI]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25%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+0.224 [+0.174, +0.275]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+0.037 [-0.012, +0.086]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Not 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50%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+0.147 [+0.088, +0.205]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+0.122 [+0.064, +0.180]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75%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+0.054 [-0.001, +0.109]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Not 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+0.272 [+0.217, +0.327]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85%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+0.088 [+0.037, +0.139]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+0.398 [+0.338, +0.457]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AEED0-F201-4450-A655-3E1193CC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75% versus LAVA remains unconfirmed (Holm p = 0.11).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C43B8-71B7-4E35-A15B-FDB66A7E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25% versus Best-Fit also remains unconfirmed. Intervals are unadjusted, decisions use Holm correction across 8 tests.</a:t>
            </a:r>
          </a:p>
        </p:txBody>
      </p:sp>
    </p:spTree>
    <p:extLst>
      <p:ext uri="{BB962C8B-B14F-4D97-AF65-F5344CB8AC3E}">
        <p14:creationId xmlns:p14="http://schemas.microsoft.com/office/powerpoint/2010/main" val="10814074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0D149-04E5-4C8E-ABC5-6AB9988A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18130-06EE-4D12-A7B4-93797A91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Decomposition points to the estimate as the main gain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12D44-62D2-403E-BA31-05BF366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Change one component at a time to separate the estimate from the confidence gate.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9232D-04B9-40FC-A0DB-BFBDFF07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01779-2FAA-45B3-9D86-CDD287C4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13 / 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839B4-44EE-48D6-8258-B3A5ED40AE5D}"/>
              </a:ext>
            </a:extLst>
          </p:cNvPr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0820400" cy="3067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3171825"/>
                <a:gridCol w="3171825"/>
              </a:tblGrid>
              <a:tr h="46672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Paired comparison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At 25% accuracy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At 85% accuracy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Fuse instead of trusting the noisy value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+0.242 [+0.182, +0.303]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+0.105 [+0.054, +0.155]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Add the observation to the prior alone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+0.098 [+0.047, +0.149]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+0.457 [+0.398, +0.515]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Add a gate to the same fused estimate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-0.018 [-0.066, +0.030]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-0.016 [-0.066, +0.033]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2A331-0199-4A74-B48E-46E91967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Fusion improves on both ingredients in these examples. The added gate has intervals spanning zero.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9BEB34-B9DD-4908-A01B-07FC61DE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Post-hoc analysis with unadjusted 95% intervals. It does not prove the gate has exactly zero effect.</a:t>
            </a:r>
          </a:p>
        </p:txBody>
      </p:sp>
    </p:spTree>
    <p:extLst>
      <p:ext uri="{BB962C8B-B14F-4D97-AF65-F5344CB8AC3E}">
        <p14:creationId xmlns:p14="http://schemas.microsoft.com/office/powerpoint/2010/main" val="962264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A7CCB-79CF-48D5-9C99-35FB483D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E6FAC-589E-40C9-A088-CB392B8D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A useful predictor still depends on its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19DA9-71E2-4C30-AD2C-B8A28A2A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Robustness changes one assumption at a time, using 50 fresh workloads per setting.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5A0F2-D778-44EF-822F-C9C89990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5E146-A0A7-4E43-883C-68B6EBC7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14 / 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A88B0-EBF1-4984-92D1-A525CA614956}"/>
              </a:ext>
            </a:extLst>
          </p:cNvPr>
          <p:cNvGraphicFramePr/>
          <p:nvPr/>
        </p:nvGraphicFramePr>
        <p:xfrm>
          <a:off xmlns:a="http://schemas.openxmlformats.org/drawingml/2006/main" x="685800" y="2105025"/>
          <a:ext xmlns:a="http://schemas.openxmlformats.org/drawingml/2006/main" cx="108204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429125"/>
                <a:gridCol w="36766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Change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Observed result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Interpretation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T w="5715">
                      <a:solidFill>
                        <a:srgbClr val="D7DDE3"/>
                      </a:solidFill>
                      <a:prstDash val="solid"/>
                    </a:lnT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173F70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Milder incorrect predictions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Only 1–2 of 4 intervals above zero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Smaller errors are harder to distinguish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Prior lifetimes × 0.5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At 85%: −0.116 [−0.197, −0.034] pp vs LAVA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Underestimating long lifetimes can hurt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Prior lifetimes × 2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All four gains over LAVA have positive intervals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The direction of prior error matters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Twice the arrivals and requests</a:t>
                      </a:r>
                    </a:p>
                  </a:txBody>
                  <a:tcPr marL="91440" marR="91440" marT="45720" marB="45720" anchor="ctr">
                    <a:lnL w="5715">
                      <a:solidFill>
                        <a:srgbClr val="D7DDE3"/>
                      </a:solidFill>
                      <a:prstDash val="solid"/>
                    </a:lnL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Gains over LAVA at 25–75%, 85% uncertain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33142"/>
                          </a:solidFill>
                          <a:latin typeface="Aptos"/>
                          <a:ea typeface="Aptos"/>
                          <a:cs typeface="Aptos"/>
                        </a:rPr>
                        <a:t>Load changes the size of the benefit</a:t>
                      </a:r>
                    </a:p>
                  </a:txBody>
                  <a:tcPr marL="91440" marR="91440" marT="45720" marB="45720" anchor="ctr">
                    <a:lnR w="5715">
                      <a:solidFill>
                        <a:srgbClr val="D7DDE3"/>
                      </a:solidFill>
                      <a:prstDash val="solid"/>
                    </a:lnR>
                    <a:lnB w="5715">
                      <a:solidFill>
                        <a:srgbClr val="D7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E458FD-0533-4250-8476-D458A44E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The failing prior case is still +0.191 pp above Best-Fit. These robustness tests are exploratory and unadjusted.</a:t>
            </a:r>
          </a:p>
        </p:txBody>
      </p:sp>
    </p:spTree>
    <p:extLst>
      <p:ext uri="{BB962C8B-B14F-4D97-AF65-F5344CB8AC3E}">
        <p14:creationId xmlns:p14="http://schemas.microsoft.com/office/powerpoint/2010/main" val="17689206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D93A07-718A-4B43-945F-91D3751C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PART 3  OUR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C2DEE-1C9C-4D8B-826E-07E33DC3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27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Findings, contributions and 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5596E-1787-44E3-88EA-86FECBF7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The evidence supports a predictor-level remedy within the reconstructed synthetic environment.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6E6C2-6D60-4DA7-A0A1-EAAF9938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CE7490 · 26S1 Group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81ADD-084E-4FF7-B1D0-D593ADE5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960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15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F3448-1A72-4448-B521-F630D337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9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13960-B331-4BFC-854A-998A954D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Prediction quality matters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E4D43-E003-4F57-8A12-5180CD09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LAVA changes from −0.187 to +0.507 pp over Best-Fit.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0E807D-1136-4B8D-8CEF-9E8E20FA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Routing is insufficient here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954BB-76E5-4934-A6AD-F682B40C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Host isolation works, but confidence does not identify useful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50BB2F-A434-445B-9443-C834E831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estimate is a promising target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1D758-7DAD-4846-8B0A-FC77DA42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33142"/>
                </a:solidFill>
                <a:latin typeface="Aptos"/>
                <a:ea typeface="Aptos"/>
                <a:cs typeface="Aptos"/>
              </a:rPr>
              <a:t>The registered fused variant improves on LAVA in 3 of 4 tests.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E105D-D6EF-4B7A-A2E6-1E376484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6692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F5D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A"/>
                </a:solidFill>
                <a:latin typeface="Aptos"/>
                <a:ea typeface="Aptos"/>
                <a:cs typeface="Aptos"/>
              </a:rPr>
              <a:t>What limits the 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22E333-5E0E-4FC1-8F45-CB75680B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95575"/>
            <a:ext cx="35433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Synthetic workloads and low load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Generating prior and known error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5A657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A6573"/>
                </a:solidFill>
                <a:latin typeface="Aptos"/>
                <a:ea typeface="Aptos"/>
                <a:cs typeface="Aptos"/>
              </a:rPr>
              <a:t>Local registration and exploratory robustness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18B92F-DFA0-4DBA-AEA3-F3892118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19700"/>
            <a:ext cx="3543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331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33142"/>
                </a:solidFill>
                <a:latin typeface="Aptos"/>
                <a:ea typeface="Aptos"/>
                <a:cs typeface="Aptos"/>
              </a:rPr>
              <a:t>Next: learn priors from history and test real workload changes.</a:t>
            </a:r>
          </a:p>
        </p:txBody>
      </p:sp>
    </p:spTree>
    <p:extLst>
      <p:ext uri="{BB962C8B-B14F-4D97-AF65-F5344CB8AC3E}">
        <p14:creationId xmlns:p14="http://schemas.microsoft.com/office/powerpoint/2010/main" val="359772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Zhang Qi; Zhang Saining; Zheng Yitao</dc:creator>
  <lastModifiedBy>Zhang Qi; Zhang Saining; Zheng Yitao</lastModifiedBy>
  <dc:title>Revisiting Lifetime-Aware VM Allocation - Research Presentation</dc:title>
  <dcterms:created xsi:type="dcterms:W3CDTF">2026-10-31T02:22:43.8540000Z</dcterms:created>
  <dcterms:modified xsi:type="dcterms:W3CDTF">2026-10-31T02:22:43.8540000Z</dcterms:modified>
</coreProperties>
</file>