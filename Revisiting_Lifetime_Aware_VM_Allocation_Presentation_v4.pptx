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958c02ff064666" /><Relationship Type="http://schemas.openxmlformats.org/officeDocument/2006/relationships/extended-properties" Target="/docProps/app.xml" Id="R615632f85a754157" /><Relationship Type="http://schemas.openxmlformats.org/officeDocument/2006/relationships/officeDocument" Target="/ppt/presentation.xml" Id="R53e1972705e546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6213db29d54582"/>
  </p:sldMasterIdLst>
  <p:notesMasterIdLst>
    <p:notesMasterId xmlns:r="http://schemas.openxmlformats.org/officeDocument/2006/relationships" r:id="Rb8e5ccf52ad442f3"/>
  </p:notesMasterIdLst>
  <p:sldIdLst>
    <p:sldId xmlns:r="http://schemas.openxmlformats.org/officeDocument/2006/relationships" id="256" r:id="Ra26784be004e48e4"/>
    <p:sldId xmlns:r="http://schemas.openxmlformats.org/officeDocument/2006/relationships" id="257" r:id="Rb7133aa6debc4754"/>
    <p:sldId xmlns:r="http://schemas.openxmlformats.org/officeDocument/2006/relationships" id="258" r:id="R68481cc63e644b83"/>
    <p:sldId xmlns:r="http://schemas.openxmlformats.org/officeDocument/2006/relationships" id="259" r:id="R5ce607d6623641f2"/>
    <p:sldId xmlns:r="http://schemas.openxmlformats.org/officeDocument/2006/relationships" id="260" r:id="Rcbc91807f05d4848"/>
    <p:sldId xmlns:r="http://schemas.openxmlformats.org/officeDocument/2006/relationships" id="261" r:id="Rcaee506302414dd7"/>
    <p:sldId xmlns:r="http://schemas.openxmlformats.org/officeDocument/2006/relationships" id="262" r:id="R2f8c833397c8444e"/>
    <p:sldId xmlns:r="http://schemas.openxmlformats.org/officeDocument/2006/relationships" id="263" r:id="Re6bfbab865124ad4"/>
    <p:sldId xmlns:r="http://schemas.openxmlformats.org/officeDocument/2006/relationships" id="264" r:id="R2d5164ff80c4432f"/>
    <p:sldId xmlns:r="http://schemas.openxmlformats.org/officeDocument/2006/relationships" id="265" r:id="R03cf7faf4b234836"/>
    <p:sldId xmlns:r="http://schemas.openxmlformats.org/officeDocument/2006/relationships" id="266" r:id="R53ff91d8dc1543eb"/>
    <p:sldId xmlns:r="http://schemas.openxmlformats.org/officeDocument/2006/relationships" id="267" r:id="R4c3f7a792f4041be"/>
    <p:sldId xmlns:r="http://schemas.openxmlformats.org/officeDocument/2006/relationships" id="268" r:id="Rd5e0cb919f0b4e18"/>
    <p:sldId xmlns:r="http://schemas.openxmlformats.org/officeDocument/2006/relationships" id="269" r:id="R8864ae9e623e4140"/>
    <p:sldId xmlns:r="http://schemas.openxmlformats.org/officeDocument/2006/relationships" id="270" r:id="R418074b6a1ed4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fd24c76acf49a1" /><Relationship Type="http://schemas.openxmlformats.org/officeDocument/2006/relationships/slideMaster" Target="/ppt/slideMasters/slideMaster1.xml" Id="Rff6213db29d54582" /><Relationship Type="http://schemas.openxmlformats.org/officeDocument/2006/relationships/notesMaster" Target="/ppt/notesMasters/notesMaster1.xml" Id="Rb8e5ccf52ad442f3" /><Relationship Type="http://schemas.openxmlformats.org/officeDocument/2006/relationships/presProps" Target="/ppt/presProps.xml" Id="Rf79b17833fe14e25" /><Relationship Type="http://schemas.openxmlformats.org/officeDocument/2006/relationships/tableStyles" Target="/ppt/tableStyles.xml" Id="R2b816e42ce77487e" /><Relationship Type="http://schemas.openxmlformats.org/officeDocument/2006/relationships/slide" Target="/ppt/slides/slide1.xml" Id="Ra26784be004e48e4" /><Relationship Type="http://schemas.openxmlformats.org/officeDocument/2006/relationships/slide" Target="/ppt/slides/slide2.xml" Id="Rb7133aa6debc4754" /><Relationship Type="http://schemas.openxmlformats.org/officeDocument/2006/relationships/slide" Target="/ppt/slides/slide3.xml" Id="R68481cc63e644b83" /><Relationship Type="http://schemas.openxmlformats.org/officeDocument/2006/relationships/slide" Target="/ppt/slides/slide4.xml" Id="R5ce607d6623641f2" /><Relationship Type="http://schemas.openxmlformats.org/officeDocument/2006/relationships/slide" Target="/ppt/slides/slide5.xml" Id="Rcbc91807f05d4848" /><Relationship Type="http://schemas.openxmlformats.org/officeDocument/2006/relationships/slide" Target="/ppt/slides/slide6.xml" Id="Rcaee506302414dd7" /><Relationship Type="http://schemas.openxmlformats.org/officeDocument/2006/relationships/slide" Target="/ppt/slides/slide7.xml" Id="R2f8c833397c8444e" /><Relationship Type="http://schemas.openxmlformats.org/officeDocument/2006/relationships/slide" Target="/ppt/slides/slide8.xml" Id="Re6bfbab865124ad4" /><Relationship Type="http://schemas.openxmlformats.org/officeDocument/2006/relationships/slide" Target="/ppt/slides/slide9.xml" Id="R2d5164ff80c4432f" /><Relationship Type="http://schemas.openxmlformats.org/officeDocument/2006/relationships/slide" Target="/ppt/slides/slide10.xml" Id="R03cf7faf4b234836" /><Relationship Type="http://schemas.openxmlformats.org/officeDocument/2006/relationships/slide" Target="/ppt/slides/slide11.xml" Id="R53ff91d8dc1543eb" /><Relationship Type="http://schemas.openxmlformats.org/officeDocument/2006/relationships/slide" Target="/ppt/slides/slide12.xml" Id="R4c3f7a792f4041be" /><Relationship Type="http://schemas.openxmlformats.org/officeDocument/2006/relationships/slide" Target="/ppt/slides/slide13.xml" Id="Rd5e0cb919f0b4e18" /><Relationship Type="http://schemas.openxmlformats.org/officeDocument/2006/relationships/slide" Target="/ppt/slides/slide14.xml" Id="R8864ae9e623e4140" /><Relationship Type="http://schemas.openxmlformats.org/officeDocument/2006/relationships/slide" Target="/ppt/slides/slide15.xml" Id="R418074b6a1ed4d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9bef66c9ad4b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557f599aa84b1c" /><Relationship Type="http://schemas.openxmlformats.org/officeDocument/2006/relationships/notesMaster" Target="/ppt/notesMasters/notesMaster1.xml" Id="R45db6f2b941649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89efbf719c4c51" /><Relationship Type="http://schemas.openxmlformats.org/officeDocument/2006/relationships/notesMaster" Target="/ppt/notesMasters/notesMaster1.xml" Id="Rf7460e88957d4f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12a128fa94bbd" /><Relationship Type="http://schemas.openxmlformats.org/officeDocument/2006/relationships/notesMaster" Target="/ppt/notesMasters/notesMaster1.xml" Id="R9eb985e3b4c848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43068197b34758" /><Relationship Type="http://schemas.openxmlformats.org/officeDocument/2006/relationships/notesMaster" Target="/ppt/notesMasters/notesMaster1.xml" Id="Rd7b1ebd7aa364e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98baa540604085" /><Relationship Type="http://schemas.openxmlformats.org/officeDocument/2006/relationships/notesMaster" Target="/ppt/notesMasters/notesMaster1.xml" Id="R88301a55764647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4aed8860c148be" /><Relationship Type="http://schemas.openxmlformats.org/officeDocument/2006/relationships/notesMaster" Target="/ppt/notesMasters/notesMaster1.xml" Id="R49395a84d65e4b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da0375c84d4eb3" /><Relationship Type="http://schemas.openxmlformats.org/officeDocument/2006/relationships/notesMaster" Target="/ppt/notesMasters/notesMaster1.xml" Id="Ra8c1cde63505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d76f9afa2e44c8" /><Relationship Type="http://schemas.openxmlformats.org/officeDocument/2006/relationships/notesMaster" Target="/ppt/notesMasters/notesMaster1.xml" Id="Rcfdb7e817b1f4e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ec1541e9504ad8" /><Relationship Type="http://schemas.openxmlformats.org/officeDocument/2006/relationships/notesMaster" Target="/ppt/notesMasters/notesMaster1.xml" Id="Rdf4e45c1845d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b464bb74d74ca7" /><Relationship Type="http://schemas.openxmlformats.org/officeDocument/2006/relationships/notesMaster" Target="/ppt/notesMasters/notesMaster1.xml" Id="R845116f9cd9e4f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c0ea6ae6e244dc" /><Relationship Type="http://schemas.openxmlformats.org/officeDocument/2006/relationships/notesMaster" Target="/ppt/notesMasters/notesMaster1.xml" Id="R1a4170ec67a847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1b2a3d94a4b12" /><Relationship Type="http://schemas.openxmlformats.org/officeDocument/2006/relationships/notesMaster" Target="/ppt/notesMasters/notesMaster1.xml" Id="R0767a9a1090842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25aba511bf406a" /><Relationship Type="http://schemas.openxmlformats.org/officeDocument/2006/relationships/notesMaster" Target="/ppt/notesMasters/notesMaster1.xml" Id="R47b94439ede943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a6aa2af34b429c" /><Relationship Type="http://schemas.openxmlformats.org/officeDocument/2006/relationships/notesMaster" Target="/ppt/notesMasters/notesMaster1.xml" Id="R0aa8c94b619c43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1c4703ff384eae" /><Relationship Type="http://schemas.openxmlformats.org/officeDocument/2006/relationships/notesMaster" Target="/ppt/notesMasters/notesMaster1.xml" Id="R22171abf533b43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我们研究把虚拟机放到哪台物理服务器。原论文利用预计运行时间改善放置，我们重点研究预测不准时会发生什么。今天先讲直觉，再讲实验和改进。组员顺序为Zhang Saining、Zhang Qi、Zheng Yitao。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Original project presentation v3, slide 1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先区分host和VM。CPU和内存必须同时满足，空闲资源还可能被切碎。图中CPU已用50%、内存已用100%是明确标注的容量示例，不是实验测量。CPU还有空位但内存已满，新VM仍放不进去。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Section 2.3</a:t>
            </a:r>
          </a:p>
          <a:p xmlns:a="http://schemas.openxmlformats.org/drawingml/2006/main">
            <a:r>
              <a:t>Project report, Introduction and metric definition</a:t>
            </a:r>
          </a:p>
          <a:p xmlns:a="http://schemas.openxmlformats.org/drawingml/2006/main">
            <a:r>
              <a:t>Illustrative capacity data: CPU 50%, memory 100%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Best-Fit只看CPU和内存是否放得下，并选剩余空间最紧的可行主机，不利用运行时间。这是基于项目VM资源形状(0.25 CPU,0.125 RAM)的定量示例。A原有3个同形状VM、B有1个、C有4个，CPU分别使用75%、25%、100%，内存都不是瓶颈。新VM在A后CPU刚好满；B虽然也能放，但剩余空间更多；C不能放。图不是实验trace。实际评分最小化CPU和内存剩余平方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configs/report_scale.json: VM shapes</a:t>
            </a:r>
          </a:p>
          <a:p xmlns:a="http://schemas.openxmlformats.org/drawingml/2006/main">
            <a:r>
              <a:t>lava_reproduction/lava/simulator.py: Best-Fit scoring</a:t>
            </a:r>
          </a:p>
          <a:p xmlns:a="http://schemas.openxmlformats.org/drawingml/2006/main">
            <a:r>
              <a:t>Illustrative capacity data derived from identical VM shapes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同一批VM采用不同排法，可能较早空出整台机器。这里4个VM同时到达、资源形状均为0.5 CPU和0.25 RAM，因此每台主机最多2个。混放时两台各有1个短VM和1个长VM，会都忙到10小时；按离开时间分配后，短VM所在主机在1小时清空，另一台忙到10小时。图只比较1小时这个时点：混放时没有空主机，按离开时间放置时有1台空主机。它是明确条件下的定量示例，不是说LAVA只把同寿命VM放在一起。LAVA实际还把更短VM填入较长主机，并使用主机状态和重新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Ling et al., LAVA, MLSys 2025, Sections 4.2-4.3</a:t>
            </a:r>
          </a:p>
          <a:p xmlns:a="http://schemas.openxmlformats.org/drawingml/2006/main">
            <a:r>
              <a:t>configs/report_scale.json: shape (0.5,0.25)</a:t>
            </a:r>
          </a:p>
          <a:p xmlns:a="http://schemas.openxmlformats.org/drawingml/2006/main">
            <a:r>
              <a:t>Illustrative simultaneous-arrival workload: durations 1,1,10,10 hours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预测只有1小时，但实际运行100小时的VM会拖住主机。其他VM已经退出也没用，只剩它就足以阻止主机清空。LAVA会对误预测做自适应处理，但预测质量仍决定能得到多少收益。图中1和100小时只是机制示例。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adaptation to mispredictions</a:t>
            </a:r>
          </a:p>
          <a:p xmlns:a="http://schemas.openxmlformats.org/drawingml/2006/main">
            <a:r>
              <a:t>Illustrative example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随机种子生成一个工作场景。所有算法面对相同请求和相同带噪预测，再按种子成对比较。这里用180台主机、每条2500个VM；主测试有100个全新种子1000–1099。主指标为空主机数量随时间的占比，包含最后一次到达之后的排空尾段。约20%的稳态负载和长尾段使绝对结果不能解释为生产节能率。原代码和真实trace均未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results/improvement/test/manifest.json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只使用100个全新测试场景，不混初始20个种子。accuracy是接近真实值的噪声分量所占比例，不是短长分类正确率，也不是每个预测都偏差某个百分比。25%下LAVA相对Best-Fit显著为负；100%明显为正。图显示均值。对应95%成对区间：25%: -0.18734072732881402 [-0.24007250848442785, -0.13460894617320018]; 50%: -0.02495588121948927 [-0.07725643485268986, 0.02734467241371132]; 75%: 0.2181133508529291 [0.16190859537697583, 0.27431810632888237]; 85%: 0.309254969992174 [0.24978838323698505, 0.36872155674736296]; 100%: 0.5070590768200469 [0.4446893922272242, 0.5694287614128697]。pp是空主机时间占比的百分点差，不是相对速度提升。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policy=lava, baseline=best_fit, metric=empty_pct</a:t>
            </a:r>
          </a:p>
          <a:p xmlns:a="http://schemas.openxmlformats.org/drawingml/2006/main">
            <a:r>
              <a:t>Controlled-noise protocol: LAVA Appendix G.1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表示confidence-aware。这里的confidence是预计剩余寿命所在类别的概率，不等于该VM的实际误差。阈值固定0.3。VM方式为每次到达选LAVA或Best-Fit，但共享主机；Host方式保持主机模式直到清空，只有没有任何同模式主机或空主机可放置才跨模式。图省略容量回退细节，实验中回退为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confidence calculation</a:t>
            </a:r>
          </a:p>
          <a:p xmlns:a="http://schemas.openxmlformats.org/drawingml/2006/main">
            <a:r>
              <a:t>lava/simulator.py: vm_ca and host_ca</a:t>
            </a:r>
          </a:p>
          <a:p xmlns:a="http://schemas.openxmlformats.org/drawingml/2006/main">
            <a:r>
              <a:t>Project report, confidence-aware routing mechanism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三点来自不同条件，不能混成一个实验。默认profile预测器：Interactive VM有88%概率在1小时内结束，但门控置信度只有0.092；Service却是0.364。受控噪声：99.96%–100%的请求通过0.3阈值，因此基本等于LAVA。隔离主机还损失装箱自由度；到达期少约0.99pp空主机，尾段仅补回约72%。默认预测器的Host-CA对Best-Fit为-0.0901124159590242 [-0.14667169983639552, -0.03355313208165287] pp，n=100。跨模式放置归零表明隔离机制按设计生效，但不代表整体收益改善。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synthetic host_ca vs best_fit</a:t>
            </a:r>
          </a:p>
          <a:p xmlns:a="http://schemas.openxmlformats.org/drawingml/2006/main">
            <a:r>
              <a:t>results/improvement/gate_by_bucket.json</a:t>
            </a:r>
          </a:p>
          <a:p xmlns:a="http://schemas.openxmlformats.org/drawingml/2006/main">
            <a:r>
              <a:t>Project report: three diagnostic mechanisms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300小时对通常很短的interactive VM很可疑，所以结合群体规律后回到1.52小时。这个例子用25%准确率和原项目相同噪声模型计算，原始预测器直接使用300小时，profile先验均值1.07小时。融合不是把所有预测截短：service VM的2小时观测也会被拉到约27小时。Bayes是把先验常识与当前证据结合。先验来自合成生成分布，这会成为结论限制。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BayesPredictor</a:t>
            </a:r>
          </a:p>
          <a:p xmlns:a="http://schemas.openxmlformats.org/drawingml/2006/main">
            <a:r>
              <a:t>build_report.py: predict_pair("interactive","0.25",300.)</a:t>
            </a:r>
          </a:p>
          <a:p xmlns:a="http://schemas.openxmlformats.org/drawingml/2006/main">
            <a:r>
              <a:t>Figure example computed by original builder; rounded to 1.52 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到现在还没结束，本身就是新证据。336小时是预测上限。严格说，落到这个上限代表未截断的带噪观测至少336小时，并非确定真实寿命至少336小时，更不代表恰好336小时结束。这叫删失censoring：知道观测下界，不知道精确值。示例使用100%近准确噪声设置，原预测器在uptime300小时给36小时剩余，而融合预测给约151小时。151是模型估计，不是真实剩余时间，也不是所有VM的固定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build_report.py: predict_pair("service","1.0",336.,300.)</a:t>
            </a:r>
          </a:p>
          <a:p xmlns:a="http://schemas.openxmlformats.org/drawingml/2006/main">
            <a:r>
              <a:t>lava/model.py: BayesPredictor censoring and uptime conditioning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先在0–19种子开发，测试前将方法、阈值0.3、判定规则和代码哈希写入本地带时间记录的文件，再运行100个新场景。八个计划检验用Holm校正，不能只凭均值大于0宣布成功。对LAVA四个检验为0.25: 0.22432881678660663 [0.17352732682162114, 0.2751303067515921], Holm p=3.2716067461443057e-13; 0.5: 0.14667114680402804 [0.08814061313268129, 0.2052016804753748], Holm p=0.000013915499195045679; 0.75: 0.05363307829278227 [-0.0013488952051875641, 0.1086150517907521], Holm p=0.11155467465028561; 0.85: 0.08824763466648193 [0.03704201041567266, 0.1394532589172912], Holm p=0.0027365579646860525。对Best-Fit四个为0.25: 0.036988089457792625 [-0.011807740559829763, 0.08578391947541501], Holm p=0.13574668244188715; 0.5: 0.12171526558453877 [0.06378672190193595, 0.17964380926714157], Holm p=0.00026237318774533994; 0.75: 0.2717464291457114 [0.2169308044022407, 0.3265620538891821], Holm p=1.7394575879646581e-15; 0.85: 0.39750260465865594 [0.33793067363165935, 0.45707453568565254], Holm p=9.83850424092432e-23。相对两个基线各3/4，共6/8。75%对LAVA区间[-0.001,+0.109]跨0，Holm p约0.11，未证实；25%对Best-Fit+0.037也未证实。图中横线是未校正95%区间。两幅横轴使用相同范围，便于直接比较。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results/improvement/test/summary.json: primary=true</a:t>
            </a:r>
          </a:p>
          <a:p xmlns:a="http://schemas.openxmlformats.org/drawingml/2006/main">
            <a:r>
              <a:t>Holm (1979), multiple-test correction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测试后的事后分解，不是预注册主结论。在使用融合估计之后，再加门控的变化约-0.018到+0.011pp，每个95%区间都跨0，半宽约0.05pp。因此证据更支持估计在起作用，但不能证明门控永远无效，也不能排除约0.05pp的影响。不要把没有显著差异说成完全等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results/improvement/test/raw.csv</a:t>
            </a:r>
          </a:p>
          <a:p xmlns:a="http://schemas.openxmlformats.org/drawingml/2006/main">
            <a:r>
              <a:t>build_report.py: posthoc("vm_ca_bayes","lava_bayes", setting)</a:t>
            </a:r>
          </a:p>
          <a:p xmlns:a="http://schemas.openxmlformats.org/drawingml/2006/main">
            <a:r>
              <a:t>Project report: post hoc decomposition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当先验把长寿命系统性低估时，本来正确的长寿命观测可能被当成异常。先验均值乘0.5、85%准确率时，VM-CA-Bayes相对LAVA为-0.11580359171328183 [-0.19719956355554985, -0.0344076198710138]pp；相对Best-Fit仍为约+0.191pp。它是32个探索性稳健性单元格中唯一显著负值，没有多重校正，不能推广成所有低估都会失败。较轻的错误会缩小收益，更高到达负载可放大收益。现实需要从历史学习先验并检测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results/improvement/robust/summary.json: prior_means_x0.5, accuracy=0.85</a:t>
            </a:r>
          </a:p>
          <a:p xmlns:a="http://schemas.openxmlformats.org/drawingml/2006/main">
            <a:r>
              <a:t>Project report: threats to validity and robustness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得到的是可复现的合成环境证据，不是生产集群提升比例。三点记忆：预测差会害LAVA；用置信度切换策略没有在这里解决问题；把常识放进预测本身，在四个计划对LAVA的检验中有三个成立。75%相对LAVA仍未证实，25%相对Best-Fit也未证实。后续需要用学习得到的先验和真实trace验证。全部代码、原始结果和报告在仓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https://github.com/xxxmian/CE7490-P2_Revisiting_LAVA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81b12d65d44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4d052f73c45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592da97e24c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8fc4a4c814f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1e87ba56245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608bee6e746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601F3E-A1A0-497F-BB6D-B432CD2FB4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226250D-2C65-479B-954F-A5CD5B9B18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3FA1FA-0865-48B4-B7E5-EC11514231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A24C6D-A775-43C5-AD7D-326F157BBD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6CFFCD8-5B79-4846-8A8F-CCA9D0558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9D2E4C8-08E0-48A9-B185-C5104050A6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40466C-0013-47D8-AF6E-E44397F69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357022A-A1E7-4EA1-9A3A-EA43811CD41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142610-3817-4704-BC4F-0C168439FA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23963B-FBE5-45F9-9360-906E21BB8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c3ed881de9462f" /><Relationship Type="http://schemas.openxmlformats.org/officeDocument/2006/relationships/slideLayout" Target="/ppt/slideLayouts/slideLayout1.xml" Id="R8884004a513647e6" /><Relationship Type="http://schemas.openxmlformats.org/officeDocument/2006/relationships/slideLayout" Target="/ppt/slideLayouts/slideLayout2.xml" Id="R3c31b009e9924dea" /><Relationship Type="http://schemas.openxmlformats.org/officeDocument/2006/relationships/slideLayout" Target="/ppt/slideLayouts/slideLayout3.xml" Id="R7261551b32d046d4" /><Relationship Type="http://schemas.openxmlformats.org/officeDocument/2006/relationships/slideLayout" Target="/ppt/slideLayouts/slideLayout4.xml" Id="Re0166977d1f54f8d" /><Relationship Type="http://schemas.openxmlformats.org/officeDocument/2006/relationships/slideLayout" Target="/ppt/slideLayouts/slideLayout5.xml" Id="R323da2d1c75c4664" /><Relationship Type="http://schemas.openxmlformats.org/officeDocument/2006/relationships/slideLayout" Target="/ppt/slideLayouts/slideLayout6.xml" Id="R96a77db9364642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84004a513647e6"/>
    <p:sldLayoutId xmlns:r="http://schemas.openxmlformats.org/officeDocument/2006/relationships" id="2147483650" r:id="R3c31b009e9924dea"/>
    <p:sldLayoutId xmlns:r="http://schemas.openxmlformats.org/officeDocument/2006/relationships" id="2147483651" r:id="R7261551b32d046d4"/>
    <p:sldLayoutId xmlns:r="http://schemas.openxmlformats.org/officeDocument/2006/relationships" id="2147483652" r:id="Re0166977d1f54f8d"/>
    <p:sldLayoutId xmlns:r="http://schemas.openxmlformats.org/officeDocument/2006/relationships" id="2147483653" r:id="R323da2d1c75c4664"/>
    <p:sldLayoutId xmlns:r="http://schemas.openxmlformats.org/officeDocument/2006/relationships" id="2147483654" r:id="R96a77db9364642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973c56b374d6f" /><Relationship Type="http://schemas.openxmlformats.org/officeDocument/2006/relationships/image" Target="/ppt/media/image.png" Id="R2f6513b877eb401a" /><Relationship Type="http://schemas.openxmlformats.org/officeDocument/2006/relationships/notesSlide" Target="/ppt/notesSlides/notesSlide1.xml" Id="R878b9519c1c34e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1925aef684672" /><Relationship Type="http://schemas.openxmlformats.org/officeDocument/2006/relationships/chart" Target="/ppt/slides/charts/chart1.xml" Id="R4075569aae254fbd" /><Relationship Type="http://schemas.openxmlformats.org/officeDocument/2006/relationships/notesSlide" Target="/ppt/notesSlides/notesSlide2.xml" Id="Ree865cb6848c4a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2d40d97c5f4dcb" /><Relationship Type="http://schemas.openxmlformats.org/officeDocument/2006/relationships/chart" Target="/ppt/slides/charts/chart2.xml" Id="R91668b9cd8a44b87" /><Relationship Type="http://schemas.openxmlformats.org/officeDocument/2006/relationships/notesSlide" Target="/ppt/notesSlides/notesSlide3.xml" Id="R15134c2652c5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617b3379d4d9d" /><Relationship Type="http://schemas.openxmlformats.org/officeDocument/2006/relationships/chart" Target="/ppt/slides/charts/chart3.xml" Id="Rb38422cb51404601" /><Relationship Type="http://schemas.openxmlformats.org/officeDocument/2006/relationships/notesSlide" Target="/ppt/notesSlides/notesSlide4.xml" Id="R638fd0c6b71545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e727cce19d460e" /><Relationship Type="http://schemas.openxmlformats.org/officeDocument/2006/relationships/chart" Target="/ppt/slides/charts/chart4.xml" Id="Re7b0ca78ac4542e2" /><Relationship Type="http://schemas.openxmlformats.org/officeDocument/2006/relationships/notesSlide" Target="/ppt/notesSlides/notesSlide5.xml" Id="R6192ba28269e48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467800a4ae4bb2" /><Relationship Type="http://schemas.openxmlformats.org/officeDocument/2006/relationships/notesSlide" Target="/ppt/notesSlides/notesSlide6.xml" Id="R525396a7615e42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5effa57e8f4246" /><Relationship Type="http://schemas.openxmlformats.org/officeDocument/2006/relationships/chart" Target="/ppt/slides/charts/chart5.xml" Id="Rbb43b0b786134b1a" /><Relationship Type="http://schemas.openxmlformats.org/officeDocument/2006/relationships/notesSlide" Target="/ppt/notesSlides/notesSlide7.xml" Id="R44c55936920c48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d72c0c81094fd5" /><Relationship Type="http://schemas.openxmlformats.org/officeDocument/2006/relationships/notesSlide" Target="/ppt/notesSlides/notesSlide8.xml" Id="Rf00fac5736a642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47a240c7684ae6" /><Relationship Type="http://schemas.openxmlformats.org/officeDocument/2006/relationships/notesSlide" Target="/ppt/notesSlides/notesSlide9.xml" Id="R5efd522dbd2a47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d2625baa1f483b" /><Relationship Type="http://schemas.openxmlformats.org/officeDocument/2006/relationships/notesSlide" Target="/ppt/notesSlides/notesSlide10.xml" Id="R10b31018605a47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9d70e1099f4a9d" /><Relationship Type="http://schemas.openxmlformats.org/officeDocument/2006/relationships/chart" Target="/ppt/slides/charts/chart6.xml" Id="R0fb1318baa784410" /><Relationship Type="http://schemas.openxmlformats.org/officeDocument/2006/relationships/notesSlide" Target="/ppt/notesSlides/notesSlide11.xml" Id="Rd7105e970a1845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83ff578ddc4ce6" /><Relationship Type="http://schemas.openxmlformats.org/officeDocument/2006/relationships/notesSlide" Target="/ppt/notesSlides/notesSlide12.xml" Id="R941bf4abc38a41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d415f6c5e4203" /><Relationship Type="http://schemas.openxmlformats.org/officeDocument/2006/relationships/notesSlide" Target="/ppt/notesSlides/notesSlide13.xml" Id="Rffd02044656c4e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8e2e723a8d4bb8" /><Relationship Type="http://schemas.openxmlformats.org/officeDocument/2006/relationships/notesSlide" Target="/ppt/notesSlides/notesSlide14.xml" Id="R7619f631b6cc43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90054392be4d80" /><Relationship Type="http://schemas.openxmlformats.org/officeDocument/2006/relationships/notesSlide" Target="/ppt/notesSlides/notesSlide15.xml" Id="Rdc6dd819445c488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Used capacity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CPU used</c:v>
                </c:pt>
                <c:pt idx="1">
                  <c:v>Memory used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Existing VMs</c:v>
          </c:tx>
          <c:spPr>
            <a:solidFill xmlns:a="http://schemas.openxmlformats.org/drawingml/2006/main">
              <a:srgbClr val="2F5D8A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Data'!$B$2:$B$4</c:f>
              <c:numCache>
                <c:formatCode>0"%"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v>New VM</c:v>
          </c:tx>
          <c:spPr>
            <a:solidFill xmlns:a="http://schemas.openxmlformats.org/drawingml/2006/main">
              <a:srgbClr val="C46A1D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Data'!$D$2:$D$4</c:f>
              <c:numCache>
                <c:formatCode>0"%"</c:formatCode>
                <c:ptCount val="3"/>
                <c:pt idx="0">
                  <c:v>25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v>CPU left</c:v>
          </c:tx>
          <c:spPr>
            <a:solidFill xmlns:a="http://schemas.openxmlformats.org/drawingml/2006/main">
              <a:srgbClr val="DCE8F2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Data'!$F$2:$F$4</c:f>
              <c:numCache>
                <c:formatCode>0"%"</c:formatCode>
                <c:ptCount val="3"/>
                <c:pt idx="0">
                  <c:v>0</c:v>
                </c:pt>
                <c:pt idx="1">
                  <c:v>50</c:v>
                </c:pt>
                <c:pt idx="2">
                  <c:v>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233142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Empty hosts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Mix short/long VMs</c:v>
                </c:pt>
                <c:pt idx="1">
                  <c:v>Use departure times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Empty hosts after 1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Hours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Expected lifetime</c:v>
                </c:pt>
                <c:pt idx="1">
                  <c:v>Observed lifetime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1</c:v>
                </c:pt>
                <c:pt idx="1">
                  <c:v>100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LAVA</c:v>
          </c:tx>
          <c:spPr>
            <a:ln xmlns:a="http://schemas.openxmlformats.org/drawingml/2006/main" w="28575">
              <a:solidFill>
                <a:srgbClr val="173F70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173F70"/>
              </a:solidFill>
            </c:spPr>
          </c:marker>
          <c:xVal>
            <c:numRef>
              <c:f>'Chart Data'!$A$2:$A$6</c:f>
              <c:numCache>
                <c:formatCode>General</c:formatCode>
                <c:ptCount val="5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85</c:v>
                </c:pt>
                <c:pt idx="4">
                  <c:v>100</c:v>
                </c:pt>
              </c:numCache>
            </c:numRef>
          </c:xVal>
          <c:yVal>
            <c:numRef>
              <c:f>'Chart Data'!$B$2:$B$6</c:f>
              <c:numCache>
                <c:formatCode>+0.0;-0.0;0.0</c:formatCode>
                <c:ptCount val="5"/>
                <c:pt idx="0">
                  <c:v>-0.187341</c:v>
                </c:pt>
                <c:pt idx="1">
                  <c:v>-0.024956</c:v>
                </c:pt>
                <c:pt idx="2">
                  <c:v>0.218113</c:v>
                </c:pt>
                <c:pt idx="3">
                  <c:v>0.309255</c:v>
                </c:pt>
                <c:pt idx="4">
                  <c:v>0.507059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6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Gain in empty-host time (pp)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+0.0;-0.0;0.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00"/>
          <c:min val="2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Prediction accuracy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Predicted hours remaining</c:v>
          </c:tx>
          <c:spPr>
            <a:solidFill xmlns:a="http://schemas.openxmlformats.org/drawingml/2006/main">
              <a:srgbClr val="7B8591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2F5D8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Treat cap as exact</c:v>
                </c:pt>
                <c:pt idx="1">
                  <c:v>Use cap information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36</c:v>
                </c:pt>
                <c:pt idx="1">
                  <c:v>151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6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B29A1-5944-47C4-B334-66CE8BB0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8B486-C203-48FC-AC56-AB18F055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5953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Revisiting Lifetime-Aware</a:t>
            </a:r>
          </a:p>
          <a:p xmlns:a="http://schemas.openxmlformats.org/drawingml/2006/main">
            <a: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Allocation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9562F-8A3E-42C8-A019-53BDE992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953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How prediction quality changes</a:t>
            </a:r>
          </a:p>
          <a:p xmlns:a="http://schemas.openxmlformats.org/drawingml/2006/main">
            <a: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server packing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A39F3-7B1A-4049-B970-BD0D401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5953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Can better lifetime estimates help</a:t>
            </a:r>
          </a:p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when predictions are wrong?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9D436-E856-498D-981E-5DCD3D6F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595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Course Project · 26S1 Group 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32BE5-D9B2-4A1D-A9D6-2D32A7EC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Saining (G2511061H)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C5DF2-187A-44A2-BCE8-4AC1BCB4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saining002@e.ntu.edu.sg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873DE-AF32-4EBA-A6EF-93C43A2F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Qi (G2510784F)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DA403-AFD1-473B-9067-99BA8699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qi015@e.ntu.edu.sg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4456A9-D47C-427C-BE18-2A29C4D3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Zheng Yitao (G2608664B)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7995A-BEDB-4AB3-894A-73B90A2B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YZHENG056@e.ntu.edu.sg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35B5A-733B-48FA-9F07-62C1FEADA7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13b877eb401a"/>
          <a:stretch xmlns:a="http://schemas.openxmlformats.org/drawingml/2006/main"/>
        </p:blipFill>
        <p:spPr>
          <a:xfrm xmlns:a="http://schemas.openxmlformats.org/drawingml/2006/main">
            <a:off x="7164731" y="1647825"/>
            <a:ext cx="4682437" cy="3409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572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C68AC-0FBC-4512-886B-A6CB91EC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Virtual machines and physical hosts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35F3E-35EC-4798-BDE3-84ECE6E5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17988-D7CE-4A15-8B79-9FA4CE4B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D7DE1-2A9C-445B-8C48-4FB8C978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DA814-8B3B-4765-A977-FC2B74D6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= a small virtual computer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E0455-AA8C-492F-AC83-F9E466F5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 = the physical server</a:t>
            </a:r>
          </a:p>
          <a:p xmlns:a="http://schemas.openxmlformats.org/drawingml/2006/main">
            <a:pPr algn="l">
              <a:defRPr sz="210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that runs several VMs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8D21B-2866-43E5-9CFA-168122F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561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new VM needs both CPU and memory.</a:t>
            </a:r>
          </a:p>
          <a:p xmlns:a="http://schemas.openxmlformats.org/drawingml/2006/main">
            <a: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Free CPU alone is not enough.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36136-20AD-4C2E-A738-4C11AC7E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4307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full-memory example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717277AE-6D81-406A-8FA5-EEAD01FC8AD1}"/>
              </a:ext>
            </a:extLst>
          </p:cNvPr>
          <p:cNvGraphicFramePr/>
          <p:nvPr/>
        </p:nvGraphicFramePr>
        <p:xfrm>
          <a:off xmlns:a="http://schemas.openxmlformats.org/drawingml/2006/main" x="6619875" y="228600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75569aae254f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CA5CC-A1E4-4D0D-807E-451321FA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3721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capacity values</a:t>
            </a:r>
          </a:p>
        </p:txBody>
      </p:sp>
    </p:spTree>
    <p:extLst>
      <p:ext uri="{BB962C8B-B14F-4D97-AF65-F5344CB8AC3E}">
        <p14:creationId xmlns:p14="http://schemas.microsoft.com/office/powerpoint/2010/main" val="20562382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3DDE07-771D-4530-A1A3-5F7C5E4B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Best-Fit: pack into the tightest feasible 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F1E43-B653-4DAC-826E-9AE2C22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Baseline means the method we compare everything against.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3E938-7D5B-4C0C-9153-2814DBC6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F1771F-6B6A-45EF-9BBC-C5C0F648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FB36C-280C-44B6-B43D-B54EABED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EABBA-4B22-449A-93F9-716A179F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New VM: 25% CPU and 12.5% memory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735184E-0FE3-4BF9-96CB-B97667D18777}"/>
              </a:ext>
            </a:extLst>
          </p:cNvPr>
          <p:cNvGraphicFramePr/>
          <p:nvPr/>
        </p:nvGraphicFramePr>
        <p:xfrm>
          <a:off xmlns:a="http://schemas.openxmlformats.org/drawingml/2006/main" x="685800" y="2619375"/>
          <a:ext xmlns:a="http://schemas.openxmlformats.org/drawingml/2006/main" cx="10820400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668b9cd8a44b8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9A17B-5F17-4CA8-8E01-BDFEE8F7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is the tightest feasible fit. C has no CPU space for the new VM.</a:t>
            </a:r>
          </a:p>
        </p:txBody>
      </p:sp>
    </p:spTree>
    <p:extLst>
      <p:ext uri="{BB962C8B-B14F-4D97-AF65-F5344CB8AC3E}">
        <p14:creationId xmlns:p14="http://schemas.microsoft.com/office/powerpoint/2010/main" val="823729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A9CD0-3461-4376-8281-7880A599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Why the time until departure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B49D7-E87B-4B55-A247-B544EF8E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LAVA means Lifetime-Aware VM Allocation.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BDD9A-E5F9-4338-9C2E-5E599B4A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199EF-7945-4AEF-B21B-A263EF72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B822A-EF96-4834-BE20-0CE6B57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B2C0-2EEC-4AF8-8669-F43B62D0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763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Same four VMs: two finish after 1 h, two after 10 h. Each host fits two.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DBEE076-16A4-438A-928E-19392A48F898}"/>
              </a:ext>
            </a:extLst>
          </p:cNvPr>
          <p:cNvGraphicFramePr/>
          <p:nvPr/>
        </p:nvGraphicFramePr>
        <p:xfrm>
          <a:off xmlns:a="http://schemas.openxmlformats.org/drawingml/2006/main" x="685800" y="2724150"/>
          <a:ext xmlns:a="http://schemas.openxmlformats.org/drawingml/2006/main" cx="10820400" cy="2628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422cb5140460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0864E-DF51-4C06-ADCD-EB997A47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One host can empty earlier when departures line 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476E7-A94B-48EA-ACC2-031CC722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data, not the full LAVA rule. LAVA also uses host states and re-prediction.</a:t>
            </a:r>
          </a:p>
        </p:txBody>
      </p:sp>
    </p:spTree>
    <p:extLst>
      <p:ext uri="{BB962C8B-B14F-4D97-AF65-F5344CB8AC3E}">
        <p14:creationId xmlns:p14="http://schemas.microsoft.com/office/powerpoint/2010/main" val="4838427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B8634-0262-41A9-8636-FAC2A916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wrong short prediction can delay an empty host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5767D-4317-413E-90BC-1FF00EA3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A long-running VM can keep the host busy after the others leave.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9B845-45DD-4BDB-816C-5D0359C4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7D945-9C8A-41A0-93CE-CEDDAA04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1A0E0-30D1-4340-8528-43FA3B7F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5 / 15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506C6EDC-8E71-44F5-8110-64395F2A6A40}"/>
              </a:ext>
            </a:extLst>
          </p:cNvPr>
          <p:cNvGraphicFramePr/>
          <p:nvPr/>
        </p:nvGraphicFramePr>
        <p:xfrm>
          <a:off xmlns:a="http://schemas.openxmlformats.org/drawingml/2006/main" x="685800" y="240030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0ca78ac4542e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9F945-7206-4136-BA41-A9E3D315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host remains occupied much longer than expected.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F23CF-42F9-46BB-9852-D8ED1B79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Illustrative example, not an experimental trace</a:t>
            </a:r>
          </a:p>
        </p:txBody>
      </p:sp>
    </p:spTree>
    <p:extLst>
      <p:ext uri="{BB962C8B-B14F-4D97-AF65-F5344CB8AC3E}">
        <p14:creationId xmlns:p14="http://schemas.microsoft.com/office/powerpoint/2010/main" val="439276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C50AE-3E9B-46D9-8076-F42A1C59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fair comparison uses the same incoming VMs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548D0-CA2D-4BB9-8E3E-7F3BFA92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We simulate each workload once, then give it to every scheduler.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9714C-8D24-46C9-A76B-6065DCED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16020-E6FD-481B-8CE3-09BDCD08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A4713-AAD9-4443-800D-7A3F3F77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6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DA960-2DBC-4BE7-BF3F-304C897D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Same requests</a:t>
            </a:r>
          </a:p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and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251DE-0ADE-4BAB-A7E3-8EC4E962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526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Best-Fit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F322E-8777-47F4-A80E-2018F5A9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71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52283-7DCA-47DE-9E9C-C294CAF4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051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5DCFE-85E0-4556-87AE-4CAD5578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F54A6-4173-4608-BB01-5E2A70C2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57625"/>
            <a:ext cx="552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LAVA with the new predictor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65FE5-10D7-4DA6-848E-F90E6D32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18144-7F15-4DC3-93FA-7C131015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physical hosts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2B1EFD-5D87-4E99-9E7E-A7BDC0E6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2,500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7BD2A-DEDA-456B-BEEA-0F2C4DA9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VMs per 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E9830-DF86-4490-9B1E-46FAA83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672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CC75D-9CC6-4E58-90E8-3EC0393D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86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new test workloads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0D78B8-03C5-42ED-9FB8-5454D386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Goal: more time with completely empty hosts, while admitting every VM.</a:t>
            </a:r>
          </a:p>
        </p:txBody>
      </p:sp>
    </p:spTree>
    <p:extLst>
      <p:ext uri="{BB962C8B-B14F-4D97-AF65-F5344CB8AC3E}">
        <p14:creationId xmlns:p14="http://schemas.microsoft.com/office/powerpoint/2010/main" val="2438046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9B67D-78CD-44D5-B445-C2FF7AFB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Poor lifetime predictions can make LAVA worse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6127D-C403-421E-BF34-5B71E032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Gain over Best-Fit on 100 new test workloads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32491-4E29-4E3F-91FA-1A5B229E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9924A-8766-4AFB-87EA-46C7341D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E0FB1-4D87-4AE0-9EBD-1FCB0DC3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7 / 15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3292739B-5772-496C-8944-C366C2F5DC5B}"/>
              </a:ext>
            </a:extLst>
          </p:cNvPr>
          <p:cNvGraphicFramePr/>
          <p:nvPr/>
        </p:nvGraphicFramePr>
        <p:xfrm>
          <a:off xmlns:a="http://schemas.openxmlformats.org/drawingml/2006/main" x="685800" y="2057400"/>
          <a:ext xmlns:a="http://schemas.openxmlformats.org/drawingml/2006/main" cx="79057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43b0b786134b1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80095-D5CC-433E-B1B1-CD448616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383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25%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A2F6-A158-4053-8EBC-F2BD2318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479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-0.187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B3257-3974-4E8C-92C7-6241BBEC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004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100%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900FF-F761-43F6-ADF2-5CE39CDB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+0.507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DE2733-4778-42CA-8A5D-CBDBAD3A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A6573"/>
                </a:solidFill>
                <a:latin typeface="Aptos"/>
                <a:ea typeface="Aptos"/>
                <a:cs typeface="Aptos"/>
              </a:rPr>
              <a:t>Accuracy = probability of a near-correct estimate in this controlled test.</a:t>
            </a:r>
          </a:p>
          <a:p xmlns:a="http://schemas.openxmlformats.org/drawingml/2006/main">
            <a:pPr algn="l">
              <a:defRPr sz="150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A6573"/>
                </a:solidFill>
                <a:latin typeface="Aptos"/>
                <a:ea typeface="Aptos"/>
                <a:cs typeface="Aptos"/>
              </a:rPr>
              <a:t>pp: 10.0% to 10.2% empty-host time is +0.2 percentage points.</a:t>
            </a:r>
          </a:p>
        </p:txBody>
      </p:sp>
    </p:spTree>
    <p:extLst>
      <p:ext uri="{BB962C8B-B14F-4D97-AF65-F5344CB8AC3E}">
        <p14:creationId xmlns:p14="http://schemas.microsoft.com/office/powerpoint/2010/main" val="19728201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B096F-4C3C-4FB0-AE68-B492F3A9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Can confidence choose the scheduler?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7E040-38A5-49AB-B2DC-821AB2BD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Confidence is the probability of the estimated lifetime group.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ECCCB-7F02-455B-9E57-4EC05E54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C3A23-45B9-4972-AA40-A61A997A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3C1D5-5EC8-4940-A914-DB98D490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8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D1E6A-AA4D-436B-AC8D-F8166BC8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Use LAVA if confidence is at least 0.3. Otherwise use Best-Fit.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D4C82-038C-419E-9F76-D2EA7D3A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VM-level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FF923-17EC-4A0F-AF87-C48AC0B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765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Host-level routing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DEE04-4707-4136-9F04-BF24E96F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Each arrival chooses a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3B646-1931-467B-9EBA-EE669CB6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576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Each arrival chooses a pool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6792E-EAA0-4621-99BB-0DACBC68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9102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LAVA or Best-Fit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06E0C-53E9-49C6-BA6D-B77B4A53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3B3716-BA2F-4444-AE1E-FF29E2B3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One shared set of hosts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2F0C0-7AC1-42B6-B0A3-C6769373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9102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LAVA pool or Best-Fit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FC2A9-391E-4F98-B554-1DE75BA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97205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8E3E2E-B1EC-411E-BE58-9E44374D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2863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Keep the two modes separate</a:t>
            </a:r>
          </a:p>
        </p:txBody>
      </p:sp>
    </p:spTree>
    <p:extLst>
      <p:ext uri="{BB962C8B-B14F-4D97-AF65-F5344CB8AC3E}">
        <p14:creationId xmlns:p14="http://schemas.microsoft.com/office/powerpoint/2010/main" val="1684213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4C6A1-A3F4-4F44-832C-C079FDDC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Routing does not solve the problem here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771F7-4A9F-4899-B7BC-C70D1AF5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11A00-31B0-48A1-8377-95C30305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17288-5642-4A98-833F-47DCA471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F26B1-7837-4E9A-A7D7-D9BA5B7B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B9D36-1C9C-4BC9-B27F-9764AC76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68592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trust score can be misleading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D05DA-CD32-4CF8-A73D-6B01F92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3360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 usually short-lived profile gets low confidence.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7B49A-64FA-473B-9894-342E39E1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D99D9A-8342-4E20-B65F-1D7D35BE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8607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gate can miss the bad estimates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4D366-A465-4088-B33A-874BBC7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Under controlled noise, almost every request passes.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61988-90D0-477B-BB25-FEB557E3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F1F89-32DB-40CB-A707-00390353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8622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Separate pools reduce packing freedom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CCF9C-4E39-47DE-8CE3-4EC0FAA7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An empty slot in the other pool may go unused.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DCF20E-DA56-4C24-A655-7BFC9359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Host-CA minus Best-Fit: -0.090 pp (default predictor)</a:t>
            </a:r>
          </a:p>
        </p:txBody>
      </p:sp>
    </p:spTree>
    <p:extLst>
      <p:ext uri="{BB962C8B-B14F-4D97-AF65-F5344CB8AC3E}">
        <p14:creationId xmlns:p14="http://schemas.microsoft.com/office/powerpoint/2010/main" val="12383246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C11C2-61A9-4A3B-AE3B-067B39AB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Use usual behavior to judge a noisy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32AB0-7E93-4852-8FF5-8DB97B29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Bayesian fusion combines prior knowledge with a new estimate.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F9C71-6871-4FFE-BC3B-849660A6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D746F-C41A-496C-B16D-EE26A5E0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76173-AD74-493F-84D1-5672538A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10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13C02-E849-48CE-884C-E14AF8F9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Usual 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98409-F00C-45D8-B560-F3063737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38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noisy estimate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EE667-E596-4D87-887E-698D79EA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Updated estimate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B8ADF-BDB5-43B9-8412-BB2226E3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This profile is</a:t>
            </a:r>
          </a:p>
          <a:p xmlns:a="http://schemas.openxmlformats.org/drawingml/2006/main">
            <a: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usually short-lived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C5438-DCFF-44C4-BACB-4E239B83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19425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defPPr>
            <a:lvl1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1pPr>
            <a:lvl2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2pPr>
            <a:lvl3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3pPr>
            <a:lvl4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4pPr>
            <a:lvl5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5pPr>
            <a:lvl6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6pPr>
            <a:lvl7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7pPr>
            <a:lvl8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8pPr>
            <a:lvl9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975" b="1">
                <a:solidFill>
                  <a:srgbClr val="C46A1D"/>
                </a:solidFill>
                <a:latin typeface="Aptos"/>
                <a:ea typeface="Aptos"/>
                <a:cs typeface="Aptos"/>
              </a:defRPr>
            </a:pPr>
            <a:r>
              <a:rPr sz="3975" b="1">
                <a:solidFill>
                  <a:srgbClr val="C46A1D"/>
                </a:solidFill>
                <a:latin typeface="Aptos"/>
                <a:ea typeface="Aptos"/>
                <a:cs typeface="Aptos"/>
              </a:rPr>
              <a:t>300 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41346-E334-4218-B7D4-B9FE4802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19425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9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9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1.52 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9AFDB-02E2-474B-9302-BC4F057F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Typical profile mean: 1.07 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57FC2-3635-41C9-9D94-DDF3F26E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Only the predictor changes. The scheduling rules stay the same.</a:t>
            </a:r>
          </a:p>
        </p:txBody>
      </p:sp>
    </p:spTree>
    <p:extLst>
      <p:ext uri="{BB962C8B-B14F-4D97-AF65-F5344CB8AC3E}">
        <p14:creationId xmlns:p14="http://schemas.microsoft.com/office/powerpoint/2010/main" val="16123245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31470-1305-49C1-A5EF-9DD70064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VM that is still running gives new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00D5B-067A-4278-AE83-3B1B886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We update the estimate as uptime increases.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F2C8D-A373-4B7B-8858-3B1005E0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CC4E1-03FC-4349-BC3E-BDD85784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81F68-2747-43AA-9897-FE0EB15C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11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3ADB0-D82E-4320-8E36-CD9AAFB4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The 336 h limit hides how large the noisy estimate was.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F9570-DCC3-4801-A4F5-61832877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765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Example at 100% accuracy: capped at 336 h; already running for 300 h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C23759D1-E217-4465-A704-838E1BC5907E}"/>
              </a:ext>
            </a:extLst>
          </p:cNvPr>
          <p:cNvGraphicFramePr/>
          <p:nvPr/>
        </p:nvGraphicFramePr>
        <p:xfrm>
          <a:off xmlns:a="http://schemas.openxmlformats.org/drawingml/2006/main" x="685800" y="3714750"/>
          <a:ext xmlns:a="http://schemas.openxmlformats.org/drawingml/2006/main" cx="10820400" cy="2000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b1318baa784410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5FDAB-86C4-4385-8ECE-68A96802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updated estimate can allow a longer remaining life.</a:t>
            </a:r>
          </a:p>
        </p:txBody>
      </p:sp>
    </p:spTree>
    <p:extLst>
      <p:ext uri="{BB962C8B-B14F-4D97-AF65-F5344CB8AC3E}">
        <p14:creationId xmlns:p14="http://schemas.microsoft.com/office/powerpoint/2010/main" val="636989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FC7A4A-37B4-4B91-8FAB-2DF2680F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Prior fusion wins 3 of 4 tests against LAVA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3DBA7-A22D-4307-8CE5-6B43E059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The registered variant uses the fused predictor and confidence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D6170-6727-4971-978E-6F407F52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47D82-28C8-43FC-BB54-5A720447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6112A4-8DC8-4CAB-A071-944389A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12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208A3-C75E-4162-8CF0-ADDDADC6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Compared with LAVA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CB4AC-2EED-41B1-8BFF-5B39E29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669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Compared with Best-Fit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0D796-D1AE-4121-A122-A1175141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823" y="2762250"/>
            <a:ext cx="0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B859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CF370-1E5A-41C9-8622-AE4C7A45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367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CAA0AA-2AA4-462E-82DE-C4D99963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060" y="2876550"/>
            <a:ext cx="7601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30531-369C-4D6E-BC01-E9CD3A14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060" y="280987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D28A3-6AC3-47EA-A2E9-B18D7CC4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198" y="280987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01337-D3CC-4BCC-BDFF-06E5AA48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979" y="2819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E3C96-28D9-424D-9FCB-13889FE9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F8699-C54C-4C9F-A6B4-894B20DD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243" y="3419475"/>
            <a:ext cx="87578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2DED90-820D-4C85-BB78-7CA8A792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243" y="33528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D4B8D-0E27-4528-A834-B45AE0C0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030" y="33528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6B762-8954-4D97-8EA1-5E01145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986" y="3362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96CEA-B20A-4161-AC80-A7F7EC04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75%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93493-3147-421F-B95E-2064357C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731" y="3962400"/>
            <a:ext cx="8226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7B859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869028-D535-4AC5-B112-5C8355A1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731" y="389572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B859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394B3-BB55-4629-BC98-7A5FF328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21" y="389572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B859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26AB0D-14D5-42EC-A131-D7CD249A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926" y="3905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B85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BDD69F-BB52-40C1-9908-20787A7A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85%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9454F8-1AC4-4A0A-9E3A-F4CD2E39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9951" y="4505325"/>
            <a:ext cx="7661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CBAD3-2BA0-4C33-8EC0-FFEEA8DD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9951" y="443865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3F4929-3D61-4316-B318-9E28E18F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136" y="443865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929CA1-1047-4677-8FC7-316BD5A8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893" y="44481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3D90E8-DBB9-4BD0-9951-9EFA7710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24450"/>
            <a:ext cx="411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75DAF1-7C78-48A5-826B-B748664F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273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79E090-6FDE-4B60-B4CA-E4F2CD6C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418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15EEA6-79C8-4EC2-93B1-ADFE33C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64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206801-1554-4A1A-8554-A434C96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709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5A9DAE-4306-473C-B7C5-3A219D8F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855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61145D-D0C2-46E4-BA18-1FB5A8DE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CF70C5-F067-4CD4-BE01-FF3F2D5B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14975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Gain in empty-host time (pp)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65617-3D91-4194-BB64-D65A8817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223" y="2762250"/>
            <a:ext cx="0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B859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FD00B8-FD0D-49D8-B08C-D94FFAF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3367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CE1A7E-2624-4DE9-87BA-8C431C86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884" y="2876550"/>
            <a:ext cx="7301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7B859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E144DF-FC4B-4C68-9C50-75AF6494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884" y="280987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B859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273999-795C-4A6E-AD4A-61BF9F50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011" y="280987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B859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1E6C57-274E-4682-80EF-929DE6F8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97" y="2819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B85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F1B5E3-DB0B-44B2-8262-63A5C3D2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7660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AE6D39-A933-4111-AD52-E604A1DA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440" y="3419475"/>
            <a:ext cx="8667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23886E-0184-4CA9-ACA7-44E422AA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440" y="33528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9BBBCF6-CFB9-4ABC-8833-A03F51E8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220" y="33528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96136F-E107-4025-A5BD-4841E8DD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3680" y="3362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8C587B-8C8D-4529-9C1A-5BA18119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95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75%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149E1C2-ED1A-4900-AF2A-F320D59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3181" y="3962400"/>
            <a:ext cx="8202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CA1FE6-0F04-49C5-8BD7-A41A8F22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3181" y="389572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E107FDD-6E82-4E79-BDB0-F8063600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382" y="3895725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C3769E-B82F-4921-B372-A69E1C41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131" y="3905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A60D9B-C957-403D-BF70-D5119360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624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85%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BEBF739-0B0E-417F-B7AA-D2747D8C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8436" y="4505325"/>
            <a:ext cx="89136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718">
            <a:solidFill>
              <a:srgbClr val="2F5D8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D1D1037-5B30-4F75-ABD7-85D10D54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8436" y="443865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FB951B-2CC4-41A4-95EC-49FF706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9805" y="443865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5D8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D764E7-95DD-486B-9470-51B7F5D5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6970" y="44481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905A0F4-F6CA-4E11-A6D1-F0EBBC33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24450"/>
            <a:ext cx="411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2F3DE8A-D341-4800-B5FF-E2A7E859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0673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F46328-F01D-44BD-A0D8-DC382EE4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818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B5000F2-E248-4FB1-8114-DFAD6FE7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964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5672AF-8BEB-4061-9FC1-C17D5645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109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769085-0892-403B-8E4F-4D395BBB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3255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9E48AF-95C5-43B0-9D51-89FCC6E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0.5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1254801-F558-41A5-A8D3-A489BF93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514975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Gain in empty-host time (pp)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CCDDE3-B2AF-49C6-B8F3-4B9FD559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Gray = not confirmed: 75% vs LAVA, and 25% vs Best-Fit.</a:t>
            </a:r>
          </a:p>
        </p:txBody>
      </p:sp>
    </p:spTree>
    <p:extLst>
      <p:ext uri="{BB962C8B-B14F-4D97-AF65-F5344CB8AC3E}">
        <p14:creationId xmlns:p14="http://schemas.microsoft.com/office/powerpoint/2010/main" val="10814074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AF7E2-9A62-4DB2-BCBA-1BEB6305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estimate appears to carry most of the gain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9E49D-BB06-4A63-AD17-75AE444E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A6573"/>
                </a:solidFill>
                <a:latin typeface="Aptos"/>
                <a:ea typeface="Aptos"/>
                <a:cs typeface="Aptos"/>
              </a:rPr>
              <a:t>Later analysis separates better prediction from the routing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B237E-A180-4F37-90A4-56985720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49CFF-7FA1-4232-9882-DCE685CD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B1F8D-1D39-4A37-A263-A6CE7669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E07561-F00B-4900-A4D2-75E8E77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Same fused predictor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1456A-476B-4E05-A561-898B0BEA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Compare it with and without the confidence gate.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48998-2355-430C-8925-A9BE3D55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Extra effect of adding the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D9DF2-B559-4D4B-B26E-29033CD9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8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38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-0.018 to +0.011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B9BD2-B77E-4D5E-883D-49AB1076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No clear extra gain from the gate in these tests.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6BB89-A259-49ED-83B8-D766E658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Exploratory analysis, not a registered claim</a:t>
            </a:r>
          </a:p>
        </p:txBody>
      </p:sp>
    </p:spTree>
    <p:extLst>
      <p:ext uri="{BB962C8B-B14F-4D97-AF65-F5344CB8AC3E}">
        <p14:creationId xmlns:p14="http://schemas.microsoft.com/office/powerpoint/2010/main" val="96226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3364F-99C4-42A8-9349-67F984A8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prior that is too short can erase the benefit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72BC9-24FB-46B9-9692-C9E013AD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83FFA-2166-472E-882B-359A4740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D766B-09FF-475C-957A-17EDD3FE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49647-9CD1-4A82-BFB5-9A9C8EFF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wrong prior can discount a correct long-lifetime estimate.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EEB3E-524E-4EA8-9454-83696E2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Prior means cut in half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07B61-0A70-43BD-B0ED-BC57257F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85% prediction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68367-5410-4377-841F-673BFEE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00350"/>
            <a:ext cx="4572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-0.116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5C4F9-8381-426D-9454-C1FE93FC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compared with LAVA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91FA1-A580-45C8-B72C-10BEDBA3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Real priors need historical data and checks for changing workloads.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297EC-DBAF-4AE1-9635-235447C5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One exploratory robustness case, 50 test workloads</a:t>
            </a:r>
          </a:p>
        </p:txBody>
      </p:sp>
    </p:spTree>
    <p:extLst>
      <p:ext uri="{BB962C8B-B14F-4D97-AF65-F5344CB8AC3E}">
        <p14:creationId xmlns:p14="http://schemas.microsoft.com/office/powerpoint/2010/main" val="17689206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A9F6F3-8B05-46DB-AC8F-AD2EFFA8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What should we remember?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84642-26AB-4D46-8508-3DB8E7C9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E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D7D55-6D88-4334-ADE6-15B2763F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21872-06E5-4D78-95E4-B867C0F3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865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1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A6573"/>
                </a:solidFill>
                <a:latin typeface="Aptos"/>
                <a:ea typeface="Aptos"/>
                <a:cs typeface="Aptos"/>
              </a:rPr>
              <a:t>15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D97BF-C1DC-4565-82F0-A81BC194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552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3B2F8-503B-405E-9F7D-3292216E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Poor predictions can hurt LAVA.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09372-B510-4F93-A693-B80ECB91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Routing did not fix the problem here.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4C020-FE94-475C-A97E-B749C7BA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Prior fusion beat LAVA in 3 of 4 planned tests.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B5090-8A62-43D5-AE03-F6F8EBF2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2877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Limits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90050-9445-4879-9819-F1048331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3241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Synthetic workloads, not production traces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20CC8-A99E-4357-B13D-62206619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004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Prior and error model assumed known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27450-2B8A-4096-8120-DEEFB478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07670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Local registration; exploratory robustness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09C05-96ED-43B5-8E24-1F47ED7F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Questions?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89F23-EA61-4D3B-8AF3-6FE3A0FF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387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Code, data and report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7D4C6-C09A-470F-8849-7F3A239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591175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F5D8A"/>
                </a:solidFill>
                <a:latin typeface="Aptos"/>
                <a:ea typeface="Aptos"/>
                <a:cs typeface="Aptos"/>
              </a:rPr>
              <a:t>github.com/xxxmian/</a:t>
            </a:r>
          </a:p>
          <a:p xmlns:a="http://schemas.openxmlformats.org/drawingml/2006/main">
            <a:pPr algn="l">
              <a:defRPr sz="1500" b="0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F5D8A"/>
                </a:solidFill>
                <a:latin typeface="Aptos"/>
                <a:ea typeface="Aptos"/>
                <a:cs typeface="Aptos"/>
              </a:rPr>
              <a:t>CE7490-P2_Revisiting_LAVA</a:t>
            </a:r>
          </a:p>
        </p:txBody>
      </p:sp>
    </p:spTree>
    <p:extLst>
      <p:ext uri="{BB962C8B-B14F-4D97-AF65-F5344CB8AC3E}">
        <p14:creationId xmlns:p14="http://schemas.microsoft.com/office/powerpoint/2010/main" val="359772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Zhang Saining; Zhang Qi; Zheng Yitao</dc:creator>
  <lastModifiedBy>Zhang Saining; Zhang Qi; Zheng Yitao</lastModifiedBy>
  <dc:title>Revisiting Lifetime-Aware VM Allocation - Beginner Presentation</dc:title>
  <dcterms:created xsi:type="dcterms:W3CDTF">2026-10-31T02:22:43.8540000Z</dcterms:created>
  <dcterms:modified xsi:type="dcterms:W3CDTF">2026-10-31T02:22:43.8540000Z</dcterms:modified>
</coreProperties>
</file>