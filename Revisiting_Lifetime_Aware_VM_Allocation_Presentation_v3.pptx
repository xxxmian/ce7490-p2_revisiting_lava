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5d7ba7a066de4c1e" Type="http://schemas.openxmlformats.org/officeDocument/2006/relationships/officeDocument" Target="ppt/presentation.xml"/><Relationship Id="R8009089c69b64aa3" Type="http://schemas.openxmlformats.org/officeDocument/2006/relationships/extended-properties" Target="docProps/app.xml"/><Relationship Id="Raed44361ec744414"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5a42b56cc9a44e12"/>
  </p:sldMasterIdLst>
  <p:notesMasterIdLst>
    <p:notesMasterId xmlns:r="http://schemas.openxmlformats.org/officeDocument/2006/relationships" r:id="Re635705f0f224b2b"/>
  </p:notesMasterIdLst>
  <p:sldIdLst>
    <p:sldId xmlns:ns0="http://schemas.openxmlformats.org/officeDocument/2006/relationships" id="256" ns0:id="rId7"/>
    <p:sldId xmlns:ns0="http://schemas.openxmlformats.org/officeDocument/2006/relationships" id="257" ns0:id="rId8"/>
    <p:sldId xmlns:ns0="http://schemas.openxmlformats.org/officeDocument/2006/relationships" id="258" ns0:id="rId9"/>
    <p:sldId xmlns:ns0="http://schemas.openxmlformats.org/officeDocument/2006/relationships" id="259" ns0:id="rId10"/>
    <p:sldId xmlns:ns0="http://schemas.openxmlformats.org/officeDocument/2006/relationships" id="260" ns0:id="rId11"/>
    <p:sldId xmlns:ns0="http://schemas.openxmlformats.org/officeDocument/2006/relationships" id="261" ns0:id="rId12"/>
    <p:sldId xmlns:ns0="http://schemas.openxmlformats.org/officeDocument/2006/relationships" id="262" ns0:id="rId13"/>
    <p:sldId xmlns:ns0="http://schemas.openxmlformats.org/officeDocument/2006/relationships" id="263" ns0:id="rId14"/>
    <p:sldId xmlns:ns0="http://schemas.openxmlformats.org/officeDocument/2006/relationships" id="264" ns0:id="rId15"/>
    <p:sldId xmlns:ns0="http://schemas.openxmlformats.org/officeDocument/2006/relationships" id="265" ns0:id="rId16"/>
    <p:sldId xmlns:ns0="http://schemas.openxmlformats.org/officeDocument/2006/relationships" id="266" ns0:id="rId17"/>
    <p:sldId xmlns:ns0="http://schemas.openxmlformats.org/officeDocument/2006/relationships" id="267" ns0:id="rId18"/>
    <p:sldId xmlns:ns0="http://schemas.openxmlformats.org/officeDocument/2006/relationships" id="268" ns0:id="rId19"/>
    <p:sldId xmlns:ns0="http://schemas.openxmlformats.org/officeDocument/2006/relationships" id="269" ns0:id="rId20"/>
    <p:sldId xmlns:ns0="http://schemas.openxmlformats.org/officeDocument/2006/relationships" id="270" ns0:id="rId21"/>
    <p:sldId xmlns:ns0="http://schemas.openxmlformats.org/officeDocument/2006/relationships" id="271" ns0:id="rId22"/>
    <p:sldId xmlns:ns0="http://schemas.openxmlformats.org/officeDocument/2006/relationships" id="272" ns0:id="rId23"/>
    <p:sldId xmlns:ns0="http://schemas.openxmlformats.org/officeDocument/2006/relationships" id="273" ns0:id="rId24"/>
    <p:sldId xmlns:ns0="http://schemas.openxmlformats.org/officeDocument/2006/relationships" id="274" ns0:id="rId25"/>
    <p:sldId xmlns:ns0="http://schemas.openxmlformats.org/officeDocument/2006/relationships" id="275" ns0:id="rId26"/>
    <p:sldId xmlns:ns0="http://schemas.openxmlformats.org/officeDocument/2006/relationships" id="276" ns0:id="rId27"/>
    <p:sldId xmlns:ns0="http://schemas.openxmlformats.org/officeDocument/2006/relationships" id="277" ns0:id="rId28"/>
  </p:sldIdLst>
  <p:sldSz cx="12191695"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3a5e2602f13b46be" Type="http://schemas.openxmlformats.org/officeDocument/2006/relationships/theme" Target="theme/theme1.xml"/><Relationship Id="R5a42b56cc9a44e12" Type="http://schemas.openxmlformats.org/officeDocument/2006/relationships/slideMaster" Target="slideMasters/slideMaster1.xml"/><Relationship Id="R7d854f0943a24e60" Type="http://schemas.openxmlformats.org/officeDocument/2006/relationships/tableStyles" Target="tableStyles.xml"/><Relationship Id="Re635705f0f224b2b" Type="http://schemas.openxmlformats.org/officeDocument/2006/relationships/notesMaster" Target="notesMasters/notesMaster1.xml"/><Relationship Id="Rea4d178a5abb4833" Type="http://schemas.openxmlformats.org/officeDocument/2006/relationships/viewProps" Target="viewProps.xml"/><Relationship Id="Rf78f4c5a891f475c" Type="http://schemas.openxmlformats.org/officeDocument/2006/relationships/presProps" Target="presProp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chart>
    <c:title>
      <c:tx>
        <c:rich>
          <a:bodyPr/>
          <a:lstStyle/>
          <a:p>
            <a:r>
              <a:rPr sz="1500" b="1" i="0">
                <a:solidFill>
                  <a:srgbClr val="233142"/>
                </a:solidFill>
                <a:latin typeface="Aptos"/>
                <a:ea typeface="Aptos"/>
                <a:cs typeface="Aptos"/>
              </a:rPr>
              <a:t>LAVA minus Best-Fit (pp), seeds 0–19</a:t>
            </a:r>
          </a:p>
        </c:rich>
      </c:tx>
      <c:layout/>
      <c:overlay val="0"/>
    </c:title>
    <c:plotArea>
      <c:scatterChart>
        <c:scatterStyle val="lineMarker"/>
        <c:varyColors val="0"/>
        <c:ser>
          <c:idx val="0"/>
          <c:order val="0"/>
          <c:tx>
            <c:strRef>
              <c:f>Sheet1!$B$1</c:f>
              <c:strCache>
                <c:ptCount val="1"/>
                <c:pt idx="0">
                  <c:v>LAVA − Best-Fit</c:v>
                </c:pt>
              </c:strCache>
            </c:strRef>
          </c:tx>
          <c:spPr>
            <a:ln w="28575">
              <a:solidFill>
                <a:srgbClr val="6B7785"/>
              </a:solidFill>
            </a:ln>
          </c:spPr>
          <c:marker>
            <c:symbol val="circle"/>
            <c:size val="8"/>
            <c:spPr>
              <a:solidFill>
                <a:srgbClr val="6B7785"/>
              </a:solidFill>
              <a:ln>
                <a:solidFill>
                  <a:srgbClr val="FFFFFF"/>
                </a:solidFill>
              </a:ln>
            </c:spPr>
          </c:marker>
          <c:errBars>
            <c:errDir val="y"/>
            <c:errBarType val="both"/>
            <c:errValType val="cust"/>
            <c:noEndCap val="0"/>
            <c:plus>
              <c:numLit>
                <c:formatCode>General</c:formatCode>
                <c:ptCount val="8"/>
                <c:pt idx="0">
                  <c:v>0.140888</c:v>
                </c:pt>
                <c:pt idx="1">
                  <c:v>0.142689</c:v>
                </c:pt>
                <c:pt idx="2">
                  <c:v>0.127875</c:v>
                </c:pt>
                <c:pt idx="3">
                  <c:v>0.152728</c:v>
                </c:pt>
                <c:pt idx="4">
                  <c:v>0.152623</c:v>
                </c:pt>
                <c:pt idx="5">
                  <c:v>0.148515</c:v>
                </c:pt>
                <c:pt idx="6">
                  <c:v>0.190036</c:v>
                </c:pt>
                <c:pt idx="7">
                  <c:v>0.132991</c:v>
                </c:pt>
              </c:numLit>
            </c:plus>
            <c:minus>
              <c:numLit>
                <c:formatCode>General</c:formatCode>
                <c:ptCount val="8"/>
                <c:pt idx="0">
                  <c:v>0.140888</c:v>
                </c:pt>
                <c:pt idx="1">
                  <c:v>0.142689</c:v>
                </c:pt>
                <c:pt idx="2">
                  <c:v>0.127875</c:v>
                </c:pt>
                <c:pt idx="3">
                  <c:v>0.152728</c:v>
                </c:pt>
                <c:pt idx="4">
                  <c:v>0.152623</c:v>
                </c:pt>
                <c:pt idx="5">
                  <c:v>0.148515</c:v>
                </c:pt>
                <c:pt idx="6">
                  <c:v>0.190036</c:v>
                </c:pt>
                <c:pt idx="7">
                  <c:v>0.132991</c:v>
                </c:pt>
              </c:numLit>
            </c:minus>
            <c:spPr>
              <a:ln w="15875">
                <a:solidFill>
                  <a:srgbClr val="6B7785"/>
                </a:solidFill>
              </a:ln>
            </c:spPr>
          </c:errBars>
          <c:xVal>
            <c:numRef>
              <c:f>Sheet1!$A$2:$A$9</c:f>
              <c:numCache>
                <c:formatCode>General</c:formatCode>
                <c:ptCount val="8"/>
                <c:pt idx="0">
                  <c:v>0.25</c:v>
                </c:pt>
                <c:pt idx="1">
                  <c:v>0.5</c:v>
                </c:pt>
                <c:pt idx="2">
                  <c:v>0.75</c:v>
                </c:pt>
                <c:pt idx="3">
                  <c:v>0.8</c:v>
                </c:pt>
                <c:pt idx="4">
                  <c:v>0.85</c:v>
                </c:pt>
                <c:pt idx="5">
                  <c:v>0.9</c:v>
                </c:pt>
                <c:pt idx="6">
                  <c:v>0.95</c:v>
                </c:pt>
                <c:pt idx="7">
                  <c:v>1.0</c:v>
                </c:pt>
              </c:numCache>
            </c:numRef>
          </c:xVal>
          <c:yVal>
            <c:numRef>
              <c:f>Sheet1!$B$2:$B$9</c:f>
              <c:numCache>
                <c:formatCode>General</c:formatCode>
                <c:ptCount val="8"/>
                <c:pt idx="0">
                  <c:v>-0.1406</c:v>
                </c:pt>
                <c:pt idx="1">
                  <c:v>0.0821</c:v>
                </c:pt>
                <c:pt idx="2">
                  <c:v>0.2746</c:v>
                </c:pt>
                <c:pt idx="3">
                  <c:v>0.2971</c:v>
                </c:pt>
                <c:pt idx="4">
                  <c:v>0.3943</c:v>
                </c:pt>
                <c:pt idx="5">
                  <c:v>0.422</c:v>
                </c:pt>
                <c:pt idx="6">
                  <c:v>0.4912</c:v>
                </c:pt>
                <c:pt idx="7">
                  <c:v>0.5093</c:v>
                </c:pt>
              </c:numCache>
            </c:numRef>
          </c:yVal>
          <c:smooth val="0"/>
        </c:ser>
        <c:axId val="-2128940872"/>
        <c:axId val="-2129643912"/>
      </c:scatterChart>
      <c:valAx>
        <c:axId val="-2128940872"/>
        <c:scaling>
          <c:orientation val="minMax"/>
          <c:max val="1.05"/>
          <c:min val="0.2"/>
        </c:scaling>
        <c:delete val="0"/>
        <c:axPos val="b"/>
        <c:title>
          <c:tx>
            <c:rich>
              <a:bodyPr/>
              <a:lstStyle/>
              <a:p>
                <a:r>
                  <a:rPr sz="1200" b="0" i="0">
                    <a:solidFill>
                      <a:srgbClr val="5A6573"/>
                    </a:solidFill>
                    <a:latin typeface="Aptos"/>
                    <a:ea typeface="Aptos"/>
                    <a:cs typeface="Aptos"/>
                  </a:rPr>
                  <a:t>Controlled prediction accuracy</a:t>
                </a:r>
              </a:p>
            </c:rich>
          </c:tx>
          <c:layout/>
          <c:overlay val="0"/>
        </c:title>
        <c:numFmt formatCode="0%" sourceLinked="0"/>
        <c:majorTickMark val="out"/>
        <c:minorTickMark val="none"/>
        <c:tickLblPos val="low"/>
        <c:spPr>
          <a:ln>
            <a:solidFill>
              <a:srgbClr val="9AA3AD"/>
            </a:solidFill>
          </a:ln>
        </c:spPr>
        <c:crossAx val="-2129643912"/>
        <c:crosses val="autoZero"/>
        <c:crossBetween val="midCat"/>
        <c:majorUnit val="0.2"/>
      </c:valAx>
      <c:valAx>
        <c:axId val="-2129643912"/>
        <c:scaling>
          <c:orientation val="minMax"/>
          <c:max val="0.8"/>
          <c:min val="-0.4"/>
        </c:scaling>
        <c:delete val="0"/>
        <c:axPos val="l"/>
        <c:majorGridlines>
          <c:spPr>
            <a:ln w="9525">
              <a:solidFill>
                <a:srgbClr val="D9DFE5"/>
              </a:solidFill>
            </a:ln>
          </c:spPr>
        </c:majorGridlines>
        <c:numFmt formatCode="+0.0;−0.0;0" sourceLinked="0"/>
        <c:majorTickMark val="out"/>
        <c:minorTickMark val="none"/>
        <c:tickLblPos val="nextTo"/>
        <c:spPr>
          <a:ln>
            <a:solidFill>
              <a:srgbClr val="D4D4D4"/>
            </a:solidFill>
          </a:ln>
        </c:spPr>
        <c:crossAx val="-2128940872"/>
        <c:crosses val="autoZero"/>
        <c:crossBetween val="midCat"/>
        <c:majorUnit val="0.2"/>
      </c:valAx>
      <c:spPr>
        <a:solidFill>
          <a:srgbClr val="FFFFFF"/>
        </a:solidFill>
      </c:spPr>
    </c:plotArea>
    <c:plotVisOnly val="1"/>
    <c:dispBlanksAs val="gap"/>
    <c:showDLblsOverMax val="0"/>
  </c:chart>
  <c:spPr>
    <a:solidFill>
      <a:srgbClr val="FFFFFF"/>
    </a:solidFill>
  </c:spPr>
  <c:txPr>
    <a:bodyPr/>
    <a:lstStyle/>
    <a:p>
      <a:pPr>
        <a:defRPr sz="1200">
          <a:solidFill>
            <a:srgbClr val="4A5562"/>
          </a:solidFill>
          <a:latin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500" b="1" i="0">
                <a:solidFill>
                  <a:srgbClr val="233142"/>
                </a:solidFill>
                <a:latin typeface="Aptos"/>
                <a:ea typeface="Aptos"/>
                <a:cs typeface="Aptos"/>
              </a:rPr>
              <a:t>Default predictor, fresh seeds: gain over Best-Fit (pp)</a:t>
            </a:r>
          </a:p>
        </c:rich>
      </c:tx>
      <c:layout/>
      <c:overlay val="0"/>
    </c:title>
    <c:autoTitleDeleted val="0"/>
    <c:plotArea>
      <c:barChart>
        <c:barDir val="col"/>
        <c:grouping val="clustered"/>
        <c:ser>
          <c:idx val="0"/>
          <c:order val="0"/>
          <c:tx>
            <c:strRef>
              <c:f>Sheet1!$B$1</c:f>
              <c:strCache>
                <c:ptCount val="1"/>
                <c:pt idx="0">
                  <c:v>vs Best-Fit</c:v>
                </c:pt>
              </c:strCache>
            </c:strRef>
          </c:tx>
          <c:invertIfNegative val="0"/>
          <c:dPt>
            <c:idx val="0"/>
            <c:invertIfNegative val="0"/>
            <c:spPr>
              <a:solidFill>
                <a:srgbClr val="6B7785"/>
              </a:solidFill>
            </c:spPr>
          </c:dPt>
          <c:dPt>
            <c:idx val="1"/>
            <c:invertIfNegative val="0"/>
            <c:spPr>
              <a:solidFill>
                <a:srgbClr val="2F5D8A"/>
              </a:solidFill>
            </c:spPr>
          </c:dPt>
          <c:dPt>
            <c:idx val="2"/>
            <c:invertIfNegative val="0"/>
            <c:spPr>
              <a:solidFill>
                <a:srgbClr val="B64A4A"/>
              </a:solidFill>
            </c:spPr>
          </c:dPt>
          <c:errBars>
            <c:errBarType val="both"/>
            <c:errValType val="cust"/>
            <c:noEndCap val="0"/>
            <c:plus>
              <c:numLit>
                <c:formatCode>General</c:formatCode>
                <c:ptCount val="3"/>
                <c:pt idx="0">
                  <c:v>0.054972</c:v>
                </c:pt>
                <c:pt idx="1">
                  <c:v>0.055837</c:v>
                </c:pt>
                <c:pt idx="2">
                  <c:v>0.056559</c:v>
                </c:pt>
              </c:numLit>
            </c:plus>
            <c:minus>
              <c:numLit>
                <c:formatCode>General</c:formatCode>
                <c:ptCount val="3"/>
                <c:pt idx="0">
                  <c:v>0.054972</c:v>
                </c:pt>
                <c:pt idx="1">
                  <c:v>0.055837</c:v>
                </c:pt>
                <c:pt idx="2">
                  <c:v>0.056559</c:v>
                </c:pt>
              </c:numLit>
            </c:minus>
            <c:spPr>
              <a:ln w="15875">
                <a:solidFill>
                  <a:srgbClr val="233142"/>
                </a:solidFill>
              </a:ln>
            </c:spPr>
          </c:errBars>
          <c:cat>
            <c:strRef>
              <c:f>Sheet1!$A$2:$A$4</c:f>
              <c:strCache>
                <c:ptCount val="3"/>
                <c:pt idx="0">
                  <c:v>LAVA
−0.043</c:v>
                </c:pt>
                <c:pt idx="1">
                  <c:v>VM-Level CA
−0.015</c:v>
                </c:pt>
                <c:pt idx="2">
                  <c:v>Host-Level CA
−0.090</c:v>
                </c:pt>
              </c:strCache>
            </c:strRef>
          </c:cat>
          <c:val>
            <c:numRef>
              <c:f>Sheet1!$B$2:$B$4</c:f>
              <c:numCache>
                <c:formatCode>General</c:formatCode>
                <c:ptCount val="3"/>
                <c:pt idx="0">
                  <c:v>-0.0427</c:v>
                </c:pt>
                <c:pt idx="1">
                  <c:v>-0.0146</c:v>
                </c:pt>
                <c:pt idx="2">
                  <c:v>-0.0901</c:v>
                </c:pt>
              </c:numCache>
            </c:numRef>
          </c:val>
        </c:ser>
        <c:gapWidth val="90"/>
        <c:axId val="-2068027336"/>
        <c:axId val="-2113994440"/>
      </c:barChart>
      <c:catAx>
        <c:axId val="-2068027336"/>
        <c:scaling>
          <c:orientation val="minMax"/>
        </c:scaling>
        <c:delete val="0"/>
        <c:axPos val="b"/>
        <c:majorTickMark val="out"/>
        <c:minorTickMark val="none"/>
        <c:tickLblPos val="low"/>
        <c:spPr>
          <a:ln>
            <a:solidFill>
              <a:srgbClr val="9AA3AD"/>
            </a:solidFill>
          </a:ln>
        </c:spPr>
        <c:crossAx val="-2113994440"/>
        <c:crosses val="autoZero"/>
        <c:auto val="1"/>
        <c:lblAlgn val="ctr"/>
        <c:lblOffset val="100"/>
        <c:noMultiLvlLbl val="0"/>
      </c:catAx>
      <c:valAx>
        <c:axId val="-2113994440"/>
        <c:scaling>
          <c:max val="0.1"/>
          <c:min val="-0.2"/>
        </c:scaling>
        <c:delete val="0"/>
        <c:axPos val="l"/>
        <c:majorGridlines>
          <c:spPr>
            <a:ln w="9525">
              <a:solidFill>
                <a:srgbClr val="D9DFE5"/>
              </a:solidFill>
            </a:ln>
          </c:spPr>
        </c:majorGridlines>
        <c:numFmt formatCode="+0.00;−0.00;0" sourceLinked="0"/>
        <c:majorTickMark val="out"/>
        <c:minorTickMark val="none"/>
        <c:tickLblPos val="nextTo"/>
        <c:spPr>
          <a:ln>
            <a:solidFill>
              <a:srgbClr val="D4D4D4"/>
            </a:solidFill>
          </a:ln>
        </c:spPr>
        <c:crossAx val="-2068027336"/>
        <c:crosses val="autoZero"/>
        <c:majorUnit val="0.05"/>
      </c:valAx>
      <c:spPr>
        <a:solidFill>
          <a:srgbClr val="FFFFFF"/>
        </a:solidFill>
      </c:spPr>
    </c:plotArea>
    <c:dispBlanksAs val="gap"/>
  </c:chart>
  <c:spPr>
    <a:solidFill>
      <a:srgbClr val="FFFFFF"/>
    </a:solidFill>
  </c:spPr>
  <c:txPr>
    <a:bodyPr/>
    <a:lstStyle/>
    <a:p>
      <a:pPr>
        <a:defRPr sz="1200">
          <a:solidFill>
            <a:srgbClr val="4A5562"/>
          </a:solidFill>
          <a:latin typeface="Apto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500" b="1" i="0">
                <a:solidFill>
                  <a:srgbClr val="233142"/>
                </a:solidFill>
                <a:latin typeface="Aptos"/>
                <a:ea typeface="Aptos"/>
                <a:cs typeface="Aptos"/>
              </a:rPr>
              <a:t>Predictability vs gate confidence at arrival</a:t>
            </a:r>
          </a:p>
        </c:rich>
      </c:tx>
      <c:layout/>
      <c:overlay val="0"/>
    </c:title>
    <c:autoTitleDeleted val="0"/>
    <c:plotArea>
      <c:layout>
        <c:manualLayout>
          <c:layoutTarget val="inner"/>
          <c:xMode val="edge"/>
          <c:yMode val="edge"/>
          <c:x val="0.09"/>
          <c:y val="0.13"/>
          <c:w val="0.79"/>
          <c:h val="0.62"/>
        </c:manualLayout>
      </c:layout>
      <c:barChart>
        <c:barDir val="col"/>
        <c:grouping val="clustered"/>
        <c:ser>
          <c:idx val="0"/>
          <c:order val="0"/>
          <c:tx>
            <c:strRef>
              <c:f>Sheet1!$B$1</c:f>
              <c:strCache>
                <c:ptCount val="1"/>
                <c:pt idx="0">
                  <c:v>Probability of the most likely class</c:v>
                </c:pt>
              </c:strCache>
            </c:strRef>
          </c:tx>
          <c:spPr>
            <a:solidFill>
              <a:srgbClr val="2F5D8A"/>
            </a:solidFill>
          </c:spPr>
          <c:cat>
            <c:strRef>
              <c:f>Sheet1!$A$2:$A$4</c:f>
              <c:strCache>
                <c:ptCount val="3"/>
                <c:pt idx="0">
                  <c:v>Interactive</c:v>
                </c:pt>
                <c:pt idx="1">
                  <c:v>Batch</c:v>
                </c:pt>
                <c:pt idx="2">
                  <c:v>Service</c:v>
                </c:pt>
              </c:strCache>
            </c:strRef>
          </c:cat>
          <c:val>
            <c:numRef>
              <c:f>Sheet1!$B$2:$B$4</c:f>
              <c:numCache>
                <c:formatCode>General</c:formatCode>
                <c:ptCount val="3"/>
                <c:pt idx="0">
                  <c:v>0.88</c:v>
                </c:pt>
                <c:pt idx="1">
                  <c:v>0.478</c:v>
                </c:pt>
                <c:pt idx="2">
                  <c:v>0.364</c:v>
                </c:pt>
              </c:numCache>
            </c:numRef>
          </c:val>
        </c:ser>
        <c:ser>
          <c:idx val="1"/>
          <c:order val="1"/>
          <c:tx>
            <c:strRef>
              <c:f>Sheet1!$C$1</c:f>
              <c:strCache>
                <c:ptCount val="1"/>
                <c:pt idx="0">
                  <c:v>Confidence used by the gate</c:v>
                </c:pt>
              </c:strCache>
            </c:strRef>
          </c:tx>
          <c:spPr>
            <a:solidFill>
              <a:srgbClr val="D9822B"/>
            </a:solidFill>
          </c:spPr>
          <c:dLbls>
            <c:dLbl>
              <c:idx val="1"/>
              <c:spPr/>
              <c:txPr>
                <a:bodyPr/>
                <a:lstStyle/>
                <a:p>
                  <a:pPr>
                    <a:defRPr sz="1200">
                      <a:solidFill>
                        <a:srgbClr val="233142"/>
                      </a:solidFill>
                    </a:defRPr>
                  </a:pPr>
                </a:p>
              </c:txPr>
              <c:dLblPos val="inEnd"/>
              <c:showLegendKey val="0"/>
              <c:showVal val="1"/>
              <c:showCatName val="0"/>
              <c:showSerName val="0"/>
              <c:showPercent val="0"/>
              <c:showBubbleSize val="0"/>
            </c:dLbl>
            <c:numFmt formatCode="0.000" sourceLinked="0"/>
            <c:txPr>
              <a:bodyPr/>
              <a:lstStyle/>
              <a:p>
                <a:pPr>
                  <a:defRPr sz="1200">
                    <a:solidFill>
                      <a:srgbClr val="233142"/>
                    </a:solidFill>
                  </a:defRPr>
                </a:pPr>
              </a:p>
            </c:txPr>
            <c:dLblPos val="outEnd"/>
            <c:showLegendKey val="0"/>
            <c:showVal val="1"/>
            <c:showCatName val="0"/>
            <c:showSerName val="0"/>
            <c:showPercent val="0"/>
            <c:showBubbleSize val="0"/>
            <c:showLeaderLines val="1"/>
          </c:dLbls>
          <c:cat>
            <c:strRef>
              <c:f>Sheet1!$A$2:$A$4</c:f>
              <c:strCache>
                <c:ptCount val="3"/>
                <c:pt idx="0">
                  <c:v>Interactive</c:v>
                </c:pt>
                <c:pt idx="1">
                  <c:v>Batch</c:v>
                </c:pt>
                <c:pt idx="2">
                  <c:v>Service</c:v>
                </c:pt>
              </c:strCache>
            </c:strRef>
          </c:cat>
          <c:val>
            <c:numRef>
              <c:f>Sheet1!$C$2:$C$4</c:f>
              <c:numCache>
                <c:formatCode>General</c:formatCode>
                <c:ptCount val="3"/>
                <c:pt idx="0">
                  <c:v>0.092</c:v>
                </c:pt>
                <c:pt idx="1">
                  <c:v>0.243</c:v>
                </c:pt>
                <c:pt idx="2">
                  <c:v>0.364</c:v>
                </c:pt>
              </c:numCache>
            </c:numRef>
          </c:val>
        </c:ser>
        <c:dLbls>
          <c:numFmt formatCode="0.000" sourceLinked="0"/>
          <c:txPr>
            <a:bodyPr/>
            <a:lstStyle/>
            <a:p>
              <a:pPr>
                <a:defRPr sz="1200">
                  <a:solidFill>
                    <a:srgbClr val="233142"/>
                  </a:solidFill>
                </a:defRPr>
              </a:pPr>
            </a:p>
          </c:txPr>
          <c:dLblPos val="outEnd"/>
          <c:showLegendKey val="0"/>
          <c:showVal val="1"/>
          <c:showCatName val="0"/>
          <c:showSerName val="0"/>
          <c:showPercent val="0"/>
          <c:showBubbleSize val="0"/>
          <c:showLeaderLines val="1"/>
        </c:dLbls>
        <c:gapWidth val="70"/>
        <c:overlap val="-8"/>
        <c:axId val="-2068027336"/>
        <c:axId val="-2113994440"/>
      </c:barChart>
      <c:catAx>
        <c:axId val="-2068027336"/>
        <c:scaling>
          <c:orientation val="minMax"/>
        </c:scaling>
        <c:delete val="0"/>
        <c:axPos val="b"/>
        <c:majorTickMark val="out"/>
        <c:minorTickMark val="none"/>
        <c:tickLblPos val="low"/>
        <c:spPr>
          <a:ln>
            <a:solidFill>
              <a:srgbClr val="9AA3AD"/>
            </a:solidFill>
          </a:ln>
        </c:spPr>
        <c:crossAx val="-2113994440"/>
        <c:crosses val="autoZero"/>
        <c:auto val="1"/>
        <c:lblAlgn val="ctr"/>
        <c:lblOffset val="100"/>
        <c:noMultiLvlLbl val="0"/>
      </c:catAx>
      <c:valAx>
        <c:axId val="-2113994440"/>
        <c:scaling>
          <c:max val="1.0"/>
          <c:min val="0.0"/>
        </c:scaling>
        <c:delete val="0"/>
        <c:axPos val="l"/>
        <c:majorGridlines>
          <c:spPr>
            <a:ln w="9525">
              <a:solidFill>
                <a:srgbClr val="D9DFE5"/>
              </a:solidFill>
            </a:ln>
          </c:spPr>
        </c:majorGridlines>
        <c:numFmt formatCode="0.0" sourceLinked="0"/>
        <c:majorTickMark val="out"/>
        <c:minorTickMark val="none"/>
        <c:tickLblPos val="nextTo"/>
        <c:spPr>
          <a:ln>
            <a:solidFill>
              <a:srgbClr val="D4D4D4"/>
            </a:solidFill>
          </a:ln>
        </c:spPr>
        <c:crossAx val="-2068027336"/>
        <c:crosses val="autoZero"/>
        <c:majorUnit val="0.2"/>
      </c:valAx>
      <c:spPr>
        <a:solidFill>
          <a:srgbClr val="FFFFFF"/>
        </a:solidFill>
      </c:spPr>
    </c:plotArea>
    <c:legend>
      <c:legendPos val="b"/>
      <c:overlay val="0"/>
      <c:txPr>
        <a:bodyPr/>
        <a:lstStyle/>
        <a:p>
          <a:pPr>
            <a:defRPr sz="1200"/>
          </a:pPr>
        </a:p>
      </c:txPr>
    </c:legend>
    <c:dispBlanksAs val="gap"/>
  </c:chart>
  <c:spPr>
    <a:solidFill>
      <a:srgbClr val="FFFFFF"/>
    </a:solidFill>
  </c:spPr>
  <c:txPr>
    <a:bodyPr/>
    <a:lstStyle/>
    <a:p>
      <a:pPr>
        <a:defRPr sz="1200">
          <a:solidFill>
            <a:srgbClr val="4A5562"/>
          </a:solidFill>
          <a:latin typeface="Apto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title>
      <c:tx>
        <c:rich>
          <a:bodyPr/>
          <a:lstStyle/>
          <a:p>
            <a:r>
              <a:rPr sz="1500" b="1" i="0">
                <a:solidFill>
                  <a:srgbClr val="233142"/>
                </a:solidFill>
                <a:latin typeface="Aptos"/>
                <a:ea typeface="Aptos"/>
                <a:cs typeface="Aptos"/>
              </a:rPr>
              <a:t>Gain over Best-Fit (pp), fresh seeds 1000–1099</a:t>
            </a:r>
          </a:p>
        </c:rich>
      </c:tx>
      <c:layout/>
      <c:overlay val="0"/>
    </c:title>
    <c:plotArea>
      <c:scatterChart>
        <c:scatterStyle val="lineMarker"/>
        <c:varyColors val="0"/>
        <c:ser>
          <c:idx val="0"/>
          <c:order val="0"/>
          <c:tx>
            <c:strRef>
              <c:f>Sheet1!$B$1</c:f>
              <c:strCache>
                <c:ptCount val="1"/>
                <c:pt idx="0">
                  <c:v>VM-CA-Bayes (registered)</c:v>
                </c:pt>
              </c:strCache>
            </c:strRef>
          </c:tx>
          <c:spPr>
            <a:ln w="28575">
              <a:solidFill>
                <a:srgbClr val="2F5D8A"/>
              </a:solidFill>
            </a:ln>
          </c:spPr>
          <c:marker>
            <c:symbol val="circle"/>
            <c:size val="7"/>
            <c:spPr>
              <a:solidFill>
                <a:srgbClr val="2F5D8A"/>
              </a:solidFill>
              <a:ln>
                <a:solidFill>
                  <a:srgbClr val="FFFFFF"/>
                </a:solidFill>
              </a:ln>
            </c:spPr>
          </c:marker>
          <c:errBars>
            <c:errDir val="y"/>
            <c:errBarType val="both"/>
            <c:errValType val="cust"/>
            <c:noEndCap val="0"/>
            <c:plus>
              <c:numLit>
                <c:formatCode>General</c:formatCode>
                <c:ptCount val="5"/>
                <c:pt idx="0">
                  <c:v>0.048796</c:v>
                </c:pt>
                <c:pt idx="1">
                  <c:v>0.057929</c:v>
                </c:pt>
                <c:pt idx="2">
                  <c:v>0.054816</c:v>
                </c:pt>
                <c:pt idx="3">
                  <c:v>0.059572</c:v>
                </c:pt>
                <c:pt idx="4">
                  <c:v>0.057140</c:v>
                </c:pt>
              </c:numLit>
            </c:plus>
            <c:minus>
              <c:numLit>
                <c:formatCode>General</c:formatCode>
                <c:ptCount val="5"/>
                <c:pt idx="0">
                  <c:v>0.048796</c:v>
                </c:pt>
                <c:pt idx="1">
                  <c:v>0.057929</c:v>
                </c:pt>
                <c:pt idx="2">
                  <c:v>0.054816</c:v>
                </c:pt>
                <c:pt idx="3">
                  <c:v>0.059572</c:v>
                </c:pt>
                <c:pt idx="4">
                  <c:v>0.057140</c:v>
                </c:pt>
              </c:numLit>
            </c:minus>
            <c:spPr>
              <a:ln w="15875">
                <a:solidFill>
                  <a:srgbClr val="2F5D8A"/>
                </a:solidFill>
              </a:ln>
            </c:spPr>
          </c:errBars>
          <c:xVal>
            <c:numRef>
              <c:f>Sheet1!$A$2:$A$6</c:f>
              <c:numCache>
                <c:formatCode>General</c:formatCode>
                <c:ptCount val="5"/>
                <c:pt idx="0">
                  <c:v>0.242</c:v>
                </c:pt>
                <c:pt idx="1">
                  <c:v>0.492</c:v>
                </c:pt>
                <c:pt idx="2">
                  <c:v>0.742</c:v>
                </c:pt>
                <c:pt idx="3">
                  <c:v>0.842</c:v>
                </c:pt>
                <c:pt idx="4">
                  <c:v>0.992</c:v>
                </c:pt>
              </c:numCache>
            </c:numRef>
          </c:xVal>
          <c:yVal>
            <c:numRef>
              <c:f>Sheet1!$B$2:$B$6</c:f>
              <c:numCache>
                <c:formatCode>General</c:formatCode>
                <c:ptCount val="5"/>
                <c:pt idx="0">
                  <c:v>0.037</c:v>
                </c:pt>
                <c:pt idx="1">
                  <c:v>0.1217</c:v>
                </c:pt>
                <c:pt idx="2">
                  <c:v>0.2717</c:v>
                </c:pt>
                <c:pt idx="3">
                  <c:v>0.3975</c:v>
                </c:pt>
                <c:pt idx="4">
                  <c:v>0.5514</c:v>
                </c:pt>
              </c:numCache>
            </c:numRef>
          </c:yVal>
          <c:smooth val="0"/>
        </c:ser>
        <c:ser>
          <c:idx val="1"/>
          <c:order val="1"/>
          <c:tx>
            <c:strRef>
              <c:f>Sheet1!$B$8</c:f>
              <c:strCache>
                <c:ptCount val="1"/>
                <c:pt idx="0">
                  <c:v>LAVA-Bayes (reference)</c:v>
                </c:pt>
              </c:strCache>
            </c:strRef>
          </c:tx>
          <c:spPr>
            <a:ln w="28575">
              <a:solidFill>
                <a:srgbClr val="D9822B"/>
              </a:solidFill>
            </a:ln>
          </c:spPr>
          <c:marker>
            <c:symbol val="square"/>
            <c:size val="7"/>
            <c:spPr>
              <a:solidFill>
                <a:srgbClr val="D9822B"/>
              </a:solidFill>
              <a:ln>
                <a:solidFill>
                  <a:srgbClr val="FFFFFF"/>
                </a:solidFill>
              </a:ln>
            </c:spPr>
          </c:marker>
          <c:errBars>
            <c:errDir val="y"/>
            <c:errBarType val="both"/>
            <c:errValType val="cust"/>
            <c:noEndCap val="0"/>
            <c:plus>
              <c:numLit>
                <c:formatCode>General</c:formatCode>
                <c:ptCount val="5"/>
                <c:pt idx="0">
                  <c:v>0.048865</c:v>
                </c:pt>
                <c:pt idx="1">
                  <c:v>0.050005</c:v>
                </c:pt>
                <c:pt idx="2">
                  <c:v>0.048934</c:v>
                </c:pt>
                <c:pt idx="3">
                  <c:v>0.063485</c:v>
                </c:pt>
                <c:pt idx="4">
                  <c:v>0.057140</c:v>
                </c:pt>
              </c:numLit>
            </c:plus>
            <c:minus>
              <c:numLit>
                <c:formatCode>General</c:formatCode>
                <c:ptCount val="5"/>
                <c:pt idx="0">
                  <c:v>0.048865</c:v>
                </c:pt>
                <c:pt idx="1">
                  <c:v>0.050005</c:v>
                </c:pt>
                <c:pt idx="2">
                  <c:v>0.048934</c:v>
                </c:pt>
                <c:pt idx="3">
                  <c:v>0.063485</c:v>
                </c:pt>
                <c:pt idx="4">
                  <c:v>0.057140</c:v>
                </c:pt>
              </c:numLit>
            </c:minus>
            <c:spPr>
              <a:ln w="15875">
                <a:solidFill>
                  <a:srgbClr val="D9822B"/>
                </a:solidFill>
              </a:ln>
            </c:spPr>
          </c:errBars>
          <c:xVal>
            <c:numRef>
              <c:f>Sheet1!$A$9:$A$13</c:f>
              <c:numCache>
                <c:formatCode>General</c:formatCode>
                <c:ptCount val="5"/>
                <c:pt idx="0">
                  <c:v>0.258</c:v>
                </c:pt>
                <c:pt idx="1">
                  <c:v>0.508</c:v>
                </c:pt>
                <c:pt idx="2">
                  <c:v>0.758</c:v>
                </c:pt>
                <c:pt idx="3">
                  <c:v>0.858</c:v>
                </c:pt>
                <c:pt idx="4">
                  <c:v>1.008</c:v>
                </c:pt>
              </c:numCache>
            </c:numRef>
          </c:xVal>
          <c:yVal>
            <c:numRef>
              <c:f>Sheet1!$B$9:$B$13</c:f>
              <c:numCache>
                <c:formatCode>General</c:formatCode>
                <c:ptCount val="5"/>
                <c:pt idx="0">
                  <c:v>0.055</c:v>
                </c:pt>
                <c:pt idx="1">
                  <c:v>0.1183</c:v>
                </c:pt>
                <c:pt idx="2">
                  <c:v>0.2608</c:v>
                </c:pt>
                <c:pt idx="3">
                  <c:v>0.4139</c:v>
                </c:pt>
                <c:pt idx="4">
                  <c:v>0.5514</c:v>
                </c:pt>
              </c:numCache>
            </c:numRef>
          </c:yVal>
          <c:smooth val="0"/>
        </c:ser>
        <c:ser>
          <c:idx val="2"/>
          <c:order val="2"/>
          <c:tx>
            <c:strRef>
              <c:f>Sheet1!$B$15</c:f>
              <c:strCache>
                <c:ptCount val="1"/>
                <c:pt idx="0">
                  <c:v>LAVA</c:v>
                </c:pt>
              </c:strCache>
            </c:strRef>
          </c:tx>
          <c:spPr>
            <a:ln w="28575">
              <a:solidFill>
                <a:srgbClr val="6B7785"/>
              </a:solidFill>
            </a:ln>
          </c:spPr>
          <c:marker>
            <c:symbol val="diamond"/>
            <c:size val="7"/>
            <c:spPr>
              <a:solidFill>
                <a:srgbClr val="6B7785"/>
              </a:solidFill>
              <a:ln>
                <a:solidFill>
                  <a:srgbClr val="FFFFFF"/>
                </a:solidFill>
              </a:ln>
            </c:spPr>
          </c:marker>
          <c:errBars>
            <c:errDir val="y"/>
            <c:errBarType val="both"/>
            <c:errValType val="cust"/>
            <c:noEndCap val="0"/>
            <c:plus>
              <c:numLit>
                <c:formatCode>General</c:formatCode>
                <c:ptCount val="5"/>
                <c:pt idx="0">
                  <c:v>0.052732</c:v>
                </c:pt>
                <c:pt idx="1">
                  <c:v>0.052301</c:v>
                </c:pt>
                <c:pt idx="2">
                  <c:v>0.056205</c:v>
                </c:pt>
                <c:pt idx="3">
                  <c:v>0.059467</c:v>
                </c:pt>
                <c:pt idx="4">
                  <c:v>0.062370</c:v>
                </c:pt>
              </c:numLit>
            </c:plus>
            <c:minus>
              <c:numLit>
                <c:formatCode>General</c:formatCode>
                <c:ptCount val="5"/>
                <c:pt idx="0">
                  <c:v>0.052732</c:v>
                </c:pt>
                <c:pt idx="1">
                  <c:v>0.052301</c:v>
                </c:pt>
                <c:pt idx="2">
                  <c:v>0.056205</c:v>
                </c:pt>
                <c:pt idx="3">
                  <c:v>0.059467</c:v>
                </c:pt>
                <c:pt idx="4">
                  <c:v>0.062370</c:v>
                </c:pt>
              </c:numLit>
            </c:minus>
            <c:spPr>
              <a:ln w="15875">
                <a:solidFill>
                  <a:srgbClr val="6B7785"/>
                </a:solidFill>
              </a:ln>
            </c:spPr>
          </c:errBars>
          <c:xVal>
            <c:numRef>
              <c:f>Sheet1!$A$16:$A$20</c:f>
              <c:numCache>
                <c:formatCode>General</c:formatCode>
                <c:ptCount val="5"/>
                <c:pt idx="0">
                  <c:v>0.25</c:v>
                </c:pt>
                <c:pt idx="1">
                  <c:v>0.5</c:v>
                </c:pt>
                <c:pt idx="2">
                  <c:v>0.75</c:v>
                </c:pt>
                <c:pt idx="3">
                  <c:v>0.85</c:v>
                </c:pt>
                <c:pt idx="4">
                  <c:v>1.0</c:v>
                </c:pt>
              </c:numCache>
            </c:numRef>
          </c:xVal>
          <c:yVal>
            <c:numRef>
              <c:f>Sheet1!$B$16:$B$20</c:f>
              <c:numCache>
                <c:formatCode>General</c:formatCode>
                <c:ptCount val="5"/>
                <c:pt idx="0">
                  <c:v>-0.1873</c:v>
                </c:pt>
                <c:pt idx="1">
                  <c:v>-0.025</c:v>
                </c:pt>
                <c:pt idx="2">
                  <c:v>0.2181</c:v>
                </c:pt>
                <c:pt idx="3">
                  <c:v>0.3093</c:v>
                </c:pt>
                <c:pt idx="4">
                  <c:v>0.5071</c:v>
                </c:pt>
              </c:numCache>
            </c:numRef>
          </c:yVal>
          <c:smooth val="0"/>
        </c:ser>
        <c:axId val="-2128940872"/>
        <c:axId val="-2129643912"/>
      </c:scatterChart>
      <c:valAx>
        <c:axId val="-2128940872"/>
        <c:scaling>
          <c:orientation val="minMax"/>
          <c:max val="1.05"/>
          <c:min val="0.2"/>
        </c:scaling>
        <c:delete val="0"/>
        <c:axPos val="b"/>
        <c:title>
          <c:tx>
            <c:rich>
              <a:bodyPr/>
              <a:lstStyle/>
              <a:p>
                <a:r>
                  <a:rPr sz="1200" b="0" i="0">
                    <a:solidFill>
                      <a:srgbClr val="5A6573"/>
                    </a:solidFill>
                    <a:latin typeface="Aptos"/>
                    <a:ea typeface="Aptos"/>
                    <a:cs typeface="Aptos"/>
                  </a:rPr>
                  <a:t>Controlled prediction accuracy</a:t>
                </a:r>
              </a:p>
            </c:rich>
          </c:tx>
          <c:layout/>
          <c:overlay val="0"/>
        </c:title>
        <c:numFmt formatCode="0%" sourceLinked="0"/>
        <c:majorTickMark val="out"/>
        <c:minorTickMark val="none"/>
        <c:tickLblPos val="low"/>
        <c:spPr>
          <a:ln>
            <a:solidFill>
              <a:srgbClr val="9AA3AD"/>
            </a:solidFill>
          </a:ln>
        </c:spPr>
        <c:crossAx val="-2129643912"/>
        <c:crosses val="autoZero"/>
        <c:crossBetween val="midCat"/>
        <c:majorUnit val="0.2"/>
      </c:valAx>
      <c:valAx>
        <c:axId val="-2129643912"/>
        <c:scaling>
          <c:orientation val="minMax"/>
          <c:max val="0.7"/>
          <c:min val="-0.3"/>
        </c:scaling>
        <c:delete val="0"/>
        <c:axPos val="l"/>
        <c:majorGridlines>
          <c:spPr>
            <a:ln w="9525">
              <a:solidFill>
                <a:srgbClr val="D9DFE5"/>
              </a:solidFill>
            </a:ln>
          </c:spPr>
        </c:majorGridlines>
        <c:numFmt formatCode="+0.0;−0.0;0" sourceLinked="0"/>
        <c:majorTickMark val="out"/>
        <c:minorTickMark val="none"/>
        <c:tickLblPos val="nextTo"/>
        <c:spPr>
          <a:ln>
            <a:solidFill>
              <a:srgbClr val="D4D4D4"/>
            </a:solidFill>
          </a:ln>
        </c:spPr>
        <c:crossAx val="-2128940872"/>
        <c:crosses val="autoZero"/>
        <c:crossBetween val="midCat"/>
        <c:majorUnit val="0.1"/>
      </c:valAx>
      <c:spPr>
        <a:solidFill>
          <a:srgbClr val="FFFFFF"/>
        </a:solidFill>
      </c:spPr>
    </c:plotArea>
    <c:legend>
      <c:legendPos val="b"/>
      <c:layout/>
      <c:overlay val="0"/>
      <c:txPr>
        <a:bodyPr/>
        <a:lstStyle/>
        <a:p>
          <a:pPr>
            <a:defRPr sz="1200"/>
          </a:pPr>
        </a:p>
      </c:txPr>
    </c:legend>
    <c:plotVisOnly val="1"/>
    <c:dispBlanksAs val="gap"/>
    <c:showDLblsOverMax val="0"/>
  </c:chart>
  <c:spPr>
    <a:solidFill>
      <a:srgbClr val="FFFFFF"/>
    </a:solidFill>
  </c:spPr>
  <c:txPr>
    <a:bodyPr/>
    <a:lstStyle/>
    <a:p>
      <a:pPr>
        <a:defRPr sz="1200">
          <a:solidFill>
            <a:srgbClr val="4A5562"/>
          </a:solidFill>
          <a:latin typeface="Apto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500" b="1" i="0">
                <a:solidFill>
                  <a:srgbClr val="233142"/>
                </a:solidFill>
                <a:latin typeface="Aptos"/>
                <a:ea typeface="Aptos"/>
                <a:cs typeface="Aptos"/>
              </a:rPr>
              <a:t>Paired difference (pp) by controlled accuracy</a:t>
            </a:r>
          </a:p>
        </c:rich>
      </c:tx>
      <c:layout/>
      <c:overlay val="0"/>
    </c:title>
    <c:autoTitleDeleted val="0"/>
    <c:plotArea>
      <c:barChart>
        <c:barDir val="col"/>
        <c:grouping val="clustered"/>
        <c:ser>
          <c:idx val="0"/>
          <c:order val="0"/>
          <c:tx>
            <c:strRef>
              <c:f>Sheet1!$B$1</c:f>
              <c:strCache>
                <c:ptCount val="1"/>
                <c:pt idx="0">
                  <c:v>Fusion vs noisy values alone</c:v>
                </c:pt>
              </c:strCache>
            </c:strRef>
          </c:tx>
          <c:spPr>
            <a:solidFill>
              <a:srgbClr val="2F5D8A"/>
            </a:solidFill>
          </c:spPr>
          <c:invertIfNegative val="0"/>
          <c:errBars>
            <c:errBarType val="both"/>
            <c:errValType val="cust"/>
            <c:noEndCap val="0"/>
            <c:plus>
              <c:numLit>
                <c:formatCode>General</c:formatCode>
                <c:ptCount val="4"/>
                <c:pt idx="0">
                  <c:v>0.060301</c:v>
                </c:pt>
                <c:pt idx="1">
                  <c:v>0.053555</c:v>
                </c:pt>
                <c:pt idx="2">
                  <c:v>0.052590</c:v>
                </c:pt>
                <c:pt idx="3">
                  <c:v>0.050389</c:v>
                </c:pt>
              </c:numLit>
            </c:plus>
            <c:minus>
              <c:numLit>
                <c:formatCode>General</c:formatCode>
                <c:ptCount val="4"/>
                <c:pt idx="0">
                  <c:v>0.060301</c:v>
                </c:pt>
                <c:pt idx="1">
                  <c:v>0.053555</c:v>
                </c:pt>
                <c:pt idx="2">
                  <c:v>0.052590</c:v>
                </c:pt>
                <c:pt idx="3">
                  <c:v>0.050389</c:v>
                </c:pt>
              </c:numLit>
            </c:minus>
            <c:spPr>
              <a:ln w="15875">
                <a:solidFill>
                  <a:srgbClr val="233142"/>
                </a:solidFill>
              </a:ln>
            </c:spPr>
          </c:errBars>
          <c:cat>
            <c:strRef>
              <c:f>Sheet1!$A$2:$A$5</c:f>
              <c:strCache>
                <c:ptCount val="4"/>
                <c:pt idx="0">
                  <c:v>25%</c:v>
                </c:pt>
                <c:pt idx="1">
                  <c:v>50%</c:v>
                </c:pt>
                <c:pt idx="2">
                  <c:v>75%</c:v>
                </c:pt>
                <c:pt idx="3">
                  <c:v>85%</c:v>
                </c:pt>
              </c:strCache>
            </c:strRef>
          </c:cat>
          <c:val>
            <c:numRef>
              <c:f>Sheet1!$B$2:$B$5</c:f>
              <c:numCache>
                <c:formatCode>General</c:formatCode>
                <c:ptCount val="4"/>
                <c:pt idx="0">
                  <c:v>0.2424</c:v>
                </c:pt>
                <c:pt idx="1">
                  <c:v>0.1432</c:v>
                </c:pt>
                <c:pt idx="2">
                  <c:v>0.0427</c:v>
                </c:pt>
                <c:pt idx="3">
                  <c:v>0.1046</c:v>
                </c:pt>
              </c:numCache>
            </c:numRef>
          </c:val>
        </c:ser>
        <c:ser>
          <c:idx val="1"/>
          <c:order val="1"/>
          <c:tx>
            <c:strRef>
              <c:f>Sheet1!$C$1</c:f>
              <c:strCache>
                <c:ptCount val="1"/>
                <c:pt idx="0">
                  <c:v>Fusion vs prior alone</c:v>
                </c:pt>
              </c:strCache>
            </c:strRef>
          </c:tx>
          <c:spPr>
            <a:solidFill>
              <a:srgbClr val="3E7C59"/>
            </a:solidFill>
          </c:spPr>
          <c:invertIfNegative val="0"/>
          <c:errBars>
            <c:errBarType val="both"/>
            <c:errValType val="cust"/>
            <c:noEndCap val="0"/>
            <c:plus>
              <c:numLit>
                <c:formatCode>General</c:formatCode>
                <c:ptCount val="4"/>
                <c:pt idx="0">
                  <c:v>0.051199</c:v>
                </c:pt>
                <c:pt idx="1">
                  <c:v>0.057154</c:v>
                </c:pt>
                <c:pt idx="2">
                  <c:v>0.059265</c:v>
                </c:pt>
                <c:pt idx="3">
                  <c:v>0.058100</c:v>
                </c:pt>
              </c:numLit>
            </c:plus>
            <c:minus>
              <c:numLit>
                <c:formatCode>General</c:formatCode>
                <c:ptCount val="4"/>
                <c:pt idx="0">
                  <c:v>0.051199</c:v>
                </c:pt>
                <c:pt idx="1">
                  <c:v>0.057154</c:v>
                </c:pt>
                <c:pt idx="2">
                  <c:v>0.059265</c:v>
                </c:pt>
                <c:pt idx="3">
                  <c:v>0.058100</c:v>
                </c:pt>
              </c:numLit>
            </c:minus>
            <c:spPr>
              <a:ln w="15875">
                <a:solidFill>
                  <a:srgbClr val="233142"/>
                </a:solidFill>
              </a:ln>
            </c:spPr>
          </c:errBars>
          <c:cat>
            <c:strRef>
              <c:f>Sheet1!$A$2:$A$5</c:f>
              <c:strCache>
                <c:ptCount val="4"/>
                <c:pt idx="0">
                  <c:v>25%</c:v>
                </c:pt>
                <c:pt idx="1">
                  <c:v>50%</c:v>
                </c:pt>
                <c:pt idx="2">
                  <c:v>75%</c:v>
                </c:pt>
                <c:pt idx="3">
                  <c:v>85%</c:v>
                </c:pt>
              </c:strCache>
            </c:strRef>
          </c:cat>
          <c:val>
            <c:numRef>
              <c:f>Sheet1!$C$2:$C$5</c:f>
              <c:numCache>
                <c:formatCode>General</c:formatCode>
                <c:ptCount val="4"/>
                <c:pt idx="0">
                  <c:v>0.0977</c:v>
                </c:pt>
                <c:pt idx="1">
                  <c:v>0.1609</c:v>
                </c:pt>
                <c:pt idx="2">
                  <c:v>0.3035</c:v>
                </c:pt>
                <c:pt idx="3">
                  <c:v>0.4566</c:v>
                </c:pt>
              </c:numCache>
            </c:numRef>
          </c:val>
        </c:ser>
        <c:ser>
          <c:idx val="2"/>
          <c:order val="2"/>
          <c:tx>
            <c:strRef>
              <c:f>Sheet1!$D$1</c:f>
              <c:strCache>
                <c:ptCount val="1"/>
                <c:pt idx="0">
                  <c:v>Gate on top of fusion</c:v>
                </c:pt>
              </c:strCache>
            </c:strRef>
          </c:tx>
          <c:spPr>
            <a:solidFill>
              <a:srgbClr val="D9822B"/>
            </a:solidFill>
          </c:spPr>
          <c:invertIfNegative val="0"/>
          <c:errBars>
            <c:errBarType val="both"/>
            <c:errValType val="cust"/>
            <c:noEndCap val="0"/>
            <c:plus>
              <c:numLit>
                <c:formatCode>General</c:formatCode>
                <c:ptCount val="4"/>
                <c:pt idx="0">
                  <c:v>0.048095</c:v>
                </c:pt>
                <c:pt idx="1">
                  <c:v>0.053808</c:v>
                </c:pt>
                <c:pt idx="2">
                  <c:v>0.053726</c:v>
                </c:pt>
                <c:pt idx="3">
                  <c:v>0.049677</c:v>
                </c:pt>
              </c:numLit>
            </c:plus>
            <c:minus>
              <c:numLit>
                <c:formatCode>General</c:formatCode>
                <c:ptCount val="4"/>
                <c:pt idx="0">
                  <c:v>0.048095</c:v>
                </c:pt>
                <c:pt idx="1">
                  <c:v>0.053808</c:v>
                </c:pt>
                <c:pt idx="2">
                  <c:v>0.053726</c:v>
                </c:pt>
                <c:pt idx="3">
                  <c:v>0.049677</c:v>
                </c:pt>
              </c:numLit>
            </c:minus>
            <c:spPr>
              <a:ln w="15875">
                <a:solidFill>
                  <a:srgbClr val="233142"/>
                </a:solidFill>
              </a:ln>
            </c:spPr>
          </c:errBars>
          <c:cat>
            <c:strRef>
              <c:f>Sheet1!$A$2:$A$5</c:f>
              <c:strCache>
                <c:ptCount val="4"/>
                <c:pt idx="0">
                  <c:v>25%</c:v>
                </c:pt>
                <c:pt idx="1">
                  <c:v>50%</c:v>
                </c:pt>
                <c:pt idx="2">
                  <c:v>75%</c:v>
                </c:pt>
                <c:pt idx="3">
                  <c:v>85%</c:v>
                </c:pt>
              </c:strCache>
            </c:strRef>
          </c:cat>
          <c:val>
            <c:numRef>
              <c:f>Sheet1!$D$2:$D$5</c:f>
              <c:numCache>
                <c:formatCode>General</c:formatCode>
                <c:ptCount val="4"/>
                <c:pt idx="0">
                  <c:v>-0.018</c:v>
                </c:pt>
                <c:pt idx="1">
                  <c:v>0.0035</c:v>
                </c:pt>
                <c:pt idx="2">
                  <c:v>0.0109</c:v>
                </c:pt>
                <c:pt idx="3">
                  <c:v>-0.0164</c:v>
                </c:pt>
              </c:numCache>
            </c:numRef>
          </c:val>
        </c:ser>
        <c:gapWidth val="70"/>
        <c:overlap val="-6"/>
        <c:axId val="-2068027336"/>
        <c:axId val="-2113994440"/>
      </c:barChart>
      <c:catAx>
        <c:axId val="-2068027336"/>
        <c:scaling>
          <c:orientation val="minMax"/>
        </c:scaling>
        <c:delete val="0"/>
        <c:axPos val="b"/>
        <c:majorTickMark val="out"/>
        <c:minorTickMark val="none"/>
        <c:tickLblPos val="low"/>
        <c:spPr>
          <a:ln>
            <a:solidFill>
              <a:srgbClr val="9AA3AD"/>
            </a:solidFill>
          </a:ln>
        </c:spPr>
        <c:crossAx val="-2113994440"/>
        <c:crosses val="autoZero"/>
        <c:auto val="1"/>
        <c:lblAlgn val="ctr"/>
        <c:lblOffset val="100"/>
        <c:noMultiLvlLbl val="0"/>
      </c:catAx>
      <c:valAx>
        <c:axId val="-2113994440"/>
        <c:scaling>
          <c:max val="0.6"/>
          <c:min val="-0.1"/>
        </c:scaling>
        <c:delete val="0"/>
        <c:axPos val="l"/>
        <c:majorGridlines>
          <c:spPr>
            <a:ln w="9525">
              <a:solidFill>
                <a:srgbClr val="D9DFE5"/>
              </a:solidFill>
            </a:ln>
          </c:spPr>
        </c:majorGridlines>
        <c:numFmt formatCode="+0.0;−0.0;0" sourceLinked="0"/>
        <c:majorTickMark val="out"/>
        <c:minorTickMark val="none"/>
        <c:tickLblPos val="nextTo"/>
        <c:spPr>
          <a:ln>
            <a:solidFill>
              <a:srgbClr val="D4D4D4"/>
            </a:solidFill>
          </a:ln>
        </c:spPr>
        <c:crossAx val="-2068027336"/>
        <c:crosses val="autoZero"/>
        <c:majorUnit val="0.1"/>
      </c:valAx>
      <c:spPr>
        <a:solidFill>
          <a:srgbClr val="FFFFFF"/>
        </a:solidFill>
      </c:spPr>
    </c:plotArea>
    <c:legend>
      <c:legendPos val="b"/>
      <c:overlay val="0"/>
      <c:txPr>
        <a:bodyPr/>
        <a:lstStyle/>
        <a:p>
          <a:pPr>
            <a:defRPr sz="1200"/>
          </a:pPr>
        </a:p>
      </c:txPr>
    </c:legend>
    <c:dispBlanksAs val="gap"/>
  </c:chart>
  <c:spPr>
    <a:solidFill>
      <a:srgbClr val="FFFFFF"/>
    </a:solidFill>
  </c:spPr>
  <c:txPr>
    <a:bodyPr/>
    <a:lstStyle/>
    <a:p>
      <a:pPr>
        <a:defRPr sz="1200">
          <a:solidFill>
            <a:srgbClr val="4A5562"/>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4b09b4210f154e65"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The whole talk on one slide. RQ1: prediction quality is first-order; LAVA loses to Best-Fit at 25% accuracy and gains clearly at 100%. RQ2: routing low-confidence VMs away from LAVA does not help; host-level routing is even below Best-Fit, and we measure three causes. RQ3: fusing each noisy prediction with the profile's lifetime distribution fixes the low-accuracy problem; it beats LAVA in 3 of 4 pre-registered tests on 100 fresh seeds. New in this revision: the RQ2 diagnosis and the RQ3 method.</a:t>
            </a:r>
          </a:p>
          <a:p>
            <a:r>
              <a:t>Source: results/improvement/test/summary.json.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VM placement is multi-dimensional bin packing. CPU and memory can each be free but unusable together. Time is the hidden dimension: two VMs that fit equally well today may leave at very different times, so one long-lived VM can keep an otherwise empty host busy. Our metric is the time-weighted share of empty hosts. Because load is low and the drain tail is long, about 90% of host-time is empty under every policy, so differences are small in percentage points: 1 pp is about 1.8 hosts.</a:t>
            </a:r>
          </a:p>
          <a:p>
            <a:r>
              <a:t>Source: report Sections 1 and 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LAVA predicts a lifetime distribution, re-predicts the remaining lifetime as a VM ages, and manages each host as empty, open or recycling. Hosts carry a lifetime class with boundaries at 1, 10 and 100 hours. When the residual cohort leaves early the host moves down a class; when VMs outlive a deadline it moves up. This is how LAVA adapts to mispredictions.</a:t>
            </a:r>
          </a:p>
          <a:p>
            <a:r>
              <a:t>Source: Ling et al., arXiv:2412.09840, Sections 4.2-4.3.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The original code and traces were lost, so we rebuilt the simulator from the surviving report: 180 hosts, 2,500 VMs per trace and 8 arrivals per hour. Values we could not recover are declared once as inferred defaults and never tuned to match old numbers. The table lists every seed split; the new method is judged only on the fresh test seeds 1000-1099.</a:t>
            </a:r>
          </a:p>
          <a:p>
            <a:r>
              <a:t>Source: REPRODUCTION_DIFFERENCES.md; configs/provenance.json.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Best-Fit only packs resources. LA-Binary and NILAS add simple lifetime signals; LAVA adds classes and host states. VM-Level CA and Host-Level CA route low-confidence requests to Best-Fit, per VM or per host. Each *-Bayes variant runs exactly the same scheduling code and only swaps in the prior-fused predictor, so any change comes from the prediction.</a:t>
            </a:r>
          </a:p>
          <a:p>
            <a:r>
              <a:t>Source: lava/simulator.py.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Controlled accuracy follows LAVA's Appendix G.1: with probability equal to the accuracy the log10 error has sigma 0.001, otherwise sigma 3, i.e. errors of several orders of magnitude. The default predictor uses profile-level mixtures; the Oracle knows the true remaining lifetime and is a reference, not an upper bound. The scheduler never sees the bucket or the true lifetime; the fused predictor additionally uses the profile prior that the default predictor already has.</a:t>
            </a:r>
          </a:p>
          <a:p>
            <a:r>
              <a:t>Source: lava/model.py.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RQ1. LAVA's gain over Best-Fit grows with accuracy; 75% is the first tested level whose interval excludes zero (+0.275 [+0.147, +0.403] pp), and the Oracle reaches +0.575 [+0.433, +0.718] pp. Under the default predictor LAVA's small gain here did not replicate on later seeds. The accuracy axis is to scale.</a:t>
            </a:r>
          </a:p>
          <a:p>
            <a:r>
              <a:t>Source: results/sweep/summary.json.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On held-out seeds the default predictor gives LAVA essentially nothing (+0.001 pp) while the Oracle gives +0.661 pp, and on fresh seeds LAVA at 25% accuracy is −0.187 pp. The earlier report's answer was confidence routing; we test it with the workload and threshold fixed.</a:t>
            </a:r>
          </a:p>
          <a:p>
            <a:r>
              <a:t>Source: results/heldout and results/improvement/test.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Two designs. VM-Level CA gates each arrival between LAVA and Best-Fit on shared hosts, so decisions of both kinds mix on a host. Host-Level CA keeps each host in its first mode until it is empty. With the same gate sequence, isolation removes all cross-mode placements, about 608 plus 319 per trace, and never needs a capacity fallback. Both variants see the same gate decisions: about 20% of arrivals pass under the default predictor. So the mechanism works as designed.</a:t>
            </a:r>
          </a:p>
          <a:p>
            <a:r>
              <a:t>Source: results/heldout/raw.csv.</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But it does not help. On 100 fresh seeds Host-Level CA is significantly below Best-Fit (−0.090 [−0.147, −0.034] pp). On the held-out seeds it was also below VM-CA, and VM-CA's small held-out gain did not replicate. The surviving report had claimed +0.241 pp; we could not reproduce it. We treat this as a diagnostic negative result.</a:t>
            </a:r>
          </a:p>
          <a:p>
            <a:r>
              <a:t>Source: results/improvement/test; results/heldout; reference/report_table1.csv.</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Three measured causes. One, confidence is inverted: interactive VMs are 88% likely to exit within an hour but get confidence 0.092, because confidence measures the class containing the mean of a bimodal mixture; service VMs get 0.364. Two, under controlled noise the gate passes almost every request. Three, isolation costs about 0.99 pp of empty hosts during arrivals. Fixing the inversion alone did not help on development seeds, so these factors contribute; none is a full explanation on its own.</a:t>
            </a:r>
          </a:p>
          <a:p>
            <a:r>
              <a:t>Source: configs/report_scale.json; results/improvement/test; results/improvement/dev.</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So we repair the estimate instead of switching policies. Bayes' rule combines each noisy prediction with the profile's lifetime distribution; the 14-day cap is treated as censoring; the posterior is conditioned on uptime. The output interface is unchanged, so every scheduling rule stays the same. Example: an interactive VM predicted at 300 hours is implausible under its prior, so the fused estimate is 1.52 hours. No extra information is used beyond the error model and the profile model the scheduler already had.</a:t>
            </a:r>
          </a:p>
          <a:p>
            <a:r>
              <a:t>Source: lava/model.py (BayesPredictor).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To avoid choosing a method after seeing results, we developed on seeds 0-19 only, then froze hypotheses, test seeds, threshold, decision rule and code hashes at 2026-10-28 20:10 (UTC+8) before any test run. The registration is a local, self-timestamped file. The test uses 100 fresh seeds and eight paired t-tests with Holm correction. All 23,240 improvement simulations ran in about 6 minutes on 64 CPU processes of our H20 server; no GPU is needed.</a:t>
            </a:r>
          </a:p>
          <a:p>
            <a:r>
              <a:t>Source: configs/improvement_protocol.json; results/improvement/*/manifest.json.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Main result. The grey line is the original LAVA: below Best-Fit at 25% and about zero at 50%. The registered variant, VM-CA-Bayes, differs from LAVA by +0.224, +0.147, +0.054, +0.088 pp at 25-85% accuracy; all but the 75% difference are significant after Holm correction. LAVA-Bayes, shown for reference, behaves almost identically. At 100% all methods approach the Oracle reference.</a:t>
            </a:r>
          </a:p>
          <a:p>
            <a:r>
              <a:t>Source: results/improvement/test/summary.json.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3 of 4 registered tests against LAVA hold after Holm correction; at 75% the interval includes zero. Against Best-Fit 3 of 4 hold, but the 75% and 85% tests would also pass for plain LAVA, so the fusion-specific evidence is the LAVA tests and the 50% Best-Fit test. At 25% the Best-Fit test fails; the NILAS-Bayes and LAVA-Bayes results there are secondary and unadjusted.</a:t>
            </a:r>
          </a:p>
          <a:p>
            <a:r>
              <a:t>Source: results/improvement/test/summary.json (primary = true).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Where does the gain come from? This is post hoc. Fusion improves on both ingredients at almost every accuracy: the prior alone (the same seeds under the default predictor, +0.10 to +0.46 pp) and the noisy predictions alone (not significant at 75%). Adding the gate on top changes little (−0.018 to +0.011 pp; every 95% interval includes zero, half-width about 0.05). The fused gate is only weakly selective, so the estimate rather than the gate appears to absorb most of the damage from wrong predictions. On development seeds the gate seemed to help; that did not replicate.</a:t>
            </a:r>
          </a:p>
          <a:p>
            <a:r>
              <a:t>Source: results/improvement/test/raw.csv; results/improvement/gate_by_bucket.json.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Robustness on 50 fresh seeds, compared with the protocol on the same seeds. Milder errors and misspecified error spreads shrink the gain but never make it significantly negative. Doubling the arrival rate makes fusion more valuable at low accuracy. The failure mode is a prior that underestimates lifetimes: halved prior means are worse than LAVA at 85% (−0.116 [−0.197, −0.034] pp, one descriptive cell). Thresholds from 0.1 to 0.5 give positive mean gains; 0.3 was fixed in advance. Be open that the same-seed control and the load test were added after review: the registered 90-host variant only rescaled the 180-host run, so it is not shown.</a:t>
            </a:r>
          </a:p>
          <a:p>
            <a:r>
              <a:t>Source: results/improvement/robust, robust_control, robust_load, tau.</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Summary. Prediction quality is first-order. Confidence routing is a diagnostic negative result with measurable causes. Prior fusion is a drop-in predictor change: it improves NILAS, LAVA and VM-CA at most accuracies but makes Host-CA worse, and 3 of 4 registered tests against LAVA hold. Limits: a synthetic workload whose metric is dominated by the drain tail, a calibrated prior, a reconstruction in which NILAS beats LAVA at most accuracies, and a self-timestamped registration.</a:t>
            </a:r>
          </a:p>
          <a:p>
            <a:r>
              <a:t>Source: report Sections 11-12.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Thank you. The three numbers summarize the answers to RQ1, RQ2 and RQ3. The report and the full artifact, with raw per-seed results and the registration file, are available for checking.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threshold sensitivity on seeds 200-219. Use if asked whether tau = 0.3 was cherry-picked: it was frozen from the earlier report, and thresholds from 0.1 to 0.5 all give positive means.</a:t>
            </a:r>
          </a:p>
          <a:p>
            <a:r>
              <a:t>Source: results/improvement/tau.</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every policy on the fresh test seeds. Use if asked about NILAS (it beats LAVA at most accuracies here) or LA-Binary (slightly below Best-Fit everywhere).</a:t>
            </a:r>
          </a:p>
          <a:p>
            <a:r>
              <a:t>Source: results/improvement/test/summary.json.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Our project revisits LAVA, Google's lifetime-aware VM allocator from MLSys 2025. The original course code and traces were lost, so we rebuilt the system in a transparent simulator and used it to ask how lifetime-prediction quality and uncertainty handling change the scheduling benefit.</a:t>
            </a:r>
          </a:p>
          <a:p>
            <a:r>
              <a:t>Timing: about 18 minutes for the 20 main slides; slides 21-22 are backup.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017cea0e5284b67"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19bd6e9788624f16"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26ed8bf669094dce"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79a94d98c1bb4119"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cffe07d8995544a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ed98d8fd5d884d6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a28546a510244e99"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d2b71599c59e45f8"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84dabbe685c141b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7133e9d6044f41a0"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c466d79906d9491f" Type="http://schemas.openxmlformats.org/officeDocument/2006/relationships/slideMaster" Target="../slideMasters/slideMaster1.xml"/></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C3DEC7A-778A-4886-B790-983A392A7D4F}"/>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64A6B830-F949-4CF0-9235-0135EE7DAC14}"/>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FF34FC41-1861-4022-BF4D-F5714200567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4AEF9D89-47A7-426A-877F-ACBE3FAE14D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51765F9-FD96-45B7-9EC3-84EE7E40E85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9EF620B-ED8C-4229-A1AE-2927C22DE63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11DC080E-EFB2-4B35-9EC9-A064B5ABABA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282368A-C9E2-4710-A555-A9FE21BD8D6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ADE09EC5-C6B3-4A52-8B9B-E41A22FBB5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A3CFEBD-4698-4490-8CC0-3DB334F830F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8B09CE9-3EAE-4A74-8390-8D8F6BFCB774}"/>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18F5DCB3-3634-4B08-916D-AB397D4F9F06}"/>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8E87893F-3747-4891-868B-FAD4585F533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ACFDFFF2-DB73-439C-BED5-68D562D46B6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4E31057-FA03-4190-859D-54FB7C38871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E331B9A-EFB2-4E34-AEE3-841F8E91B1A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D6FE38D-32A6-4FF7-ABE0-F44C99BBF614}"/>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1F684E0A-26C5-4ACA-ADC9-7F5AEAB307AD}"/>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613DEC4A-429C-4954-BD81-BFA9CFF8B22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FAD1BA84-4651-4E1E-B12B-3A693B71E6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2022FB3-3631-4A02-BB02-E6FD4F106F5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04C3FD9-FE67-4F9E-8CB1-B584673EAD0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48E14D0-D492-4873-B513-BB5AD92CB15B}"/>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449F30B4-4540-4F8E-BBD8-0F429280E5F2}"/>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211DDE2D-9396-441E-9B43-E916BCC02AC0}"/>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650A8BA5-D284-4314-B5E4-A6582974E1E2}"/>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C4125A3-1AB3-4860-AFD8-1DA68C5D1D5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0B2DD97E-89E5-453B-A527-96F1254548A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43A83815-2842-40C7-A223-3B0DFF1532D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F14075C-69F2-4C38-B1EE-70400C69273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3D094E53-74DA-4190-816D-2847571166F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877B02C0-BD7B-42A8-A47E-70047B87F6E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F4EF1428-F857-41BE-808A-C23E4EC679B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BF038FBE-DD9D-44D5-897D-6D5F30CD9B5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08381F70-580A-4C5C-87EF-98456A0811B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2EB5C290-DF90-49E8-9B1D-FAAA7480DC5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1AD740E-08E3-40EB-AB9A-1CAAF077301F}"/>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F290EDC8-3A47-4739-AF20-FC06738406A2}"/>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50B08651-FD0F-4389-AB03-58F62A4CD41E}"/>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6F9633B-EFEB-4B09-9171-4E6C578EC5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0F890B55-CEB7-4709-8AFB-3E535899132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050837D-EFC8-44E0-86C5-8CE12D2BBD1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1E45631-876A-42D3-BBDC-43D9992DD8C1}"/>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86E3757D-3BBD-4A3B-9135-022A5D385BB1}"/>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D21876A1-E6F2-44DB-B1D0-BD3486238768}"/>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C44BA822-2DCF-43F2-BA0D-915C0C15823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04B13691-0A2F-4D1A-82C1-6E0E1809684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553BBB9-BA6E-482C-AB9D-6CD9B59B964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5E33571-EC1B-48A4-9F66-CEFBE00CA89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ABAC9877-202D-4CAE-A0A8-0045A1AA7048}"/>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86B45D7-D0FB-4A65-A98D-9372E5379AC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18C0C370-1F8E-4486-ABAF-8DCE9F7BEDC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CC2F0DE-97F9-4E97-B1C0-8F7AF9DF18C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675B2B40-D37C-411A-A64C-BAD51F3EB255}"/>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A1BC9F49-894F-4314-96BC-560C213B7BD5}"/>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7B712198-24C5-4803-AE8A-276D92BD452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45EFBB03-5F48-46EB-BA09-E3B04AE02BE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060E000-D408-4FFA-B2C9-C1317D3EF65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xml version='1.0' encoding='UTF-8' standalone='yes'?>
<Relationships xmlns="http://schemas.openxmlformats.org/package/2006/relationships"><Relationship Id="R37e711659c6049b3" Type="http://schemas.openxmlformats.org/officeDocument/2006/relationships/slideLayout" Target="../slideLayouts/slideLayout1.xml"/><Relationship Id="R387c55cec5814ba7" Type="http://schemas.openxmlformats.org/officeDocument/2006/relationships/slideLayout" Target="../slideLayouts/slideLayout5.xml"/><Relationship Id="R4103108823c64258" Type="http://schemas.openxmlformats.org/officeDocument/2006/relationships/slideLayout" Target="../slideLayouts/slideLayout4.xml"/><Relationship Id="R4b39331e78a14a48" Type="http://schemas.openxmlformats.org/officeDocument/2006/relationships/slideLayout" Target="../slideLayouts/slideLayout2.xml"/><Relationship Id="R5c220667b8f14015" Type="http://schemas.openxmlformats.org/officeDocument/2006/relationships/slideLayout" Target="../slideLayouts/slideLayout3.xml"/><Relationship Id="R66ba33175fb84850" Type="http://schemas.openxmlformats.org/officeDocument/2006/relationships/slideLayout" Target="../slideLayouts/slideLayout10.xml"/><Relationship Id="R6df90a5671774d27" Type="http://schemas.openxmlformats.org/officeDocument/2006/relationships/slideLayout" Target="../slideLayouts/slideLayout6.xml"/><Relationship Id="R91179f34fada4c3a" Type="http://schemas.openxmlformats.org/officeDocument/2006/relationships/theme" Target="theme/theme2.xml"/><Relationship Id="Ra464d0c419ed4202" Type="http://schemas.openxmlformats.org/officeDocument/2006/relationships/slideLayout" Target="../slideLayouts/slideLayout8.xml"/><Relationship Id="Rbbc9001e1d054d2a" Type="http://schemas.openxmlformats.org/officeDocument/2006/relationships/slideLayout" Target="../slideLayouts/slideLayout9.xml"/><Relationship Id="Rdd4357bde8a74031" Type="http://schemas.openxmlformats.org/officeDocument/2006/relationships/slideLayout" Target="../slideLayouts/slideLayout7.xml"/><Relationship Id="Rfec3ace07a5b4ba9" Type="http://schemas.openxmlformats.org/officeDocument/2006/relationships/slideLayout" Target="../slideLayouts/slideLayout11.xml"/></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FE6D0E54-053D-4C9B-A3D4-D443573276B1}"/>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5CE85B3-FBB7-41B2-95C1-2A47198B0333}"/>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708D3CBA-9E89-4281-9BAA-613925CE9B68}"/>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FEB79A74-2015-47A6-AD80-E893E56786B4}"/>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ACBE6DB-4C27-4F5C-8C3E-BF66F8385187}"/>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e711659c6049b3"/>
    <p:sldLayoutId xmlns:r="http://schemas.openxmlformats.org/officeDocument/2006/relationships" id="2147483650" r:id="R4b39331e78a14a48"/>
    <p:sldLayoutId xmlns:r="http://schemas.openxmlformats.org/officeDocument/2006/relationships" id="2147483651" r:id="R5c220667b8f14015"/>
    <p:sldLayoutId xmlns:r="http://schemas.openxmlformats.org/officeDocument/2006/relationships" id="2147483652" r:id="R4103108823c64258"/>
    <p:sldLayoutId xmlns:r="http://schemas.openxmlformats.org/officeDocument/2006/relationships" id="2147483653" r:id="R387c55cec5814ba7"/>
    <p:sldLayoutId xmlns:r="http://schemas.openxmlformats.org/officeDocument/2006/relationships" id="2147483654" r:id="R6df90a5671774d27"/>
    <p:sldLayoutId xmlns:r="http://schemas.openxmlformats.org/officeDocument/2006/relationships" id="2147483655" r:id="Rdd4357bde8a74031"/>
    <p:sldLayoutId xmlns:r="http://schemas.openxmlformats.org/officeDocument/2006/relationships" id="2147483656" r:id="Ra464d0c419ed4202"/>
    <p:sldLayoutId xmlns:r="http://schemas.openxmlformats.org/officeDocument/2006/relationships" id="2147483657" r:id="Rbbc9001e1d054d2a"/>
    <p:sldLayoutId xmlns:r="http://schemas.openxmlformats.org/officeDocument/2006/relationships" id="2147483658" r:id="R66ba33175fb84850"/>
    <p:sldLayoutId xmlns:r="http://schemas.openxmlformats.org/officeDocument/2006/relationships" id="2147483659" r:id="Rfec3ace07a5b4ba9"/>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chart" Target="../charts/char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chart" Target="../charts/char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6812280" y="0"/>
            <a:ext cx="5381244"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6949440" y="1564466"/>
            <a:ext cx="5120640" cy="3729067"/>
          </a:xfrm>
          <a:prstGeom prst="rect">
            <a:avLst/>
          </a:prstGeom>
        </p:spPr>
      </p:pic>
      <p:sp>
        <p:nvSpPr>
          <p:cNvPr id="4" name="TextBox 3"/>
          <p:cNvSpPr txBox="1"/>
          <p:nvPr/>
        </p:nvSpPr>
        <p:spPr>
          <a:xfrm>
            <a:off x="685800" y="960120"/>
            <a:ext cx="5852160" cy="1005840"/>
          </a:xfrm>
          <a:prstGeom prst="rect">
            <a:avLst/>
          </a:prstGeom>
          <a:noFill/>
        </p:spPr>
        <p:txBody>
          <a:bodyPr wrap="square" lIns="36576" rIns="36576" tIns="36576" bIns="36576" anchor="t">
            <a:noAutofit/>
          </a:bodyPr>
          <a:lstStyle/>
          <a:p>
            <a:pPr algn="l"/>
            <a:r>
              <a:rPr sz="3000" b="1" i="0">
                <a:solidFill>
                  <a:srgbClr val="233142"/>
                </a:solidFill>
                <a:latin typeface="Aptos"/>
                <a:ea typeface="Aptos"/>
                <a:cs typeface="Aptos"/>
              </a:rPr>
              <a:t>Revisiting Lifetime-Aware</a:t>
            </a:r>
          </a:p>
          <a:p>
            <a:pPr algn="l"/>
            <a:r>
              <a:rPr sz="3000" b="1" i="0">
                <a:solidFill>
                  <a:srgbClr val="233142"/>
                </a:solidFill>
                <a:latin typeface="Aptos"/>
                <a:ea typeface="Aptos"/>
                <a:cs typeface="Aptos"/>
              </a:rPr>
              <a:t>VM Allocation</a:t>
            </a:r>
          </a:p>
        </p:txBody>
      </p:sp>
      <p:sp>
        <p:nvSpPr>
          <p:cNvPr id="5" name="TextBox 4"/>
          <p:cNvSpPr txBox="1"/>
          <p:nvPr/>
        </p:nvSpPr>
        <p:spPr>
          <a:xfrm>
            <a:off x="685800" y="2331720"/>
            <a:ext cx="5760720" cy="731520"/>
          </a:xfrm>
          <a:prstGeom prst="rect">
            <a:avLst/>
          </a:prstGeom>
          <a:noFill/>
        </p:spPr>
        <p:txBody>
          <a:bodyPr wrap="square" lIns="36576" rIns="36576" tIns="36576" bIns="36576" anchor="t">
            <a:noAutofit/>
          </a:bodyPr>
          <a:lstStyle/>
          <a:p>
            <a:pPr algn="l"/>
            <a:r>
              <a:rPr sz="1900" b="1" i="0">
                <a:solidFill>
                  <a:srgbClr val="2F5D8A"/>
                </a:solidFill>
                <a:latin typeface="Aptos"/>
                <a:ea typeface="Aptos"/>
                <a:cs typeface="Aptos"/>
              </a:rPr>
              <a:t>Reconstruction, Diagnosis and</a:t>
            </a:r>
          </a:p>
          <a:p>
            <a:pPr algn="l"/>
            <a:r>
              <a:rPr sz="1900" b="1" i="0">
                <a:solidFill>
                  <a:srgbClr val="2F5D8A"/>
                </a:solidFill>
                <a:latin typeface="Aptos"/>
                <a:ea typeface="Aptos"/>
                <a:cs typeface="Aptos"/>
              </a:rPr>
              <a:t>Prior-Fused Lifetime Prediction</a:t>
            </a:r>
          </a:p>
        </p:txBody>
      </p:sp>
      <p:sp>
        <p:nvSpPr>
          <p:cNvPr id="6" name="TextBox 5"/>
          <p:cNvSpPr txBox="1"/>
          <p:nvPr/>
        </p:nvSpPr>
        <p:spPr>
          <a:xfrm>
            <a:off x="685800" y="3310128"/>
            <a:ext cx="5577840" cy="292608"/>
          </a:xfrm>
          <a:prstGeom prst="rect">
            <a:avLst/>
          </a:prstGeom>
          <a:noFill/>
        </p:spPr>
        <p:txBody>
          <a:bodyPr wrap="square" lIns="36576" rIns="36576" tIns="36576" bIns="36576" anchor="t">
            <a:noAutofit/>
          </a:bodyPr>
          <a:lstStyle/>
          <a:p>
            <a:pPr algn="l"/>
            <a:r>
              <a:rPr sz="1300" b="0" i="0">
                <a:solidFill>
                  <a:srgbClr val="5A6573"/>
                </a:solidFill>
                <a:latin typeface="Aptos"/>
                <a:ea typeface="Aptos"/>
                <a:cs typeface="Aptos"/>
              </a:rPr>
              <a:t>Lifetime prediction, confidence routing and prior fusion</a:t>
            </a:r>
          </a:p>
        </p:txBody>
      </p:sp>
      <p:sp>
        <p:nvSpPr>
          <p:cNvPr id="7" name="Rounded Rectangle 6"/>
          <p:cNvSpPr/>
          <p:nvPr/>
        </p:nvSpPr>
        <p:spPr>
          <a:xfrm>
            <a:off x="685800" y="4069080"/>
            <a:ext cx="2514600" cy="365760"/>
          </a:xfrm>
          <a:prstGeom prst="roundRect">
            <a:avLst>
              <a:gd name="adj" fmla="val 16670"/>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069080"/>
            <a:ext cx="2514600" cy="365760"/>
          </a:xfrm>
          <a:prstGeom prst="rect">
            <a:avLst/>
          </a:prstGeom>
          <a:noFill/>
        </p:spPr>
        <p:txBody>
          <a:bodyPr wrap="square" lIns="36576" rIns="36576" tIns="36576" bIns="36576" anchor="ctr">
            <a:noAutofit/>
          </a:bodyPr>
          <a:lstStyle/>
          <a:p>
            <a:pPr algn="ctr"/>
            <a:r>
              <a:rPr sz="1100" b="1" i="0">
                <a:solidFill>
                  <a:srgbClr val="FFFFFF"/>
                </a:solidFill>
                <a:latin typeface="Aptos"/>
                <a:ea typeface="Aptos"/>
                <a:cs typeface="Aptos"/>
              </a:rPr>
              <a:t>Synthetic reconstruction</a:t>
            </a:r>
          </a:p>
        </p:txBody>
      </p:sp>
      <p:sp>
        <p:nvSpPr>
          <p:cNvPr id="9" name="Rounded Rectangle 8"/>
          <p:cNvSpPr/>
          <p:nvPr/>
        </p:nvSpPr>
        <p:spPr>
          <a:xfrm>
            <a:off x="3383280" y="4069080"/>
            <a:ext cx="2514600" cy="365760"/>
          </a:xfrm>
          <a:prstGeom prst="roundRect">
            <a:avLst>
              <a:gd name="adj" fmla="val 16670"/>
            </a:avLst>
          </a:prstGeom>
          <a:solidFill>
            <a:srgbClr val="3E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0" y="4069080"/>
            <a:ext cx="2514600" cy="365760"/>
          </a:xfrm>
          <a:prstGeom prst="rect">
            <a:avLst/>
          </a:prstGeom>
          <a:noFill/>
        </p:spPr>
        <p:txBody>
          <a:bodyPr wrap="square" lIns="36576" rIns="36576" tIns="36576" bIns="36576" anchor="ctr">
            <a:noAutofit/>
          </a:bodyPr>
          <a:lstStyle/>
          <a:p>
            <a:pPr algn="ctr"/>
            <a:r>
              <a:rPr sz="1100" b="1" i="0">
                <a:solidFill>
                  <a:srgbClr val="FFFFFF"/>
                </a:solidFill>
                <a:latin typeface="Aptos"/>
                <a:ea typeface="Aptos"/>
                <a:cs typeface="Aptos"/>
              </a:rPr>
              <a:t>100 fresh test seeds</a:t>
            </a:r>
          </a:p>
        </p:txBody>
      </p:sp>
      <p:sp>
        <p:nvSpPr>
          <p:cNvPr id="11" name="Rounded Rectangle 10"/>
          <p:cNvSpPr/>
          <p:nvPr/>
        </p:nvSpPr>
        <p:spPr>
          <a:xfrm>
            <a:off x="685800" y="4572000"/>
            <a:ext cx="2514600" cy="365760"/>
          </a:xfrm>
          <a:prstGeom prst="roundRect">
            <a:avLst>
              <a:gd name="adj" fmla="val 16670"/>
            </a:avLst>
          </a:prstGeom>
          <a:solidFill>
            <a:srgbClr val="A85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572000"/>
            <a:ext cx="2514600" cy="365760"/>
          </a:xfrm>
          <a:prstGeom prst="rect">
            <a:avLst/>
          </a:prstGeom>
          <a:noFill/>
        </p:spPr>
        <p:txBody>
          <a:bodyPr wrap="square" lIns="36576" rIns="36576" tIns="36576" bIns="36576" anchor="ctr">
            <a:noAutofit/>
          </a:bodyPr>
          <a:lstStyle/>
          <a:p>
            <a:pPr algn="ctr"/>
            <a:r>
              <a:rPr sz="1100" b="1" i="0">
                <a:solidFill>
                  <a:srgbClr val="FFFFFF"/>
                </a:solidFill>
                <a:latin typeface="Aptos"/>
                <a:ea typeface="Aptos"/>
                <a:cs typeface="Aptos"/>
              </a:rPr>
              <a:t>Pre-registered, Holm-corrected</a:t>
            </a:r>
          </a:p>
        </p:txBody>
      </p:sp>
      <p:sp>
        <p:nvSpPr>
          <p:cNvPr id="13" name="TextBox 12"/>
          <p:cNvSpPr txBox="1"/>
          <p:nvPr/>
        </p:nvSpPr>
        <p:spPr>
          <a:xfrm>
            <a:off x="685800" y="5715000"/>
            <a:ext cx="4572000" cy="274320"/>
          </a:xfrm>
          <a:prstGeom prst="rect">
            <a:avLst/>
          </a:prstGeom>
          <a:noFill/>
        </p:spPr>
        <p:txBody>
          <a:bodyPr wrap="square" lIns="36576" rIns="36576" tIns="36576" bIns="36576" anchor="t">
            <a:noAutofit/>
          </a:bodyPr>
          <a:lstStyle/>
          <a:p>
            <a:pPr algn="l"/>
            <a:r>
              <a:rPr sz="1200" b="1" i="0">
                <a:solidFill>
                  <a:srgbClr val="5A6573"/>
                </a:solidFill>
                <a:latin typeface="Aptos"/>
                <a:ea typeface="Aptos"/>
                <a:cs typeface="Aptos"/>
              </a:rPr>
              <a:t>CE7490 Course Project</a:t>
            </a:r>
          </a:p>
        </p:txBody>
      </p:sp>
      <p:sp>
        <p:nvSpPr>
          <p:cNvPr id="14" name="TextBox 13"/>
          <p:cNvSpPr txBox="1"/>
          <p:nvPr/>
        </p:nvSpPr>
        <p:spPr>
          <a:xfrm>
            <a:off x="685800" y="6035040"/>
            <a:ext cx="4572000" cy="256032"/>
          </a:xfrm>
          <a:prstGeom prst="rect">
            <a:avLst/>
          </a:prstGeom>
          <a:noFill/>
        </p:spPr>
        <p:txBody>
          <a:bodyPr wrap="square" lIns="36576" rIns="36576" tIns="36576" bIns="36576" anchor="t">
            <a:noAutofit/>
          </a:bodyPr>
          <a:lstStyle/>
          <a:p>
            <a:pPr algn="l"/>
            <a:r>
              <a:rPr sz="1100" b="0" i="0">
                <a:solidFill>
                  <a:srgbClr val="5A6573"/>
                </a:solidFill>
                <a:latin typeface="Aptos"/>
                <a:ea typeface="Aptos"/>
                <a:cs typeface="Aptos"/>
              </a:rPr>
              <a:t>Revised 29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502920" y="320040"/>
            <a:ext cx="502920" cy="256032"/>
          </a:xfrm>
          <a:prstGeom prst="rect">
            <a:avLst/>
          </a:prstGeom>
          <a:noFill/>
        </p:spPr>
        <p:txBody>
          <a:bodyPr wrap="square" lIns="36576" rIns="36576" tIns="36576" bIns="36576" anchor="ctr">
            <a:noAutofit/>
          </a:bodyPr>
          <a:lstStyle/>
          <a:p>
            <a:pPr algn="ctr"/>
            <a:r>
              <a:rPr sz="1200" b="1" i="0">
                <a:solidFill>
                  <a:srgbClr val="A85A14"/>
                </a:solidFill>
                <a:latin typeface="Aptos"/>
                <a:ea typeface="Aptos"/>
                <a:cs typeface="Aptos"/>
              </a:rPr>
              <a:t>02</a:t>
            </a:r>
          </a:p>
        </p:txBody>
      </p:sp>
      <p:sp>
        <p:nvSpPr>
          <p:cNvPr id="3" name="TextBox 2"/>
          <p:cNvSpPr txBox="1"/>
          <p:nvPr/>
        </p:nvSpPr>
        <p:spPr>
          <a:xfrm>
            <a:off x="1005840" y="256032"/>
            <a:ext cx="10561320" cy="466344"/>
          </a:xfrm>
          <a:prstGeom prst="rect">
            <a:avLst/>
          </a:prstGeom>
          <a:noFill/>
        </p:spPr>
        <p:txBody>
          <a:bodyPr wrap="square" lIns="36576" rIns="36576" tIns="36576" bIns="36576" anchor="t">
            <a:noAutofit/>
          </a:bodyPr>
          <a:lstStyle/>
          <a:p>
            <a:pPr algn="l"/>
            <a:r>
              <a:rPr sz="2400" b="1" i="0">
                <a:solidFill>
                  <a:srgbClr val="233142"/>
                </a:solidFill>
                <a:latin typeface="Aptos"/>
                <a:ea typeface="Aptos"/>
                <a:cs typeface="Aptos"/>
              </a:rPr>
              <a:t>Three questions, three answers</a:t>
            </a:r>
          </a:p>
        </p:txBody>
      </p:sp>
      <p:sp>
        <p:nvSpPr>
          <p:cNvPr id="4" name="TextBox 3"/>
          <p:cNvSpPr txBox="1"/>
          <p:nvPr/>
        </p:nvSpPr>
        <p:spPr>
          <a:xfrm>
            <a:off x="594360" y="6528816"/>
            <a:ext cx="6190488" cy="192024"/>
          </a:xfrm>
          <a:prstGeom prst="rect">
            <a:avLst/>
          </a:prstGeom>
          <a:noFill/>
        </p:spPr>
        <p:txBody>
          <a:bodyPr wrap="square" lIns="36576" rIns="36576" tIns="36576" bIns="36576" anchor="t">
            <a:noAutofit/>
          </a:bodyPr>
          <a:lstStyle/>
          <a:p>
            <a:pPr algn="l"/>
            <a:r>
              <a:rPr sz="800" b="0" i="0">
                <a:solidFill>
                  <a:srgbClr val="6B7785"/>
                </a:solidFill>
                <a:latin typeface="Aptos"/>
                <a:ea typeface="Aptos"/>
                <a:cs typeface="Aptos"/>
              </a:rPr>
              <a:t>Independent reconstruction   29 October 2026</a:t>
            </a:r>
          </a:p>
        </p:txBody>
      </p:sp>
      <p:sp>
        <p:nvSpPr>
          <p:cNvPr id="5" name="TextBox 4"/>
          <p:cNvSpPr txBox="1"/>
          <p:nvPr/>
        </p:nvSpPr>
        <p:spPr>
          <a:xfrm>
            <a:off x="11109960" y="6510528"/>
            <a:ext cx="457200" cy="192024"/>
          </a:xfrm>
          <a:prstGeom prst="rect">
            <a:avLst/>
          </a:prstGeom>
          <a:noFill/>
        </p:spPr>
        <p:txBody>
          <a:bodyPr wrap="square" lIns="36576" rIns="36576" tIns="36576" bIns="36576" anchor="t">
            <a:noAutofit/>
          </a:bodyPr>
          <a:lstStyle/>
          <a:p>
            <a:pPr algn="r"/>
            <a:r>
              <a:rPr sz="800" b="0" i="0">
                <a:solidFill>
                  <a:srgbClr val="6B7785"/>
                </a:solidFill>
                <a:latin typeface="Aptos"/>
                <a:ea typeface="Aptos"/>
                <a:cs typeface="Aptos"/>
              </a:rPr>
              <a:t>2</a:t>
            </a:r>
          </a:p>
        </p:txBody>
      </p:sp>
      <p:sp>
        <p:nvSpPr>
          <p:cNvPr id="6" name="Rounded Rectangle 5"/>
          <p:cNvSpPr/>
          <p:nvPr/>
        </p:nvSpPr>
        <p:spPr>
          <a:xfrm>
            <a:off x="685800" y="1188720"/>
            <a:ext cx="3474720" cy="3154680"/>
          </a:xfrm>
          <a:prstGeom prst="roundRect">
            <a:avLst>
              <a:gd name="adj" fmla="val 4637"/>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188720"/>
            <a:ext cx="64008" cy="3154680"/>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298448"/>
            <a:ext cx="3154680" cy="365760"/>
          </a:xfrm>
          <a:prstGeom prst="rect">
            <a:avLst/>
          </a:prstGeom>
          <a:noFill/>
        </p:spPr>
        <p:txBody>
          <a:bodyPr wrap="square" lIns="36576" rIns="36576" tIns="36576" bIns="36576" anchor="t">
            <a:noAutofit/>
          </a:bodyPr>
          <a:lstStyle/>
          <a:p>
            <a:pPr algn="l"/>
            <a:r>
              <a:rPr sz="1600" b="1" i="0">
                <a:solidFill>
                  <a:srgbClr val="2F5D8A"/>
                </a:solidFill>
                <a:latin typeface="Aptos"/>
                <a:ea typeface="Aptos"/>
                <a:cs typeface="Aptos"/>
              </a:rPr>
              <a:t>RQ1 · Prediction quality</a:t>
            </a:r>
          </a:p>
        </p:txBody>
      </p:sp>
      <p:sp>
        <p:nvSpPr>
          <p:cNvPr id="9" name="TextBox 8"/>
          <p:cNvSpPr txBox="1"/>
          <p:nvPr/>
        </p:nvSpPr>
        <p:spPr>
          <a:xfrm>
            <a:off x="868680" y="1709928"/>
            <a:ext cx="3154680" cy="731520"/>
          </a:xfrm>
          <a:prstGeom prst="rect">
            <a:avLst/>
          </a:prstGeom>
          <a:noFill/>
        </p:spPr>
        <p:txBody>
          <a:bodyPr wrap="square" lIns="36576" rIns="36576" tIns="36576" bIns="36576" anchor="t">
            <a:noAutofit/>
          </a:bodyPr>
          <a:lstStyle/>
          <a:p>
            <a:pPr algn="l"/>
            <a:r>
              <a:rPr sz="1300" b="0" i="0">
                <a:solidFill>
                  <a:srgbClr val="5A6573"/>
                </a:solidFill>
                <a:latin typeface="Aptos"/>
                <a:ea typeface="Aptos"/>
                <a:cs typeface="Aptos"/>
              </a:rPr>
              <a:t>Does LAVA’s benefit depend on how accurate lifetime predictions are?</a:t>
            </a:r>
          </a:p>
        </p:txBody>
      </p:sp>
      <p:sp>
        <p:nvSpPr>
          <p:cNvPr id="10" name="TextBox 9"/>
          <p:cNvSpPr txBox="1"/>
          <p:nvPr/>
        </p:nvSpPr>
        <p:spPr>
          <a:xfrm>
            <a:off x="868680" y="2514600"/>
            <a:ext cx="3154680" cy="640080"/>
          </a:xfrm>
          <a:prstGeom prst="rect">
            <a:avLst/>
          </a:prstGeom>
          <a:noFill/>
        </p:spPr>
        <p:txBody>
          <a:bodyPr wrap="square" lIns="36576" rIns="36576" tIns="36576" bIns="36576" anchor="t">
            <a:noAutofit/>
          </a:bodyPr>
          <a:lstStyle/>
          <a:p>
            <a:pPr algn="l"/>
            <a:r>
              <a:rPr sz="3000" b="1" i="0">
                <a:solidFill>
                  <a:srgbClr val="2F5D8A"/>
                </a:solidFill>
                <a:latin typeface="Aptos"/>
                <a:ea typeface="Aptos"/>
                <a:cs typeface="Aptos"/>
              </a:rPr>
              <a:t>−0.19 → +0.51 pp</a:t>
            </a:r>
          </a:p>
        </p:txBody>
      </p:sp>
      <p:sp>
        <p:nvSpPr>
          <p:cNvPr id="11" name="TextBox 10"/>
          <p:cNvSpPr txBox="1"/>
          <p:nvPr/>
        </p:nvSpPr>
        <p:spPr>
          <a:xfrm>
            <a:off x="868680" y="3291840"/>
            <a:ext cx="3154680" cy="960120"/>
          </a:xfrm>
          <a:prstGeom prst="rect">
            <a:avLst/>
          </a:prstGeom>
          <a:noFill/>
        </p:spPr>
        <p:txBody>
          <a:bodyPr wrap="square" lIns="36576" rIns="36576" tIns="36576" bIns="36576" anchor="t">
            <a:noAutofit/>
          </a:bodyPr>
          <a:lstStyle/>
          <a:p>
            <a:pPr algn="l"/>
            <a:r>
              <a:rPr sz="1400" b="0" i="0">
                <a:solidFill>
                  <a:srgbClr val="233142"/>
                </a:solidFill>
                <a:latin typeface="Aptos"/>
                <a:ea typeface="Aptos"/>
                <a:cs typeface="Aptos"/>
              </a:rPr>
              <a:t>Yes. LAVA loses to Best-Fit at 25% accuracy and gains clearly at 100%.</a:t>
            </a:r>
          </a:p>
        </p:txBody>
      </p:sp>
      <p:sp>
        <p:nvSpPr>
          <p:cNvPr id="12" name="Rounded Rectangle 11"/>
          <p:cNvSpPr/>
          <p:nvPr/>
        </p:nvSpPr>
        <p:spPr>
          <a:xfrm>
            <a:off x="4343400" y="1188720"/>
            <a:ext cx="3474720" cy="3154680"/>
          </a:xfrm>
          <a:prstGeom prst="roundRect">
            <a:avLst>
              <a:gd name="adj" fmla="val 4637"/>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188720"/>
            <a:ext cx="64008" cy="3154680"/>
          </a:xfrm>
          <a:prstGeom prst="rect">
            <a:avLst/>
          </a:prstGeom>
          <a:solidFill>
            <a:srgbClr val="D98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1298448"/>
            <a:ext cx="3154680" cy="365760"/>
          </a:xfrm>
          <a:prstGeom prst="rect">
            <a:avLst/>
          </a:prstGeom>
          <a:noFill/>
        </p:spPr>
        <p:txBody>
          <a:bodyPr wrap="square" lIns="36576" rIns="36576" tIns="36576" bIns="36576" anchor="t">
            <a:noAutofit/>
          </a:bodyPr>
          <a:lstStyle/>
          <a:p>
            <a:pPr algn="l"/>
            <a:r>
              <a:rPr sz="1600" b="1" i="0">
                <a:solidFill>
                  <a:srgbClr val="A85A14"/>
                </a:solidFill>
                <a:latin typeface="Aptos"/>
                <a:ea typeface="Aptos"/>
                <a:cs typeface="Aptos"/>
              </a:rPr>
              <a:t>RQ2 · Confidence routing</a:t>
            </a:r>
          </a:p>
        </p:txBody>
      </p:sp>
      <p:sp>
        <p:nvSpPr>
          <p:cNvPr id="15" name="TextBox 14"/>
          <p:cNvSpPr txBox="1"/>
          <p:nvPr/>
        </p:nvSpPr>
        <p:spPr>
          <a:xfrm>
            <a:off x="4526280" y="1709928"/>
            <a:ext cx="3154680" cy="731520"/>
          </a:xfrm>
          <a:prstGeom prst="rect">
            <a:avLst/>
          </a:prstGeom>
          <a:noFill/>
        </p:spPr>
        <p:txBody>
          <a:bodyPr wrap="square" lIns="36576" rIns="36576" tIns="36576" bIns="36576" anchor="t">
            <a:noAutofit/>
          </a:bodyPr>
          <a:lstStyle/>
          <a:p>
            <a:pPr algn="l"/>
            <a:r>
              <a:rPr sz="1300" b="0" i="0">
                <a:solidFill>
                  <a:srgbClr val="5A6573"/>
                </a:solidFill>
                <a:latin typeface="Aptos"/>
                <a:ea typeface="Aptos"/>
                <a:cs typeface="Aptos"/>
              </a:rPr>
              <a:t>Does routing low-confidence VMs away from LAVA help?</a:t>
            </a:r>
          </a:p>
        </p:txBody>
      </p:sp>
      <p:sp>
        <p:nvSpPr>
          <p:cNvPr id="16" name="TextBox 15"/>
          <p:cNvSpPr txBox="1"/>
          <p:nvPr/>
        </p:nvSpPr>
        <p:spPr>
          <a:xfrm>
            <a:off x="4526280" y="2514600"/>
            <a:ext cx="3154680" cy="640080"/>
          </a:xfrm>
          <a:prstGeom prst="rect">
            <a:avLst/>
          </a:prstGeom>
          <a:noFill/>
        </p:spPr>
        <p:txBody>
          <a:bodyPr wrap="square" lIns="36576" rIns="36576" tIns="36576" bIns="36576" anchor="t">
            <a:noAutofit/>
          </a:bodyPr>
          <a:lstStyle/>
          <a:p>
            <a:pPr algn="l"/>
            <a:r>
              <a:rPr sz="3000" b="1" i="0">
                <a:solidFill>
                  <a:srgbClr val="A85A14"/>
                </a:solidFill>
                <a:latin typeface="Aptos"/>
                <a:ea typeface="Aptos"/>
                <a:cs typeface="Aptos"/>
              </a:rPr>
              <a:t>−0.090 pp</a:t>
            </a:r>
          </a:p>
        </p:txBody>
      </p:sp>
      <p:sp>
        <p:nvSpPr>
          <p:cNvPr id="17" name="TextBox 16"/>
          <p:cNvSpPr txBox="1"/>
          <p:nvPr/>
        </p:nvSpPr>
        <p:spPr>
          <a:xfrm>
            <a:off x="4526280" y="3291840"/>
            <a:ext cx="3154680" cy="960120"/>
          </a:xfrm>
          <a:prstGeom prst="rect">
            <a:avLst/>
          </a:prstGeom>
          <a:noFill/>
        </p:spPr>
        <p:txBody>
          <a:bodyPr wrap="square" lIns="36576" rIns="36576" tIns="36576" bIns="36576" anchor="t">
            <a:noAutofit/>
          </a:bodyPr>
          <a:lstStyle/>
          <a:p>
            <a:pPr algn="l"/>
            <a:r>
              <a:rPr sz="1400" b="0" i="0">
                <a:solidFill>
                  <a:srgbClr val="233142"/>
                </a:solidFill>
                <a:latin typeface="Aptos"/>
                <a:ea typeface="Aptos"/>
                <a:cs typeface="Aptos"/>
              </a:rPr>
              <a:t>No. Host-level routing is below Best-Fit; three measured causes contribute.</a:t>
            </a:r>
          </a:p>
        </p:txBody>
      </p:sp>
      <p:sp>
        <p:nvSpPr>
          <p:cNvPr id="18" name="Rounded Rectangle 17"/>
          <p:cNvSpPr/>
          <p:nvPr/>
        </p:nvSpPr>
        <p:spPr>
          <a:xfrm>
            <a:off x="8001000" y="1188720"/>
            <a:ext cx="3474720" cy="3154680"/>
          </a:xfrm>
          <a:prstGeom prst="roundRect">
            <a:avLst>
              <a:gd name="adj" fmla="val 4637"/>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01000" y="1188720"/>
            <a:ext cx="64008" cy="3154680"/>
          </a:xfrm>
          <a:prstGeom prst="rect">
            <a:avLst/>
          </a:prstGeom>
          <a:solidFill>
            <a:srgbClr val="3E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83879" y="1298448"/>
            <a:ext cx="3154680" cy="365760"/>
          </a:xfrm>
          <a:prstGeom prst="rect">
            <a:avLst/>
          </a:prstGeom>
          <a:noFill/>
        </p:spPr>
        <p:txBody>
          <a:bodyPr wrap="square" lIns="36576" rIns="36576" tIns="36576" bIns="36576" anchor="t">
            <a:noAutofit/>
          </a:bodyPr>
          <a:lstStyle/>
          <a:p>
            <a:pPr algn="l"/>
            <a:r>
              <a:rPr sz="1600" b="1" i="0">
                <a:solidFill>
                  <a:srgbClr val="3E7C59"/>
                </a:solidFill>
                <a:latin typeface="Aptos"/>
                <a:ea typeface="Aptos"/>
                <a:cs typeface="Aptos"/>
              </a:rPr>
              <a:t>RQ3 · Prior fusion</a:t>
            </a:r>
          </a:p>
        </p:txBody>
      </p:sp>
      <p:sp>
        <p:nvSpPr>
          <p:cNvPr id="21" name="TextBox 20"/>
          <p:cNvSpPr txBox="1"/>
          <p:nvPr/>
        </p:nvSpPr>
        <p:spPr>
          <a:xfrm>
            <a:off x="8183879" y="1709928"/>
            <a:ext cx="3154680" cy="731520"/>
          </a:xfrm>
          <a:prstGeom prst="rect">
            <a:avLst/>
          </a:prstGeom>
          <a:noFill/>
        </p:spPr>
        <p:txBody>
          <a:bodyPr wrap="square" lIns="36576" rIns="36576" tIns="36576" bIns="36576" anchor="t">
            <a:noAutofit/>
          </a:bodyPr>
          <a:lstStyle/>
          <a:p>
            <a:pPr algn="l"/>
            <a:r>
              <a:rPr sz="1300" b="0" i="0">
                <a:solidFill>
                  <a:srgbClr val="5A6573"/>
                </a:solidFill>
                <a:latin typeface="Aptos"/>
                <a:ea typeface="Aptos"/>
                <a:cs typeface="Aptos"/>
              </a:rPr>
              <a:t>Can the lifetime prediction itself be made robust?</a:t>
            </a:r>
          </a:p>
        </p:txBody>
      </p:sp>
      <p:sp>
        <p:nvSpPr>
          <p:cNvPr id="22" name="TextBox 21"/>
          <p:cNvSpPr txBox="1"/>
          <p:nvPr/>
        </p:nvSpPr>
        <p:spPr>
          <a:xfrm>
            <a:off x="8183879" y="2514600"/>
            <a:ext cx="3154680" cy="640080"/>
          </a:xfrm>
          <a:prstGeom prst="rect">
            <a:avLst/>
          </a:prstGeom>
          <a:noFill/>
        </p:spPr>
        <p:txBody>
          <a:bodyPr wrap="square" lIns="36576" rIns="36576" tIns="36576" bIns="36576" anchor="t">
            <a:noAutofit/>
          </a:bodyPr>
          <a:lstStyle/>
          <a:p>
            <a:pPr algn="l"/>
            <a:r>
              <a:rPr sz="3000" b="1" i="0">
                <a:solidFill>
                  <a:srgbClr val="3E7C59"/>
                </a:solidFill>
                <a:latin typeface="Aptos"/>
                <a:ea typeface="Aptos"/>
                <a:cs typeface="Aptos"/>
              </a:rPr>
              <a:t>3 of 4</a:t>
            </a:r>
          </a:p>
        </p:txBody>
      </p:sp>
      <p:sp>
        <p:nvSpPr>
          <p:cNvPr id="23" name="TextBox 22"/>
          <p:cNvSpPr txBox="1"/>
          <p:nvPr/>
        </p:nvSpPr>
        <p:spPr>
          <a:xfrm>
            <a:off x="8183879" y="3291840"/>
            <a:ext cx="3154680" cy="960120"/>
          </a:xfrm>
          <a:prstGeom prst="rect">
            <a:avLst/>
          </a:prstGeom>
          <a:noFill/>
        </p:spPr>
        <p:txBody>
          <a:bodyPr wrap="square" lIns="36576" rIns="36576" tIns="36576" bIns="36576" anchor="t">
            <a:noAutofit/>
          </a:bodyPr>
          <a:lstStyle/>
          <a:p>
            <a:pPr algn="l"/>
            <a:r>
              <a:rPr sz="1400" b="0" i="0">
                <a:solidFill>
                  <a:srgbClr val="233142"/>
                </a:solidFill>
                <a:latin typeface="Aptos"/>
                <a:ea typeface="Aptos"/>
                <a:cs typeface="Aptos"/>
              </a:rPr>
              <a:t>Yes. Beats LAVA in 3 of 4 pre-registered tests and no longer loses at low accuracy.</a:t>
            </a:r>
          </a:p>
        </p:txBody>
      </p:sp>
      <p:sp>
        <p:nvSpPr>
          <p:cNvPr id="24" name="TextBox 23"/>
          <p:cNvSpPr txBox="1"/>
          <p:nvPr/>
        </p:nvSpPr>
        <p:spPr>
          <a:xfrm>
            <a:off x="685800" y="4754880"/>
            <a:ext cx="10835640" cy="384048"/>
          </a:xfrm>
          <a:prstGeom prst="rect">
            <a:avLst/>
          </a:prstGeom>
          <a:noFill/>
        </p:spPr>
        <p:txBody>
          <a:bodyPr wrap="square" lIns="36576" rIns="36576" tIns="36576" bIns="36576" anchor="t">
            <a:noAutofit/>
          </a:bodyPr>
          <a:lstStyle/>
          <a:p>
            <a:pPr algn="ctr"/>
            <a:r>
              <a:rPr sz="1600" b="1" i="0">
                <a:solidFill>
                  <a:srgbClr val="233142"/>
                </a:solidFill>
                <a:latin typeface="Aptos"/>
                <a:ea typeface="Aptos"/>
                <a:cs typeface="Aptos"/>
              </a:rPr>
              <a:t>Lesson: uncertainty helped inside the lifetime estimate, not as a policy switch.</a:t>
            </a:r>
          </a:p>
        </p:txBody>
      </p:sp>
      <p:sp>
        <p:nvSpPr>
          <p:cNvPr id="25" name="TextBox 24"/>
          <p:cNvSpPr txBox="1"/>
          <p:nvPr/>
        </p:nvSpPr>
        <p:spPr>
          <a:xfrm>
            <a:off x="685800" y="5303520"/>
            <a:ext cx="10835640" cy="292608"/>
          </a:xfrm>
          <a:prstGeom prst="rect">
            <a:avLst/>
          </a:prstGeom>
          <a:noFill/>
        </p:spPr>
        <p:txBody>
          <a:bodyPr wrap="square" lIns="36576" rIns="36576" tIns="36576" bIns="36576" anchor="t">
            <a:noAutofit/>
          </a:bodyPr>
          <a:lstStyle/>
          <a:p>
            <a:pPr algn="ctr"/>
            <a:r>
              <a:rPr sz="1200" b="1" i="0">
                <a:solidFill>
                  <a:srgbClr val="5A6573"/>
                </a:solidFill>
                <a:latin typeface="Aptos"/>
                <a:ea typeface="Aptos"/>
                <a:cs typeface="Aptos"/>
              </a:rPr>
              <a:t>Fresh test seeds 1000–1099 (n = 100); all values relative to same-seed Best-Fit.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502920" y="320040"/>
            <a:ext cx="502920" cy="256032"/>
          </a:xfrm>
          <a:prstGeom prst="rect">
            <a:avLst/>
          </a:prstGeom>
          <a:noFill/>
        </p:spPr>
        <p:txBody>
          <a:bodyPr wrap="square" lIns="36576" rIns="36576" tIns="36576" bIns="36576" anchor="ctr">
            <a:noAutofit/>
          </a:bodyPr>
          <a:lstStyle/>
          <a:p>
            <a:pPr algn="ctr"/>
            <a:r>
              <a:rPr sz="1200" b="1" i="0">
                <a:solidFill>
                  <a:srgbClr val="A85A14"/>
                </a:solidFill>
                <a:latin typeface="Aptos"/>
                <a:ea typeface="Aptos"/>
                <a:cs typeface="Aptos"/>
              </a:rPr>
              <a:t>03</a:t>
            </a:r>
          </a:p>
        </p:txBody>
      </p:sp>
      <p:sp>
        <p:nvSpPr>
          <p:cNvPr id="3" name="TextBox 2"/>
          <p:cNvSpPr txBox="1"/>
          <p:nvPr/>
        </p:nvSpPr>
        <p:spPr>
          <a:xfrm>
            <a:off x="1005840" y="256032"/>
            <a:ext cx="10561320" cy="466344"/>
          </a:xfrm>
          <a:prstGeom prst="rect">
            <a:avLst/>
          </a:prstGeom>
          <a:noFill/>
        </p:spPr>
        <p:txBody>
          <a:bodyPr wrap="square" lIns="36576" rIns="36576" tIns="36576" bIns="36576" anchor="t">
            <a:noAutofit/>
          </a:bodyPr>
          <a:lstStyle/>
          <a:p>
            <a:pPr algn="l"/>
            <a:r>
              <a:rPr sz="2400" b="1" i="0">
                <a:solidFill>
                  <a:srgbClr val="233142"/>
                </a:solidFill>
                <a:latin typeface="Aptos"/>
                <a:ea typeface="Aptos"/>
                <a:cs typeface="Aptos"/>
              </a:rPr>
              <a:t>VM placement and resource fragmentation</a:t>
            </a:r>
          </a:p>
        </p:txBody>
      </p:sp>
      <p:sp>
        <p:nvSpPr>
          <p:cNvPr id="4" name="TextBox 3"/>
          <p:cNvSpPr txBox="1"/>
          <p:nvPr/>
        </p:nvSpPr>
        <p:spPr>
          <a:xfrm>
            <a:off x="594360" y="6528816"/>
            <a:ext cx="6190488" cy="192024"/>
          </a:xfrm>
          <a:prstGeom prst="rect">
            <a:avLst/>
          </a:prstGeom>
          <a:noFill/>
        </p:spPr>
        <p:txBody>
          <a:bodyPr wrap="square" lIns="36576" rIns="36576" tIns="36576" bIns="36576" anchor="t">
            <a:noAutofit/>
          </a:bodyPr>
          <a:lstStyle/>
          <a:p>
            <a:pPr algn="l"/>
            <a:r>
              <a:rPr sz="800" b="0" i="0">
                <a:solidFill>
                  <a:srgbClr val="6B7785"/>
                </a:solidFill>
                <a:latin typeface="Aptos"/>
                <a:ea typeface="Aptos"/>
                <a:cs typeface="Aptos"/>
              </a:rPr>
              <a:t>Independent reconstruction   29 October 2026</a:t>
            </a:r>
          </a:p>
        </p:txBody>
      </p:sp>
      <p:sp>
        <p:nvSpPr>
          <p:cNvPr id="5" name="TextBox 4"/>
          <p:cNvSpPr txBox="1"/>
          <p:nvPr/>
        </p:nvSpPr>
        <p:spPr>
          <a:xfrm>
            <a:off x="11109960" y="6510528"/>
            <a:ext cx="457200" cy="192024"/>
          </a:xfrm>
          <a:prstGeom prst="rect">
            <a:avLst/>
          </a:prstGeom>
          <a:noFill/>
        </p:spPr>
        <p:txBody>
          <a:bodyPr wrap="square" lIns="36576" rIns="36576" tIns="36576" bIns="36576" anchor="t">
            <a:noAutofit/>
          </a:bodyPr>
          <a:lstStyle/>
          <a:p>
            <a:pPr algn="r"/>
            <a:r>
              <a:rPr sz="800" b="0" i="0">
                <a:solidFill>
                  <a:srgbClr val="6B7785"/>
                </a:solidFill>
                <a:latin typeface="Aptos"/>
                <a:ea typeface="Aptos"/>
                <a:cs typeface="Aptos"/>
              </a:rPr>
              <a:t>3</a:t>
            </a:r>
          </a:p>
        </p:txBody>
      </p:sp>
      <p:sp>
        <p:nvSpPr>
          <p:cNvPr id="6" name="Rounded Rectangle 5"/>
          <p:cNvSpPr/>
          <p:nvPr/>
        </p:nvSpPr>
        <p:spPr>
          <a:xfrm>
            <a:off x="685800" y="1188720"/>
            <a:ext cx="6583680" cy="3886200"/>
          </a:xfrm>
          <a:prstGeom prst="roundRect">
            <a:avLst>
              <a:gd name="adj" fmla="val 3764"/>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3"/>
          <a:stretch>
            <a:fillRect/>
          </a:stretch>
        </p:blipFill>
        <p:spPr>
          <a:xfrm>
            <a:off x="777240" y="1620386"/>
            <a:ext cx="6400800" cy="3022866"/>
          </a:xfrm>
          <a:prstGeom prst="rect">
            <a:avLst/>
          </a:prstGeom>
        </p:spPr>
      </p:pic>
      <p:sp>
        <p:nvSpPr>
          <p:cNvPr id="8" name="Rounded Rectangle 7"/>
          <p:cNvSpPr/>
          <p:nvPr/>
        </p:nvSpPr>
        <p:spPr>
          <a:xfrm>
            <a:off x="7543800" y="1188720"/>
            <a:ext cx="3959352" cy="1143000"/>
          </a:xfrm>
          <a:prstGeom prst="roundRect">
            <a:avLst>
              <a:gd name="adj" fmla="val 12800"/>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543800" y="1188720"/>
            <a:ext cx="64008" cy="1143000"/>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26679" y="1298448"/>
            <a:ext cx="3666744" cy="365760"/>
          </a:xfrm>
          <a:prstGeom prst="rect">
            <a:avLst/>
          </a:prstGeom>
          <a:noFill/>
        </p:spPr>
        <p:txBody>
          <a:bodyPr wrap="square" lIns="36576" rIns="36576" tIns="36576" bIns="36576" anchor="t">
            <a:noAutofit/>
          </a:bodyPr>
          <a:lstStyle/>
          <a:p>
            <a:pPr algn="l"/>
            <a:r>
              <a:rPr sz="1600" b="1" i="0">
                <a:solidFill>
                  <a:srgbClr val="2F5D8A"/>
                </a:solidFill>
                <a:latin typeface="Aptos"/>
                <a:ea typeface="Aptos"/>
                <a:cs typeface="Aptos"/>
              </a:rPr>
              <a:t>Multidimensional fragmentation</a:t>
            </a:r>
          </a:p>
        </p:txBody>
      </p:sp>
      <p:sp>
        <p:nvSpPr>
          <p:cNvPr id="11" name="TextBox 10"/>
          <p:cNvSpPr txBox="1"/>
          <p:nvPr/>
        </p:nvSpPr>
        <p:spPr>
          <a:xfrm>
            <a:off x="7726679" y="1691640"/>
            <a:ext cx="3666744" cy="57607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CPU and memory can each be free but unusable together.</a:t>
            </a:r>
          </a:p>
        </p:txBody>
      </p:sp>
      <p:sp>
        <p:nvSpPr>
          <p:cNvPr id="12" name="Rounded Rectangle 11"/>
          <p:cNvSpPr/>
          <p:nvPr/>
        </p:nvSpPr>
        <p:spPr>
          <a:xfrm>
            <a:off x="7543800" y="2514600"/>
            <a:ext cx="3959352" cy="1143000"/>
          </a:xfrm>
          <a:prstGeom prst="roundRect">
            <a:avLst>
              <a:gd name="adj" fmla="val 12800"/>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43800" y="2514600"/>
            <a:ext cx="64008" cy="1143000"/>
          </a:xfrm>
          <a:prstGeom prst="rect">
            <a:avLst/>
          </a:prstGeom>
          <a:solidFill>
            <a:srgbClr val="D98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26679" y="2624328"/>
            <a:ext cx="3666744" cy="365760"/>
          </a:xfrm>
          <a:prstGeom prst="rect">
            <a:avLst/>
          </a:prstGeom>
          <a:noFill/>
        </p:spPr>
        <p:txBody>
          <a:bodyPr wrap="square" lIns="36576" rIns="36576" tIns="36576" bIns="36576" anchor="t">
            <a:noAutofit/>
          </a:bodyPr>
          <a:lstStyle/>
          <a:p>
            <a:pPr algn="l"/>
            <a:r>
              <a:rPr sz="1600" b="1" i="0">
                <a:solidFill>
                  <a:srgbClr val="A85A14"/>
                </a:solidFill>
                <a:latin typeface="Aptos"/>
                <a:ea typeface="Aptos"/>
                <a:cs typeface="Aptos"/>
              </a:rPr>
              <a:t>Time is the hidden dimension</a:t>
            </a:r>
          </a:p>
        </p:txBody>
      </p:sp>
      <p:sp>
        <p:nvSpPr>
          <p:cNvPr id="15" name="TextBox 14"/>
          <p:cNvSpPr txBox="1"/>
          <p:nvPr/>
        </p:nvSpPr>
        <p:spPr>
          <a:xfrm>
            <a:off x="7726679" y="3017520"/>
            <a:ext cx="3666744" cy="57607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VMs that fit equally well can exit at very different times.</a:t>
            </a:r>
          </a:p>
        </p:txBody>
      </p:sp>
      <p:sp>
        <p:nvSpPr>
          <p:cNvPr id="16" name="Rounded Rectangle 15"/>
          <p:cNvSpPr/>
          <p:nvPr/>
        </p:nvSpPr>
        <p:spPr>
          <a:xfrm>
            <a:off x="7543800" y="3840480"/>
            <a:ext cx="3959352" cy="1143000"/>
          </a:xfrm>
          <a:prstGeom prst="roundRect">
            <a:avLst>
              <a:gd name="adj" fmla="val 12800"/>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43800" y="3840480"/>
            <a:ext cx="64008" cy="1143000"/>
          </a:xfrm>
          <a:prstGeom prst="rect">
            <a:avLst/>
          </a:prstGeom>
          <a:solidFill>
            <a:srgbClr val="3E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79" y="3950208"/>
            <a:ext cx="3666744" cy="365760"/>
          </a:xfrm>
          <a:prstGeom prst="rect">
            <a:avLst/>
          </a:prstGeom>
          <a:noFill/>
        </p:spPr>
        <p:txBody>
          <a:bodyPr wrap="square" lIns="36576" rIns="36576" tIns="36576" bIns="36576" anchor="t">
            <a:noAutofit/>
          </a:bodyPr>
          <a:lstStyle/>
          <a:p>
            <a:pPr algn="l"/>
            <a:r>
              <a:rPr sz="1600" b="1" i="0">
                <a:solidFill>
                  <a:srgbClr val="3E7C59"/>
                </a:solidFill>
                <a:latin typeface="Aptos"/>
                <a:ea typeface="Aptos"/>
                <a:cs typeface="Aptos"/>
              </a:rPr>
              <a:t>Operational consequence</a:t>
            </a:r>
          </a:p>
        </p:txBody>
      </p:sp>
      <p:sp>
        <p:nvSpPr>
          <p:cNvPr id="19" name="TextBox 18"/>
          <p:cNvSpPr txBox="1"/>
          <p:nvPr/>
        </p:nvSpPr>
        <p:spPr>
          <a:xfrm>
            <a:off x="7726679" y="4343400"/>
            <a:ext cx="3666744" cy="57607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Empty hosts support maintenance, larger VMs and energy management.</a:t>
            </a:r>
          </a:p>
        </p:txBody>
      </p:sp>
      <p:sp>
        <p:nvSpPr>
          <p:cNvPr id="20" name="TextBox 19"/>
          <p:cNvSpPr txBox="1"/>
          <p:nvPr/>
        </p:nvSpPr>
        <p:spPr>
          <a:xfrm>
            <a:off x="685800" y="5349240"/>
            <a:ext cx="10835640" cy="384048"/>
          </a:xfrm>
          <a:prstGeom prst="rect">
            <a:avLst/>
          </a:prstGeom>
          <a:noFill/>
        </p:spPr>
        <p:txBody>
          <a:bodyPr wrap="square" lIns="36576" rIns="36576" tIns="36576" bIns="36576" anchor="t">
            <a:noAutofit/>
          </a:bodyPr>
          <a:lstStyle/>
          <a:p>
            <a:pPr algn="ctr"/>
            <a:r>
              <a:rPr sz="1600" b="1" i="0">
                <a:solidFill>
                  <a:srgbClr val="233142"/>
                </a:solidFill>
                <a:latin typeface="Aptos"/>
                <a:ea typeface="Aptos"/>
                <a:cs typeface="Aptos"/>
              </a:rPr>
              <a:t>Objective: maximize the time-weighted share of empty hosts without rejecting any VM.</a:t>
            </a:r>
          </a:p>
        </p:txBody>
      </p:sp>
      <p:sp>
        <p:nvSpPr>
          <p:cNvPr id="21" name="TextBox 20"/>
          <p:cNvSpPr txBox="1"/>
          <p:nvPr/>
        </p:nvSpPr>
        <p:spPr>
          <a:xfrm>
            <a:off x="685800" y="5833872"/>
            <a:ext cx="10835640" cy="292608"/>
          </a:xfrm>
          <a:prstGeom prst="rect">
            <a:avLst/>
          </a:prstGeom>
          <a:noFill/>
        </p:spPr>
        <p:txBody>
          <a:bodyPr wrap="square" lIns="36576" rIns="36576" tIns="36576" bIns="36576" anchor="t">
            <a:noAutofit/>
          </a:bodyPr>
          <a:lstStyle/>
          <a:p>
            <a:pPr algn="ctr"/>
            <a:r>
              <a:rPr sz="1200" b="1" i="0">
                <a:solidFill>
                  <a:srgbClr val="5A6573"/>
                </a:solidFill>
                <a:latin typeface="Aptos"/>
                <a:ea typeface="Aptos"/>
                <a:cs typeface="Aptos"/>
              </a:rPr>
              <a:t>Scale: about 90% of host-time is empty under every policy (low load, long drain tail); 1 pp ≈ 1.8 of 180 hosts.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502920" y="320040"/>
            <a:ext cx="502920" cy="256032"/>
          </a:xfrm>
          <a:prstGeom prst="rect">
            <a:avLst/>
          </a:prstGeom>
          <a:noFill/>
        </p:spPr>
        <p:txBody>
          <a:bodyPr wrap="square" lIns="36576" rIns="36576" tIns="36576" bIns="36576" anchor="ctr">
            <a:noAutofit/>
          </a:bodyPr>
          <a:lstStyle/>
          <a:p>
            <a:pPr algn="ctr"/>
            <a:r>
              <a:rPr sz="1200" b="1" i="0">
                <a:solidFill>
                  <a:srgbClr val="A85A14"/>
                </a:solidFill>
                <a:latin typeface="Aptos"/>
                <a:ea typeface="Aptos"/>
                <a:cs typeface="Aptos"/>
              </a:rPr>
              <a:t>04</a:t>
            </a:r>
          </a:p>
        </p:txBody>
      </p:sp>
      <p:sp>
        <p:nvSpPr>
          <p:cNvPr id="3" name="TextBox 2"/>
          <p:cNvSpPr txBox="1"/>
          <p:nvPr/>
        </p:nvSpPr>
        <p:spPr>
          <a:xfrm>
            <a:off x="1005840" y="256032"/>
            <a:ext cx="10561320" cy="466344"/>
          </a:xfrm>
          <a:prstGeom prst="rect">
            <a:avLst/>
          </a:prstGeom>
          <a:noFill/>
        </p:spPr>
        <p:txBody>
          <a:bodyPr wrap="square" lIns="36576" rIns="36576" tIns="36576" bIns="36576" anchor="t">
            <a:noAutofit/>
          </a:bodyPr>
          <a:lstStyle/>
          <a:p>
            <a:pPr algn="l"/>
            <a:r>
              <a:rPr sz="2400" b="1" i="0">
                <a:solidFill>
                  <a:srgbClr val="233142"/>
                </a:solidFill>
                <a:latin typeface="Aptos"/>
                <a:ea typeface="Aptos"/>
                <a:cs typeface="Aptos"/>
              </a:rPr>
              <a:t>LAVA prediction and host lifecycle</a:t>
            </a:r>
          </a:p>
        </p:txBody>
      </p:sp>
      <p:sp>
        <p:nvSpPr>
          <p:cNvPr id="4" name="TextBox 3"/>
          <p:cNvSpPr txBox="1"/>
          <p:nvPr/>
        </p:nvSpPr>
        <p:spPr>
          <a:xfrm>
            <a:off x="594360" y="6528816"/>
            <a:ext cx="6190488" cy="192024"/>
          </a:xfrm>
          <a:prstGeom prst="rect">
            <a:avLst/>
          </a:prstGeom>
          <a:noFill/>
        </p:spPr>
        <p:txBody>
          <a:bodyPr wrap="square" lIns="36576" rIns="36576" tIns="36576" bIns="36576" anchor="t">
            <a:noAutofit/>
          </a:bodyPr>
          <a:lstStyle/>
          <a:p>
            <a:pPr algn="l"/>
            <a:r>
              <a:rPr sz="800" b="0" i="0">
                <a:solidFill>
                  <a:srgbClr val="6B7785"/>
                </a:solidFill>
                <a:latin typeface="Aptos"/>
                <a:ea typeface="Aptos"/>
                <a:cs typeface="Aptos"/>
              </a:rPr>
              <a:t>Independent reconstruction   29 October 2026</a:t>
            </a:r>
          </a:p>
        </p:txBody>
      </p:sp>
      <p:sp>
        <p:nvSpPr>
          <p:cNvPr id="5" name="TextBox 4"/>
          <p:cNvSpPr txBox="1"/>
          <p:nvPr/>
        </p:nvSpPr>
        <p:spPr>
          <a:xfrm>
            <a:off x="11109960" y="6510528"/>
            <a:ext cx="457200" cy="192024"/>
          </a:xfrm>
          <a:prstGeom prst="rect">
            <a:avLst/>
          </a:prstGeom>
          <a:noFill/>
        </p:spPr>
        <p:txBody>
          <a:bodyPr wrap="square" lIns="36576" rIns="36576" tIns="36576" bIns="36576" anchor="t">
            <a:noAutofit/>
          </a:bodyPr>
          <a:lstStyle/>
          <a:p>
            <a:pPr algn="r"/>
            <a:r>
              <a:rPr sz="800" b="0" i="0">
                <a:solidFill>
                  <a:srgbClr val="6B7785"/>
                </a:solidFill>
                <a:latin typeface="Aptos"/>
                <a:ea typeface="Aptos"/>
                <a:cs typeface="Aptos"/>
              </a:rPr>
              <a:t>4</a:t>
            </a:r>
          </a:p>
        </p:txBody>
      </p:sp>
      <p:sp>
        <p:nvSpPr>
          <p:cNvPr id="6" name="Rounded Rectangle 5"/>
          <p:cNvSpPr/>
          <p:nvPr/>
        </p:nvSpPr>
        <p:spPr>
          <a:xfrm>
            <a:off x="685800" y="1143000"/>
            <a:ext cx="2578608" cy="1417320"/>
          </a:xfrm>
          <a:prstGeom prst="roundRect">
            <a:avLst>
              <a:gd name="adj" fmla="val 10322"/>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143000"/>
            <a:ext cx="64008" cy="1417320"/>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252728"/>
            <a:ext cx="2286000" cy="365760"/>
          </a:xfrm>
          <a:prstGeom prst="rect">
            <a:avLst/>
          </a:prstGeom>
          <a:noFill/>
        </p:spPr>
        <p:txBody>
          <a:bodyPr wrap="square" lIns="36576" rIns="36576" tIns="36576" bIns="36576" anchor="t">
            <a:noAutofit/>
          </a:bodyPr>
          <a:lstStyle/>
          <a:p>
            <a:pPr algn="l"/>
            <a:r>
              <a:rPr sz="1600" b="1" i="0">
                <a:solidFill>
                  <a:srgbClr val="2F5D8A"/>
                </a:solidFill>
                <a:latin typeface="Aptos"/>
                <a:ea typeface="Aptos"/>
                <a:cs typeface="Aptos"/>
              </a:rPr>
              <a:t>Distributions</a:t>
            </a:r>
          </a:p>
        </p:txBody>
      </p:sp>
      <p:sp>
        <p:nvSpPr>
          <p:cNvPr id="9" name="TextBox 8"/>
          <p:cNvSpPr txBox="1"/>
          <p:nvPr/>
        </p:nvSpPr>
        <p:spPr>
          <a:xfrm>
            <a:off x="868680" y="1645920"/>
            <a:ext cx="2286000" cy="85039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Estimate a remaining-lifetime distribution for each VM.</a:t>
            </a:r>
          </a:p>
        </p:txBody>
      </p:sp>
      <p:sp>
        <p:nvSpPr>
          <p:cNvPr id="10" name="Rounded Rectangle 9"/>
          <p:cNvSpPr/>
          <p:nvPr/>
        </p:nvSpPr>
        <p:spPr>
          <a:xfrm>
            <a:off x="3419856" y="1143000"/>
            <a:ext cx="2578608" cy="1417320"/>
          </a:xfrm>
          <a:prstGeom prst="roundRect">
            <a:avLst>
              <a:gd name="adj" fmla="val 10322"/>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19856" y="1143000"/>
            <a:ext cx="64008" cy="1417320"/>
          </a:xfrm>
          <a:prstGeom prst="rect">
            <a:avLst/>
          </a:prstGeom>
          <a:solidFill>
            <a:srgbClr val="D98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02736" y="1252728"/>
            <a:ext cx="2286000" cy="365760"/>
          </a:xfrm>
          <a:prstGeom prst="rect">
            <a:avLst/>
          </a:prstGeom>
          <a:noFill/>
        </p:spPr>
        <p:txBody>
          <a:bodyPr wrap="square" lIns="36576" rIns="36576" tIns="36576" bIns="36576" anchor="t">
            <a:noAutofit/>
          </a:bodyPr>
          <a:lstStyle/>
          <a:p>
            <a:pPr algn="l"/>
            <a:r>
              <a:rPr sz="1600" b="1" i="0">
                <a:solidFill>
                  <a:srgbClr val="A85A14"/>
                </a:solidFill>
                <a:latin typeface="Aptos"/>
                <a:ea typeface="Aptos"/>
                <a:cs typeface="Aptos"/>
              </a:rPr>
              <a:t>Re-prediction</a:t>
            </a:r>
          </a:p>
        </p:txBody>
      </p:sp>
      <p:sp>
        <p:nvSpPr>
          <p:cNvPr id="13" name="TextBox 12"/>
          <p:cNvSpPr txBox="1"/>
          <p:nvPr/>
        </p:nvSpPr>
        <p:spPr>
          <a:xfrm>
            <a:off x="3602736" y="1645920"/>
            <a:ext cx="2286000" cy="85039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Condition on uptime to revise the expected remaining lifetime.</a:t>
            </a:r>
          </a:p>
        </p:txBody>
      </p:sp>
      <p:sp>
        <p:nvSpPr>
          <p:cNvPr id="14" name="Rounded Rectangle 13"/>
          <p:cNvSpPr/>
          <p:nvPr/>
        </p:nvSpPr>
        <p:spPr>
          <a:xfrm>
            <a:off x="6153912" y="1143000"/>
            <a:ext cx="2578608" cy="1417320"/>
          </a:xfrm>
          <a:prstGeom prst="roundRect">
            <a:avLst>
              <a:gd name="adj" fmla="val 10322"/>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53912" y="1143000"/>
            <a:ext cx="64008" cy="1417320"/>
          </a:xfrm>
          <a:prstGeom prst="rect">
            <a:avLst/>
          </a:prstGeom>
          <a:solidFill>
            <a:srgbClr val="3E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36792" y="1252728"/>
            <a:ext cx="2286000" cy="365760"/>
          </a:xfrm>
          <a:prstGeom prst="rect">
            <a:avLst/>
          </a:prstGeom>
          <a:noFill/>
        </p:spPr>
        <p:txBody>
          <a:bodyPr wrap="square" lIns="36576" rIns="36576" tIns="36576" bIns="36576" anchor="t">
            <a:noAutofit/>
          </a:bodyPr>
          <a:lstStyle/>
          <a:p>
            <a:pPr algn="l"/>
            <a:r>
              <a:rPr sz="1600" b="1" i="0">
                <a:solidFill>
                  <a:srgbClr val="3E7C59"/>
                </a:solidFill>
                <a:latin typeface="Aptos"/>
                <a:ea typeface="Aptos"/>
                <a:cs typeface="Aptos"/>
              </a:rPr>
              <a:t>Host lifecycle</a:t>
            </a:r>
          </a:p>
        </p:txBody>
      </p:sp>
      <p:sp>
        <p:nvSpPr>
          <p:cNvPr id="17" name="TextBox 16"/>
          <p:cNvSpPr txBox="1"/>
          <p:nvPr/>
        </p:nvSpPr>
        <p:spPr>
          <a:xfrm>
            <a:off x="6336792" y="1645920"/>
            <a:ext cx="2286000" cy="85039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Empty, open and recycling states guide placement.</a:t>
            </a:r>
          </a:p>
        </p:txBody>
      </p:sp>
      <p:sp>
        <p:nvSpPr>
          <p:cNvPr id="18" name="Rounded Rectangle 17"/>
          <p:cNvSpPr/>
          <p:nvPr/>
        </p:nvSpPr>
        <p:spPr>
          <a:xfrm>
            <a:off x="8887968" y="1143000"/>
            <a:ext cx="2578608" cy="1417320"/>
          </a:xfrm>
          <a:prstGeom prst="roundRect">
            <a:avLst>
              <a:gd name="adj" fmla="val 10322"/>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887968" y="1143000"/>
            <a:ext cx="64008" cy="1417320"/>
          </a:xfrm>
          <a:prstGeom prst="rect">
            <a:avLst/>
          </a:prstGeom>
          <a:solidFill>
            <a:srgbClr val="B6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70848" y="1252728"/>
            <a:ext cx="2286000" cy="365760"/>
          </a:xfrm>
          <a:prstGeom prst="rect">
            <a:avLst/>
          </a:prstGeom>
          <a:noFill/>
        </p:spPr>
        <p:txBody>
          <a:bodyPr wrap="square" lIns="36576" rIns="36576" tIns="36576" bIns="36576" anchor="t">
            <a:noAutofit/>
          </a:bodyPr>
          <a:lstStyle/>
          <a:p>
            <a:pPr algn="l"/>
            <a:r>
              <a:rPr sz="1600" b="1" i="0">
                <a:solidFill>
                  <a:srgbClr val="B64A4A"/>
                </a:solidFill>
                <a:latin typeface="Aptos"/>
                <a:ea typeface="Aptos"/>
                <a:cs typeface="Aptos"/>
              </a:rPr>
              <a:t>Temporal placement</a:t>
            </a:r>
          </a:p>
        </p:txBody>
      </p:sp>
      <p:sp>
        <p:nvSpPr>
          <p:cNvPr id="21" name="TextBox 20"/>
          <p:cNvSpPr txBox="1"/>
          <p:nvPr/>
        </p:nvSpPr>
        <p:spPr>
          <a:xfrm>
            <a:off x="9070848" y="1645920"/>
            <a:ext cx="2286000" cy="85039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Align departures and fill recycling hosts with shorter VMs.</a:t>
            </a:r>
          </a:p>
        </p:txBody>
      </p:sp>
      <p:sp>
        <p:nvSpPr>
          <p:cNvPr id="22" name="Rounded Rectangle 21"/>
          <p:cNvSpPr/>
          <p:nvPr/>
        </p:nvSpPr>
        <p:spPr>
          <a:xfrm>
            <a:off x="1463040" y="3246120"/>
            <a:ext cx="1920240" cy="502920"/>
          </a:xfrm>
          <a:prstGeom prst="roundRect">
            <a:avLst>
              <a:gd name="adj" fmla="val 16670"/>
            </a:avLst>
          </a:prstGeom>
          <a:solidFill>
            <a:srgbClr val="FFFFFF"/>
          </a:solidFill>
          <a:ln w="10160">
            <a:solidFill>
              <a:srgbClr val="2F5D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463040" y="3246120"/>
            <a:ext cx="1920240" cy="502920"/>
          </a:xfrm>
          <a:prstGeom prst="rect">
            <a:avLst/>
          </a:prstGeom>
          <a:noFill/>
        </p:spPr>
        <p:txBody>
          <a:bodyPr wrap="square" lIns="36576" rIns="36576" tIns="36576" bIns="36576" anchor="ctr">
            <a:noAutofit/>
          </a:bodyPr>
          <a:lstStyle/>
          <a:p>
            <a:pPr algn="ctr"/>
            <a:r>
              <a:rPr sz="1800" b="1" i="0">
                <a:solidFill>
                  <a:srgbClr val="2F5D8A"/>
                </a:solidFill>
                <a:latin typeface="Aptos"/>
                <a:ea typeface="Aptos"/>
                <a:cs typeface="Aptos"/>
              </a:rPr>
              <a:t>empty</a:t>
            </a:r>
          </a:p>
        </p:txBody>
      </p:sp>
      <p:sp>
        <p:nvSpPr>
          <p:cNvPr id="24" name="Rounded Rectangle 23"/>
          <p:cNvSpPr/>
          <p:nvPr/>
        </p:nvSpPr>
        <p:spPr>
          <a:xfrm>
            <a:off x="5120640" y="3246120"/>
            <a:ext cx="1920240" cy="502920"/>
          </a:xfrm>
          <a:prstGeom prst="roundRect">
            <a:avLst>
              <a:gd name="adj" fmla="val 16670"/>
            </a:avLst>
          </a:prstGeom>
          <a:solidFill>
            <a:srgbClr val="FFFFFF"/>
          </a:solidFill>
          <a:ln w="10160">
            <a:solidFill>
              <a:srgbClr val="D982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20640" y="3246120"/>
            <a:ext cx="1920240" cy="502920"/>
          </a:xfrm>
          <a:prstGeom prst="rect">
            <a:avLst/>
          </a:prstGeom>
          <a:noFill/>
        </p:spPr>
        <p:txBody>
          <a:bodyPr wrap="square" lIns="36576" rIns="36576" tIns="36576" bIns="36576" anchor="ctr">
            <a:noAutofit/>
          </a:bodyPr>
          <a:lstStyle/>
          <a:p>
            <a:pPr algn="ctr"/>
            <a:r>
              <a:rPr sz="1800" b="1" i="0">
                <a:solidFill>
                  <a:srgbClr val="A85A14"/>
                </a:solidFill>
                <a:latin typeface="Aptos"/>
                <a:ea typeface="Aptos"/>
                <a:cs typeface="Aptos"/>
              </a:rPr>
              <a:t>open</a:t>
            </a:r>
          </a:p>
        </p:txBody>
      </p:sp>
      <p:sp>
        <p:nvSpPr>
          <p:cNvPr id="26" name="Rounded Rectangle 25"/>
          <p:cNvSpPr/>
          <p:nvPr/>
        </p:nvSpPr>
        <p:spPr>
          <a:xfrm>
            <a:off x="8778240" y="3246120"/>
            <a:ext cx="1920240" cy="502920"/>
          </a:xfrm>
          <a:prstGeom prst="roundRect">
            <a:avLst>
              <a:gd name="adj" fmla="val 16670"/>
            </a:avLst>
          </a:prstGeom>
          <a:solidFill>
            <a:srgbClr val="FFFFFF"/>
          </a:solidFill>
          <a:ln w="10160">
            <a:solidFill>
              <a:srgbClr val="3E7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0" y="3246120"/>
            <a:ext cx="1920240" cy="502920"/>
          </a:xfrm>
          <a:prstGeom prst="rect">
            <a:avLst/>
          </a:prstGeom>
          <a:noFill/>
        </p:spPr>
        <p:txBody>
          <a:bodyPr wrap="square" lIns="36576" rIns="36576" tIns="36576" bIns="36576" anchor="ctr">
            <a:noAutofit/>
          </a:bodyPr>
          <a:lstStyle/>
          <a:p>
            <a:pPr algn="ctr"/>
            <a:r>
              <a:rPr sz="1800" b="1" i="0">
                <a:solidFill>
                  <a:srgbClr val="3E7C59"/>
                </a:solidFill>
                <a:latin typeface="Aptos"/>
                <a:ea typeface="Aptos"/>
                <a:cs typeface="Aptos"/>
              </a:rPr>
              <a:t>recycling</a:t>
            </a:r>
          </a:p>
        </p:txBody>
      </p:sp>
      <p:cxnSp>
        <p:nvCxnSpPr>
          <p:cNvPr id="28" name="Connector 27"/>
          <p:cNvCxnSpPr/>
          <p:nvPr/>
        </p:nvCxnSpPr>
        <p:spPr>
          <a:xfrm>
            <a:off x="3429000" y="3497579"/>
            <a:ext cx="1645920" cy="0"/>
          </a:xfrm>
          <a:prstGeom prst="line">
            <a:avLst/>
          </a:prstGeom>
          <a:ln w="22225">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086600" y="3497579"/>
            <a:ext cx="1645920" cy="0"/>
          </a:xfrm>
          <a:prstGeom prst="line">
            <a:avLst/>
          </a:prstGeom>
          <a:ln w="22225">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429000" y="2898648"/>
            <a:ext cx="1645920" cy="310896"/>
          </a:xfrm>
          <a:prstGeom prst="rect">
            <a:avLst/>
          </a:prstGeom>
          <a:noFill/>
        </p:spPr>
        <p:txBody>
          <a:bodyPr wrap="square" lIns="36576" rIns="36576" tIns="36576" bIns="36576" anchor="t">
            <a:noAutofit/>
          </a:bodyPr>
          <a:lstStyle/>
          <a:p>
            <a:pPr algn="ctr"/>
            <a:r>
              <a:rPr sz="1200" b="0" i="0">
                <a:solidFill>
                  <a:srgbClr val="5A6573"/>
                </a:solidFill>
                <a:latin typeface="Aptos"/>
                <a:ea typeface="Aptos"/>
                <a:cs typeface="Aptos"/>
              </a:rPr>
              <a:t>first VM</a:t>
            </a:r>
          </a:p>
        </p:txBody>
      </p:sp>
      <p:sp>
        <p:nvSpPr>
          <p:cNvPr id="31" name="TextBox 30"/>
          <p:cNvSpPr txBox="1"/>
          <p:nvPr/>
        </p:nvSpPr>
        <p:spPr>
          <a:xfrm>
            <a:off x="6903720" y="2898648"/>
            <a:ext cx="2011680" cy="310896"/>
          </a:xfrm>
          <a:prstGeom prst="rect">
            <a:avLst/>
          </a:prstGeom>
          <a:noFill/>
        </p:spPr>
        <p:txBody>
          <a:bodyPr wrap="square" lIns="36576" rIns="36576" tIns="36576" bIns="36576" anchor="t">
            <a:noAutofit/>
          </a:bodyPr>
          <a:lstStyle/>
          <a:p>
            <a:pPr algn="ctr"/>
            <a:r>
              <a:rPr sz="1200" b="0" i="0">
                <a:solidFill>
                  <a:srgbClr val="5A6573"/>
                </a:solidFill>
                <a:latin typeface="Aptos"/>
                <a:ea typeface="Aptos"/>
                <a:cs typeface="Aptos"/>
              </a:rPr>
              <a:t>≥90% CPU or memory</a:t>
            </a:r>
          </a:p>
        </p:txBody>
      </p:sp>
      <p:cxnSp>
        <p:nvCxnSpPr>
          <p:cNvPr id="32" name="Connector 31"/>
          <p:cNvCxnSpPr/>
          <p:nvPr/>
        </p:nvCxnSpPr>
        <p:spPr>
          <a:xfrm>
            <a:off x="9738360" y="3794759"/>
            <a:ext cx="0" cy="320041"/>
          </a:xfrm>
          <a:prstGeom prst="line">
            <a:avLst/>
          </a:prstGeom>
          <a:ln w="22225">
            <a:solidFill>
              <a:srgbClr val="6B7785"/>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2423160" y="4114800"/>
            <a:ext cx="7315200" cy="0"/>
          </a:xfrm>
          <a:prstGeom prst="line">
            <a:avLst/>
          </a:prstGeom>
          <a:ln w="22225">
            <a:solidFill>
              <a:srgbClr val="6B7785"/>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2423160" y="3794759"/>
            <a:ext cx="0" cy="320041"/>
          </a:xfrm>
          <a:prstGeom prst="line">
            <a:avLst/>
          </a:prstGeom>
          <a:ln w="22225">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206240" y="4133087"/>
            <a:ext cx="3840480" cy="292608"/>
          </a:xfrm>
          <a:prstGeom prst="rect">
            <a:avLst/>
          </a:prstGeom>
          <a:noFill/>
        </p:spPr>
        <p:txBody>
          <a:bodyPr wrap="square" lIns="36576" rIns="36576" tIns="36576" bIns="36576" anchor="t">
            <a:noAutofit/>
          </a:bodyPr>
          <a:lstStyle/>
          <a:p>
            <a:pPr algn="ctr"/>
            <a:r>
              <a:rPr sz="1200" b="0" i="0">
                <a:solidFill>
                  <a:srgbClr val="5A6573"/>
                </a:solidFill>
                <a:latin typeface="Aptos"/>
                <a:ea typeface="Aptos"/>
                <a:cs typeface="Aptos"/>
              </a:rPr>
              <a:t>last VM exits → host is empty again</a:t>
            </a:r>
          </a:p>
        </p:txBody>
      </p:sp>
      <p:sp>
        <p:nvSpPr>
          <p:cNvPr id="36" name="Rounded Rectangle 35"/>
          <p:cNvSpPr/>
          <p:nvPr/>
        </p:nvSpPr>
        <p:spPr>
          <a:xfrm>
            <a:off x="1463040" y="4617720"/>
            <a:ext cx="9235440" cy="914400"/>
          </a:xfrm>
          <a:prstGeom prst="roundRect">
            <a:avLst>
              <a:gd name="adj" fmla="val 16000"/>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463040" y="4617720"/>
            <a:ext cx="64008" cy="914400"/>
          </a:xfrm>
          <a:prstGeom prst="rect">
            <a:avLst/>
          </a:prstGeom>
          <a:solidFill>
            <a:srgbClr val="D98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645920" y="4727448"/>
            <a:ext cx="8942832" cy="365760"/>
          </a:xfrm>
          <a:prstGeom prst="rect">
            <a:avLst/>
          </a:prstGeom>
          <a:noFill/>
        </p:spPr>
        <p:txBody>
          <a:bodyPr wrap="square" lIns="36576" rIns="36576" tIns="36576" bIns="36576" anchor="t">
            <a:noAutofit/>
          </a:bodyPr>
          <a:lstStyle/>
          <a:p>
            <a:pPr algn="l"/>
            <a:r>
              <a:rPr sz="1500" b="1" i="0">
                <a:solidFill>
                  <a:srgbClr val="A85A14"/>
                </a:solidFill>
                <a:latin typeface="Aptos"/>
                <a:ea typeface="Aptos"/>
                <a:cs typeface="Aptos"/>
              </a:rPr>
              <a:t>Adaptation to mistakes</a:t>
            </a:r>
          </a:p>
        </p:txBody>
      </p:sp>
      <p:sp>
        <p:nvSpPr>
          <p:cNvPr id="39" name="TextBox 38"/>
          <p:cNvSpPr txBox="1"/>
          <p:nvPr/>
        </p:nvSpPr>
        <p:spPr>
          <a:xfrm>
            <a:off x="1645920" y="5120640"/>
            <a:ext cx="8942832" cy="34747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Residual cohorts lower the host class when they leave; missed deadlines raise it when VMs outlive their prediction.</a:t>
            </a:r>
          </a:p>
        </p:txBody>
      </p:sp>
      <p:sp>
        <p:nvSpPr>
          <p:cNvPr id="40" name="TextBox 39"/>
          <p:cNvSpPr txBox="1"/>
          <p:nvPr/>
        </p:nvSpPr>
        <p:spPr>
          <a:xfrm>
            <a:off x="685800" y="5833872"/>
            <a:ext cx="10835640" cy="292608"/>
          </a:xfrm>
          <a:prstGeom prst="rect">
            <a:avLst/>
          </a:prstGeom>
          <a:noFill/>
        </p:spPr>
        <p:txBody>
          <a:bodyPr wrap="square" lIns="36576" rIns="36576" tIns="36576" bIns="36576" anchor="t">
            <a:noAutofit/>
          </a:bodyPr>
          <a:lstStyle/>
          <a:p>
            <a:pPr algn="ctr"/>
            <a:r>
              <a:rPr sz="1200" b="1" i="0">
                <a:solidFill>
                  <a:srgbClr val="5A6573"/>
                </a:solidFill>
                <a:latin typeface="Aptos"/>
                <a:ea typeface="Aptos"/>
                <a:cs typeface="Aptos"/>
              </a:rPr>
              <a:t>Ling et al., “LAVA: Lifetime-Aware VM Allocation with Learned Distributions and Adaptation to Mispredictions”, MLSys 2025 (arXiv:2412.09840).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502920" y="320040"/>
            <a:ext cx="502920" cy="256032"/>
          </a:xfrm>
          <a:prstGeom prst="rect">
            <a:avLst/>
          </a:prstGeom>
          <a:noFill/>
        </p:spPr>
        <p:txBody>
          <a:bodyPr wrap="square" lIns="36576" rIns="36576" tIns="36576" bIns="36576" anchor="ctr">
            <a:noAutofit/>
          </a:bodyPr>
          <a:lstStyle/>
          <a:p>
            <a:pPr algn="ctr"/>
            <a:r>
              <a:rPr sz="1200" b="1" i="0">
                <a:solidFill>
                  <a:srgbClr val="A85A14"/>
                </a:solidFill>
                <a:latin typeface="Aptos"/>
                <a:ea typeface="Aptos"/>
                <a:cs typeface="Aptos"/>
              </a:rPr>
              <a:t>05</a:t>
            </a:r>
          </a:p>
        </p:txBody>
      </p:sp>
      <p:sp>
        <p:nvSpPr>
          <p:cNvPr id="3" name="TextBox 2"/>
          <p:cNvSpPr txBox="1"/>
          <p:nvPr/>
        </p:nvSpPr>
        <p:spPr>
          <a:xfrm>
            <a:off x="1005840" y="256032"/>
            <a:ext cx="10561320" cy="466344"/>
          </a:xfrm>
          <a:prstGeom prst="rect">
            <a:avLst/>
          </a:prstGeom>
          <a:noFill/>
        </p:spPr>
        <p:txBody>
          <a:bodyPr wrap="square" lIns="36576" rIns="36576" tIns="36576" bIns="36576" anchor="t">
            <a:noAutofit/>
          </a:bodyPr>
          <a:lstStyle/>
          <a:p>
            <a:pPr algn="l"/>
            <a:r>
              <a:rPr sz="2400" b="1" i="0">
                <a:solidFill>
                  <a:srgbClr val="233142"/>
                </a:solidFill>
                <a:latin typeface="Aptos"/>
                <a:ea typeface="Aptos"/>
                <a:cs typeface="Aptos"/>
              </a:rPr>
              <a:t>Reconstruction scope and seed splits</a:t>
            </a:r>
          </a:p>
        </p:txBody>
      </p:sp>
      <p:sp>
        <p:nvSpPr>
          <p:cNvPr id="4" name="TextBox 3"/>
          <p:cNvSpPr txBox="1"/>
          <p:nvPr/>
        </p:nvSpPr>
        <p:spPr>
          <a:xfrm>
            <a:off x="594360" y="6528816"/>
            <a:ext cx="6190488" cy="192024"/>
          </a:xfrm>
          <a:prstGeom prst="rect">
            <a:avLst/>
          </a:prstGeom>
          <a:noFill/>
        </p:spPr>
        <p:txBody>
          <a:bodyPr wrap="square" lIns="36576" rIns="36576" tIns="36576" bIns="36576" anchor="t">
            <a:noAutofit/>
          </a:bodyPr>
          <a:lstStyle/>
          <a:p>
            <a:pPr algn="l"/>
            <a:r>
              <a:rPr sz="800" b="0" i="0">
                <a:solidFill>
                  <a:srgbClr val="6B7785"/>
                </a:solidFill>
                <a:latin typeface="Aptos"/>
                <a:ea typeface="Aptos"/>
                <a:cs typeface="Aptos"/>
              </a:rPr>
              <a:t>Independent reconstruction   29 October 2026</a:t>
            </a:r>
          </a:p>
        </p:txBody>
      </p:sp>
      <p:sp>
        <p:nvSpPr>
          <p:cNvPr id="5" name="TextBox 4"/>
          <p:cNvSpPr txBox="1"/>
          <p:nvPr/>
        </p:nvSpPr>
        <p:spPr>
          <a:xfrm>
            <a:off x="11109960" y="6510528"/>
            <a:ext cx="457200" cy="192024"/>
          </a:xfrm>
          <a:prstGeom prst="rect">
            <a:avLst/>
          </a:prstGeom>
          <a:noFill/>
        </p:spPr>
        <p:txBody>
          <a:bodyPr wrap="square" lIns="36576" rIns="36576" tIns="36576" bIns="36576" anchor="t">
            <a:noAutofit/>
          </a:bodyPr>
          <a:lstStyle/>
          <a:p>
            <a:pPr algn="r"/>
            <a:r>
              <a:rPr sz="800" b="0" i="0">
                <a:solidFill>
                  <a:srgbClr val="6B7785"/>
                </a:solidFill>
                <a:latin typeface="Aptos"/>
                <a:ea typeface="Aptos"/>
                <a:cs typeface="Aptos"/>
              </a:rPr>
              <a:t>5</a:t>
            </a:r>
          </a:p>
        </p:txBody>
      </p:sp>
      <p:sp>
        <p:nvSpPr>
          <p:cNvPr id="6" name="Rounded Rectangle 5"/>
          <p:cNvSpPr/>
          <p:nvPr/>
        </p:nvSpPr>
        <p:spPr>
          <a:xfrm>
            <a:off x="685800" y="1143000"/>
            <a:ext cx="3474720" cy="1325880"/>
          </a:xfrm>
          <a:prstGeom prst="roundRect">
            <a:avLst>
              <a:gd name="adj" fmla="val 11034"/>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143000"/>
            <a:ext cx="64008" cy="1325880"/>
          </a:xfrm>
          <a:prstGeom prst="rect">
            <a:avLst/>
          </a:prstGeom>
          <a:solidFill>
            <a:srgbClr val="3E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252728"/>
            <a:ext cx="3182112" cy="365760"/>
          </a:xfrm>
          <a:prstGeom prst="rect">
            <a:avLst/>
          </a:prstGeom>
          <a:noFill/>
        </p:spPr>
        <p:txBody>
          <a:bodyPr wrap="square" lIns="36576" rIns="36576" tIns="36576" bIns="36576" anchor="t">
            <a:noAutofit/>
          </a:bodyPr>
          <a:lstStyle/>
          <a:p>
            <a:pPr algn="l"/>
            <a:r>
              <a:rPr sz="1600" b="1" i="0">
                <a:solidFill>
                  <a:srgbClr val="3E7C59"/>
                </a:solidFill>
                <a:latin typeface="Aptos"/>
                <a:ea typeface="Aptos"/>
                <a:cs typeface="Aptos"/>
              </a:rPr>
              <a:t>Recovered settings</a:t>
            </a:r>
          </a:p>
        </p:txBody>
      </p:sp>
      <p:sp>
        <p:nvSpPr>
          <p:cNvPr id="9" name="TextBox 8"/>
          <p:cNvSpPr txBox="1"/>
          <p:nvPr/>
        </p:nvSpPr>
        <p:spPr>
          <a:xfrm>
            <a:off x="868680" y="1645920"/>
            <a:ext cx="3182112" cy="75895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180 hosts, 2,500 VMs per trace, 8 arrivals per hour, seed splits and metric.</a:t>
            </a:r>
          </a:p>
        </p:txBody>
      </p:sp>
      <p:sp>
        <p:nvSpPr>
          <p:cNvPr id="10" name="Rounded Rectangle 9"/>
          <p:cNvSpPr/>
          <p:nvPr/>
        </p:nvSpPr>
        <p:spPr>
          <a:xfrm>
            <a:off x="4343400" y="1143000"/>
            <a:ext cx="3474720" cy="1325880"/>
          </a:xfrm>
          <a:prstGeom prst="roundRect">
            <a:avLst>
              <a:gd name="adj" fmla="val 11034"/>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143000"/>
            <a:ext cx="64008" cy="1325880"/>
          </a:xfrm>
          <a:prstGeom prst="rect">
            <a:avLst/>
          </a:prstGeom>
          <a:solidFill>
            <a:srgbClr val="B6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252728"/>
            <a:ext cx="3182112" cy="365760"/>
          </a:xfrm>
          <a:prstGeom prst="rect">
            <a:avLst/>
          </a:prstGeom>
          <a:noFill/>
        </p:spPr>
        <p:txBody>
          <a:bodyPr wrap="square" lIns="36576" rIns="36576" tIns="36576" bIns="36576" anchor="t">
            <a:noAutofit/>
          </a:bodyPr>
          <a:lstStyle/>
          <a:p>
            <a:pPr algn="l"/>
            <a:r>
              <a:rPr sz="1600" b="1" i="0">
                <a:solidFill>
                  <a:srgbClr val="B64A4A"/>
                </a:solidFill>
                <a:latin typeface="Aptos"/>
                <a:ea typeface="Aptos"/>
                <a:cs typeface="Aptos"/>
              </a:rPr>
              <a:t>Inferred defaults</a:t>
            </a:r>
          </a:p>
        </p:txBody>
      </p:sp>
      <p:sp>
        <p:nvSpPr>
          <p:cNvPr id="13" name="TextBox 12"/>
          <p:cNvSpPr txBox="1"/>
          <p:nvPr/>
        </p:nvSpPr>
        <p:spPr>
          <a:xfrm>
            <a:off x="4526280" y="1645920"/>
            <a:ext cx="3182112" cy="75895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Mixture parameters, VM shapes, scoring details and the controlled confidence model.</a:t>
            </a:r>
          </a:p>
        </p:txBody>
      </p:sp>
      <p:sp>
        <p:nvSpPr>
          <p:cNvPr id="14" name="Rounded Rectangle 13"/>
          <p:cNvSpPr/>
          <p:nvPr/>
        </p:nvSpPr>
        <p:spPr>
          <a:xfrm>
            <a:off x="8001000" y="1143000"/>
            <a:ext cx="3474720" cy="1325880"/>
          </a:xfrm>
          <a:prstGeom prst="roundRect">
            <a:avLst>
              <a:gd name="adj" fmla="val 11034"/>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01000" y="1143000"/>
            <a:ext cx="64008" cy="1325880"/>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79" y="1252728"/>
            <a:ext cx="3182112" cy="365760"/>
          </a:xfrm>
          <a:prstGeom prst="rect">
            <a:avLst/>
          </a:prstGeom>
          <a:noFill/>
        </p:spPr>
        <p:txBody>
          <a:bodyPr wrap="square" lIns="36576" rIns="36576" tIns="36576" bIns="36576" anchor="t">
            <a:noAutofit/>
          </a:bodyPr>
          <a:lstStyle/>
          <a:p>
            <a:pPr algn="l"/>
            <a:r>
              <a:rPr sz="1600" b="1" i="0">
                <a:solidFill>
                  <a:srgbClr val="2F5D8A"/>
                </a:solidFill>
                <a:latin typeface="Aptos"/>
                <a:ea typeface="Aptos"/>
                <a:cs typeface="Aptos"/>
              </a:rPr>
              <a:t>Unrecoverable inputs</a:t>
            </a:r>
          </a:p>
        </p:txBody>
      </p:sp>
      <p:sp>
        <p:nvSpPr>
          <p:cNvPr id="17" name="TextBox 16"/>
          <p:cNvSpPr txBox="1"/>
          <p:nvPr/>
        </p:nvSpPr>
        <p:spPr>
          <a:xfrm>
            <a:off x="8183879" y="1645920"/>
            <a:ext cx="3182112" cy="75895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Original traces, random streams, code history and per-seed results.</a:t>
            </a:r>
          </a:p>
        </p:txBody>
      </p:sp>
      <p:graphicFrame>
        <p:nvGraphicFramePr>
          <p:cNvPr id="18" name="Table 17"/>
          <p:cNvGraphicFramePr>
            <a:graphicFrameLocks noGrp="1"/>
          </p:cNvGraphicFramePr>
          <p:nvPr/>
        </p:nvGraphicFramePr>
        <p:xfrm>
          <a:off x="685800" y="2697480"/>
          <a:ext cx="10817352" cy="2944368"/>
        </p:xfrm>
        <a:graphic>
          <a:graphicData uri="http://schemas.openxmlformats.org/drawingml/2006/table">
            <a:tbl>
              <a:tblPr firstRow="1" bandRow="0">
                <a:tableStyleId>{5C22544A-7EE6-4342-B048-85BDC9FD1C3A}</a:tableStyleId>
              </a:tblPr>
              <a:tblGrid>
                <a:gridCol w="2377440"/>
                <a:gridCol w="1554480"/>
                <a:gridCol w="6885432"/>
              </a:tblGrid>
              <a:tr h="420624">
                <a:tc>
                  <a:txBody>
                    <a:bodyPr wrap="square"/>
                    <a:lstStyle/>
                    <a:p>
                      <a:pPr algn="l"/>
                      <a:r>
                        <a:rPr sz="1200" b="1" i="0">
                          <a:solidFill>
                            <a:srgbClr val="FFFFFF"/>
                          </a:solidFill>
                          <a:latin typeface="Aptos"/>
                          <a:ea typeface="Aptos"/>
                          <a:cs typeface="Aptos"/>
                        </a:rPr>
                        <a:t>Split</a:t>
                      </a:r>
                    </a:p>
                  </a:txBody>
                  <a:tcPr marL="73152" marR="73152" marT="27432" marB="27432" anchor="ctr">
                    <a:solidFill>
                      <a:srgbClr val="233142"/>
                    </a:solidFill>
                  </a:tcPr>
                </a:tc>
                <a:tc>
                  <a:txBody>
                    <a:bodyPr wrap="square"/>
                    <a:lstStyle/>
                    <a:p>
                      <a:pPr algn="ctr"/>
                      <a:r>
                        <a:rPr sz="1200" b="1" i="0">
                          <a:solidFill>
                            <a:srgbClr val="FFFFFF"/>
                          </a:solidFill>
                          <a:latin typeface="Aptos"/>
                          <a:ea typeface="Aptos"/>
                          <a:cs typeface="Aptos"/>
                        </a:rPr>
                        <a:t>Seeds</a:t>
                      </a:r>
                    </a:p>
                  </a:txBody>
                  <a:tcPr marL="73152" marR="73152" marT="27432" marB="27432" anchor="ctr">
                    <a:solidFill>
                      <a:srgbClr val="233142"/>
                    </a:solidFill>
                  </a:tcPr>
                </a:tc>
                <a:tc>
                  <a:txBody>
                    <a:bodyPr wrap="square"/>
                    <a:lstStyle/>
                    <a:p>
                      <a:pPr algn="l"/>
                      <a:r>
                        <a:rPr sz="1200" b="1" i="0">
                          <a:solidFill>
                            <a:srgbClr val="FFFFFF"/>
                          </a:solidFill>
                          <a:latin typeface="Aptos"/>
                          <a:ea typeface="Aptos"/>
                          <a:cs typeface="Aptos"/>
                        </a:rPr>
                        <a:t>Used for</a:t>
                      </a:r>
                    </a:p>
                  </a:txBody>
                  <a:tcPr marL="73152" marR="73152" marT="27432" marB="27432" anchor="ctr">
                    <a:solidFill>
                      <a:srgbClr val="233142"/>
                    </a:solidFill>
                  </a:tcPr>
                </a:tc>
              </a:tr>
              <a:tr h="420624">
                <a:tc>
                  <a:txBody>
                    <a:bodyPr wrap="square"/>
                    <a:lstStyle/>
                    <a:p>
                      <a:pPr algn="l"/>
                      <a:r>
                        <a:rPr sz="1300" b="1" i="0">
                          <a:solidFill>
                            <a:srgbClr val="233142"/>
                          </a:solidFill>
                          <a:latin typeface="Aptos"/>
                          <a:ea typeface="Aptos"/>
                          <a:cs typeface="Aptos"/>
                        </a:rPr>
                        <a:t>Initial sweep</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0–19</a:t>
                      </a:r>
                    </a:p>
                  </a:txBody>
                  <a:tcPr marL="73152" marR="73152" marT="27432" marB="27432" anchor="ctr">
                    <a:solidFill>
                      <a:srgbClr val="FFFFFF"/>
                    </a:solidFill>
                  </a:tcPr>
                </a:tc>
                <a:tc>
                  <a:txBody>
                    <a:bodyPr wrap="square"/>
                    <a:lstStyle/>
                    <a:p>
                      <a:pPr algn="l"/>
                      <a:r>
                        <a:rPr sz="1300" b="0" i="0">
                          <a:solidFill>
                            <a:srgbClr val="233142"/>
                          </a:solidFill>
                          <a:latin typeface="Aptos"/>
                          <a:ea typeface="Aptos"/>
                          <a:cs typeface="Aptos"/>
                        </a:rPr>
                        <a:t>RQ1 accuracy sweep; development of the new method</a:t>
                      </a:r>
                    </a:p>
                  </a:txBody>
                  <a:tcPr marL="73152" marR="73152" marT="27432" marB="27432" anchor="ctr">
                    <a:solidFill>
                      <a:srgbClr val="FFFFFF"/>
                    </a:solidFill>
                  </a:tcPr>
                </a:tc>
              </a:tr>
              <a:tr h="420624">
                <a:tc>
                  <a:txBody>
                    <a:bodyPr wrap="square"/>
                    <a:lstStyle/>
                    <a:p>
                      <a:pPr algn="l"/>
                      <a:r>
                        <a:rPr sz="1300" b="1" i="0">
                          <a:solidFill>
                            <a:srgbClr val="233142"/>
                          </a:solidFill>
                          <a:latin typeface="Aptos"/>
                          <a:ea typeface="Aptos"/>
                          <a:cs typeface="Aptos"/>
                        </a:rPr>
                        <a:t>Validation</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200–205</a:t>
                      </a:r>
                    </a:p>
                  </a:txBody>
                  <a:tcPr marL="73152" marR="73152" marT="27432" marB="27432" anchor="ctr">
                    <a:solidFill>
                      <a:srgbClr val="FFFFFF"/>
                    </a:solidFill>
                  </a:tcPr>
                </a:tc>
                <a:tc>
                  <a:txBody>
                    <a:bodyPr wrap="square"/>
                    <a:lstStyle/>
                    <a:p>
                      <a:pPr algn="l"/>
                      <a:r>
                        <a:rPr sz="1300" b="0" i="0">
                          <a:solidFill>
                            <a:srgbClr val="233142"/>
                          </a:solidFill>
                          <a:latin typeface="Aptos"/>
                          <a:ea typeface="Aptos"/>
                          <a:cs typeface="Aptos"/>
                        </a:rPr>
                        <a:t>Report’s threshold selection; τ = 0.3 kept frozen</a:t>
                      </a:r>
                    </a:p>
                  </a:txBody>
                  <a:tcPr marL="73152" marR="73152" marT="27432" marB="27432" anchor="ctr">
                    <a:solidFill>
                      <a:srgbClr val="FFFFFF"/>
                    </a:solidFill>
                  </a:tcPr>
                </a:tc>
              </a:tr>
              <a:tr h="420624">
                <a:tc>
                  <a:txBody>
                    <a:bodyPr wrap="square"/>
                    <a:lstStyle/>
                    <a:p>
                      <a:pPr algn="l"/>
                      <a:r>
                        <a:rPr sz="1300" b="1" i="0">
                          <a:solidFill>
                            <a:srgbClr val="233142"/>
                          </a:solidFill>
                          <a:latin typeface="Aptos"/>
                          <a:ea typeface="Aptos"/>
                          <a:cs typeface="Aptos"/>
                        </a:rPr>
                        <a:t>Held-out</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20–39</a:t>
                      </a:r>
                    </a:p>
                  </a:txBody>
                  <a:tcPr marL="73152" marR="73152" marT="27432" marB="27432" anchor="ctr">
                    <a:solidFill>
                      <a:srgbClr val="FFFFFF"/>
                    </a:solidFill>
                  </a:tcPr>
                </a:tc>
                <a:tc>
                  <a:txBody>
                    <a:bodyPr wrap="square"/>
                    <a:lstStyle/>
                    <a:p>
                      <a:pPr algn="l"/>
                      <a:r>
                        <a:rPr sz="1300" b="0" i="0">
                          <a:solidFill>
                            <a:srgbClr val="233142"/>
                          </a:solidFill>
                          <a:latin typeface="Aptos"/>
                          <a:ea typeface="Aptos"/>
                          <a:cs typeface="Aptos"/>
                        </a:rPr>
                        <a:t>Report’s test split; rerun with all ten policies</a:t>
                      </a:r>
                    </a:p>
                  </a:txBody>
                  <a:tcPr marL="73152" marR="73152" marT="27432" marB="27432" anchor="ctr">
                    <a:solidFill>
                      <a:srgbClr val="FFFFFF"/>
                    </a:solidFill>
                  </a:tcPr>
                </a:tc>
              </a:tr>
              <a:tr h="420624">
                <a:tc>
                  <a:txBody>
                    <a:bodyPr wrap="square"/>
                    <a:lstStyle/>
                    <a:p>
                      <a:pPr algn="l"/>
                      <a:r>
                        <a:rPr sz="1300" b="1" i="0">
                          <a:solidFill>
                            <a:srgbClr val="233142"/>
                          </a:solidFill>
                          <a:latin typeface="Aptos"/>
                          <a:ea typeface="Aptos"/>
                          <a:cs typeface="Aptos"/>
                        </a:rPr>
                        <a:t>Fresh test</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1000–1099</a:t>
                      </a:r>
                    </a:p>
                  </a:txBody>
                  <a:tcPr marL="73152" marR="73152" marT="27432" marB="27432" anchor="ctr">
                    <a:solidFill>
                      <a:srgbClr val="FFFFFF"/>
                    </a:solidFill>
                  </a:tcPr>
                </a:tc>
                <a:tc>
                  <a:txBody>
                    <a:bodyPr wrap="square"/>
                    <a:lstStyle/>
                    <a:p>
                      <a:pPr algn="l"/>
                      <a:r>
                        <a:rPr sz="1300" b="0" i="0">
                          <a:solidFill>
                            <a:srgbClr val="233142"/>
                          </a:solidFill>
                          <a:latin typeface="Aptos"/>
                          <a:ea typeface="Aptos"/>
                          <a:cs typeface="Aptos"/>
                        </a:rPr>
                        <a:t>Pre-registered evaluation of prior fusion (n = 100)</a:t>
                      </a:r>
                    </a:p>
                  </a:txBody>
                  <a:tcPr marL="73152" marR="73152" marT="27432" marB="27432" anchor="ctr">
                    <a:solidFill>
                      <a:srgbClr val="FFFFFF"/>
                    </a:solidFill>
                  </a:tcPr>
                </a:tc>
              </a:tr>
              <a:tr h="420624">
                <a:tc>
                  <a:txBody>
                    <a:bodyPr wrap="square"/>
                    <a:lstStyle/>
                    <a:p>
                      <a:pPr algn="l"/>
                      <a:r>
                        <a:rPr sz="1300" b="1" i="0">
                          <a:solidFill>
                            <a:srgbClr val="233142"/>
                          </a:solidFill>
                          <a:latin typeface="Aptos"/>
                          <a:ea typeface="Aptos"/>
                          <a:cs typeface="Aptos"/>
                        </a:rPr>
                        <a:t>Robustness</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2000–2049</a:t>
                      </a:r>
                    </a:p>
                  </a:txBody>
                  <a:tcPr marL="73152" marR="73152" marT="27432" marB="27432" anchor="ctr">
                    <a:solidFill>
                      <a:srgbClr val="FFFFFF"/>
                    </a:solidFill>
                  </a:tcPr>
                </a:tc>
                <a:tc>
                  <a:txBody>
                    <a:bodyPr wrap="square"/>
                    <a:lstStyle/>
                    <a:p>
                      <a:pPr algn="l"/>
                      <a:r>
                        <a:rPr sz="1300" b="0" i="0">
                          <a:solidFill>
                            <a:srgbClr val="233142"/>
                          </a:solidFill>
                          <a:latin typeface="Aptos"/>
                          <a:ea typeface="Aptos"/>
                          <a:cs typeface="Aptos"/>
                        </a:rPr>
                        <a:t>Predictor variants, same-seed control and load × 2 (n = 50)</a:t>
                      </a:r>
                    </a:p>
                  </a:txBody>
                  <a:tcPr marL="73152" marR="73152" marT="27432" marB="27432" anchor="ctr">
                    <a:solidFill>
                      <a:srgbClr val="FFFFFF"/>
                    </a:solidFill>
                  </a:tcPr>
                </a:tc>
              </a:tr>
              <a:tr h="420624">
                <a:tc>
                  <a:txBody>
                    <a:bodyPr wrap="square"/>
                    <a:lstStyle/>
                    <a:p>
                      <a:pPr algn="l"/>
                      <a:r>
                        <a:rPr sz="1300" b="1" i="0">
                          <a:solidFill>
                            <a:srgbClr val="233142"/>
                          </a:solidFill>
                          <a:latin typeface="Aptos"/>
                          <a:ea typeface="Aptos"/>
                          <a:cs typeface="Aptos"/>
                        </a:rPr>
                        <a:t>Threshold sensitivity</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200–219</a:t>
                      </a:r>
                    </a:p>
                  </a:txBody>
                  <a:tcPr marL="73152" marR="73152" marT="27432" marB="27432" anchor="ctr">
                    <a:solidFill>
                      <a:srgbClr val="FFFFFF"/>
                    </a:solidFill>
                  </a:tcPr>
                </a:tc>
                <a:tc>
                  <a:txBody>
                    <a:bodyPr wrap="square"/>
                    <a:lstStyle/>
                    <a:p>
                      <a:pPr algn="l"/>
                      <a:r>
                        <a:rPr sz="1300" b="0" i="0">
                          <a:solidFill>
                            <a:srgbClr val="233142"/>
                          </a:solidFill>
                          <a:latin typeface="Aptos"/>
                          <a:ea typeface="Aptos"/>
                          <a:cs typeface="Aptos"/>
                        </a:rPr>
                        <a:t>Descriptive τ scan for the new method (n = 20)</a:t>
                      </a:r>
                    </a:p>
                  </a:txBody>
                  <a:tcPr marL="73152" marR="73152" marT="27432" marB="27432"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502920" y="320040"/>
            <a:ext cx="502920" cy="256032"/>
          </a:xfrm>
          <a:prstGeom prst="rect">
            <a:avLst/>
          </a:prstGeom>
          <a:noFill/>
        </p:spPr>
        <p:txBody>
          <a:bodyPr wrap="square" lIns="36576" rIns="36576" tIns="36576" bIns="36576" anchor="ctr">
            <a:noAutofit/>
          </a:bodyPr>
          <a:lstStyle/>
          <a:p>
            <a:pPr algn="ctr"/>
            <a:r>
              <a:rPr sz="1200" b="1" i="0">
                <a:solidFill>
                  <a:srgbClr val="A85A14"/>
                </a:solidFill>
                <a:latin typeface="Aptos"/>
                <a:ea typeface="Aptos"/>
                <a:cs typeface="Aptos"/>
              </a:rPr>
              <a:t>06</a:t>
            </a:r>
          </a:p>
        </p:txBody>
      </p:sp>
      <p:sp>
        <p:nvSpPr>
          <p:cNvPr id="3" name="TextBox 2"/>
          <p:cNvSpPr txBox="1"/>
          <p:nvPr/>
        </p:nvSpPr>
        <p:spPr>
          <a:xfrm>
            <a:off x="1005840" y="256032"/>
            <a:ext cx="10561320" cy="466344"/>
          </a:xfrm>
          <a:prstGeom prst="rect">
            <a:avLst/>
          </a:prstGeom>
          <a:noFill/>
        </p:spPr>
        <p:txBody>
          <a:bodyPr wrap="square" lIns="36576" rIns="36576" tIns="36576" bIns="36576" anchor="t">
            <a:noAutofit/>
          </a:bodyPr>
          <a:lstStyle/>
          <a:p>
            <a:pPr algn="l"/>
            <a:r>
              <a:rPr sz="2400" b="1" i="0">
                <a:solidFill>
                  <a:srgbClr val="233142"/>
                </a:solidFill>
                <a:latin typeface="Aptos"/>
                <a:ea typeface="Aptos"/>
                <a:cs typeface="Aptos"/>
              </a:rPr>
              <a:t>Methods compared</a:t>
            </a:r>
          </a:p>
        </p:txBody>
      </p:sp>
      <p:sp>
        <p:nvSpPr>
          <p:cNvPr id="4" name="TextBox 3"/>
          <p:cNvSpPr txBox="1"/>
          <p:nvPr/>
        </p:nvSpPr>
        <p:spPr>
          <a:xfrm>
            <a:off x="594360" y="6528816"/>
            <a:ext cx="6190488" cy="192024"/>
          </a:xfrm>
          <a:prstGeom prst="rect">
            <a:avLst/>
          </a:prstGeom>
          <a:noFill/>
        </p:spPr>
        <p:txBody>
          <a:bodyPr wrap="square" lIns="36576" rIns="36576" tIns="36576" bIns="36576" anchor="t">
            <a:noAutofit/>
          </a:bodyPr>
          <a:lstStyle/>
          <a:p>
            <a:pPr algn="l"/>
            <a:r>
              <a:rPr sz="800" b="0" i="0">
                <a:solidFill>
                  <a:srgbClr val="6B7785"/>
                </a:solidFill>
                <a:latin typeface="Aptos"/>
                <a:ea typeface="Aptos"/>
                <a:cs typeface="Aptos"/>
              </a:rPr>
              <a:t>Independent reconstruction   29 October 2026</a:t>
            </a:r>
          </a:p>
        </p:txBody>
      </p:sp>
      <p:sp>
        <p:nvSpPr>
          <p:cNvPr id="5" name="TextBox 4"/>
          <p:cNvSpPr txBox="1"/>
          <p:nvPr/>
        </p:nvSpPr>
        <p:spPr>
          <a:xfrm>
            <a:off x="11109960" y="6510528"/>
            <a:ext cx="457200" cy="192024"/>
          </a:xfrm>
          <a:prstGeom prst="rect">
            <a:avLst/>
          </a:prstGeom>
          <a:noFill/>
        </p:spPr>
        <p:txBody>
          <a:bodyPr wrap="square" lIns="36576" rIns="36576" tIns="36576" bIns="36576" anchor="t">
            <a:noAutofit/>
          </a:bodyPr>
          <a:lstStyle/>
          <a:p>
            <a:pPr algn="r"/>
            <a:r>
              <a:rPr sz="800" b="0" i="0">
                <a:solidFill>
                  <a:srgbClr val="6B7785"/>
                </a:solidFill>
                <a:latin typeface="Aptos"/>
                <a:ea typeface="Aptos"/>
                <a:cs typeface="Aptos"/>
              </a:rPr>
              <a:t>6</a:t>
            </a:r>
          </a:p>
        </p:txBody>
      </p:sp>
      <p:sp>
        <p:nvSpPr>
          <p:cNvPr id="6" name="Rounded Rectangle 5"/>
          <p:cNvSpPr/>
          <p:nvPr/>
        </p:nvSpPr>
        <p:spPr>
          <a:xfrm>
            <a:off x="685800" y="1143000"/>
            <a:ext cx="3474720" cy="1371600"/>
          </a:xfrm>
          <a:prstGeom prst="roundRect">
            <a:avLst>
              <a:gd name="adj" fmla="val 10666"/>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143000"/>
            <a:ext cx="64008" cy="1371600"/>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252728"/>
            <a:ext cx="3182112" cy="365760"/>
          </a:xfrm>
          <a:prstGeom prst="rect">
            <a:avLst/>
          </a:prstGeom>
          <a:noFill/>
        </p:spPr>
        <p:txBody>
          <a:bodyPr wrap="square" lIns="36576" rIns="36576" tIns="36576" bIns="36576" anchor="t">
            <a:noAutofit/>
          </a:bodyPr>
          <a:lstStyle/>
          <a:p>
            <a:pPr algn="l"/>
            <a:r>
              <a:rPr sz="1600" b="1" i="0">
                <a:solidFill>
                  <a:srgbClr val="2F5D8A"/>
                </a:solidFill>
                <a:latin typeface="Aptos"/>
                <a:ea typeface="Aptos"/>
                <a:cs typeface="Aptos"/>
              </a:rPr>
              <a:t>Best-Fit</a:t>
            </a:r>
          </a:p>
        </p:txBody>
      </p:sp>
      <p:sp>
        <p:nvSpPr>
          <p:cNvPr id="9" name="TextBox 8"/>
          <p:cNvSpPr txBox="1"/>
          <p:nvPr/>
        </p:nvSpPr>
        <p:spPr>
          <a:xfrm>
            <a:off x="868680" y="1645920"/>
            <a:ext cx="3182112" cy="80467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Resource-only baseline: minimize residual CPU and memory.</a:t>
            </a:r>
          </a:p>
        </p:txBody>
      </p:sp>
      <p:sp>
        <p:nvSpPr>
          <p:cNvPr id="10" name="Rounded Rectangle 9"/>
          <p:cNvSpPr/>
          <p:nvPr/>
        </p:nvSpPr>
        <p:spPr>
          <a:xfrm>
            <a:off x="4343400" y="1143000"/>
            <a:ext cx="3474720" cy="1371600"/>
          </a:xfrm>
          <a:prstGeom prst="roundRect">
            <a:avLst>
              <a:gd name="adj" fmla="val 10666"/>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143000"/>
            <a:ext cx="64008" cy="1371600"/>
          </a:xfrm>
          <a:prstGeom prst="rect">
            <a:avLst/>
          </a:prstGeom>
          <a:solidFill>
            <a:srgbClr val="D98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252728"/>
            <a:ext cx="3182112" cy="365760"/>
          </a:xfrm>
          <a:prstGeom prst="rect">
            <a:avLst/>
          </a:prstGeom>
          <a:noFill/>
        </p:spPr>
        <p:txBody>
          <a:bodyPr wrap="square" lIns="36576" rIns="36576" tIns="36576" bIns="36576" anchor="t">
            <a:noAutofit/>
          </a:bodyPr>
          <a:lstStyle/>
          <a:p>
            <a:pPr algn="l"/>
            <a:r>
              <a:rPr sz="1600" b="1" i="0">
                <a:solidFill>
                  <a:srgbClr val="A85A14"/>
                </a:solidFill>
                <a:latin typeface="Aptos"/>
                <a:ea typeface="Aptos"/>
                <a:cs typeface="Aptos"/>
              </a:rPr>
              <a:t>LA-Binary</a:t>
            </a:r>
          </a:p>
        </p:txBody>
      </p:sp>
      <p:sp>
        <p:nvSpPr>
          <p:cNvPr id="13" name="TextBox 12"/>
          <p:cNvSpPr txBox="1"/>
          <p:nvPr/>
        </p:nvSpPr>
        <p:spPr>
          <a:xfrm>
            <a:off x="4526280" y="1645920"/>
            <a:ext cx="3182112" cy="80467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One-shot short/long label at arrival, then Best-Fit.</a:t>
            </a:r>
          </a:p>
        </p:txBody>
      </p:sp>
      <p:sp>
        <p:nvSpPr>
          <p:cNvPr id="14" name="Rounded Rectangle 13"/>
          <p:cNvSpPr/>
          <p:nvPr/>
        </p:nvSpPr>
        <p:spPr>
          <a:xfrm>
            <a:off x="8001000" y="1143000"/>
            <a:ext cx="3474720" cy="1371600"/>
          </a:xfrm>
          <a:prstGeom prst="roundRect">
            <a:avLst>
              <a:gd name="adj" fmla="val 10666"/>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01000" y="1143000"/>
            <a:ext cx="64008" cy="1371600"/>
          </a:xfrm>
          <a:prstGeom prst="rect">
            <a:avLst/>
          </a:prstGeom>
          <a:solidFill>
            <a:srgbClr val="3E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79" y="1252728"/>
            <a:ext cx="3182112" cy="365760"/>
          </a:xfrm>
          <a:prstGeom prst="rect">
            <a:avLst/>
          </a:prstGeom>
          <a:noFill/>
        </p:spPr>
        <p:txBody>
          <a:bodyPr wrap="square" lIns="36576" rIns="36576" tIns="36576" bIns="36576" anchor="t">
            <a:noAutofit/>
          </a:bodyPr>
          <a:lstStyle/>
          <a:p>
            <a:pPr algn="l"/>
            <a:r>
              <a:rPr sz="1600" b="1" i="0">
                <a:solidFill>
                  <a:srgbClr val="3E7C59"/>
                </a:solidFill>
                <a:latin typeface="Aptos"/>
                <a:ea typeface="Aptos"/>
                <a:cs typeface="Aptos"/>
              </a:rPr>
              <a:t>NILAS</a:t>
            </a:r>
          </a:p>
        </p:txBody>
      </p:sp>
      <p:sp>
        <p:nvSpPr>
          <p:cNvPr id="17" name="TextBox 16"/>
          <p:cNvSpPr txBox="1"/>
          <p:nvPr/>
        </p:nvSpPr>
        <p:spPr>
          <a:xfrm>
            <a:off x="8183879" y="1645920"/>
            <a:ext cx="3182112" cy="80467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Re-predicted temporal extension cost, then Best-Fit.</a:t>
            </a:r>
          </a:p>
        </p:txBody>
      </p:sp>
      <p:sp>
        <p:nvSpPr>
          <p:cNvPr id="18" name="Rounded Rectangle 17"/>
          <p:cNvSpPr/>
          <p:nvPr/>
        </p:nvSpPr>
        <p:spPr>
          <a:xfrm>
            <a:off x="685800" y="2697480"/>
            <a:ext cx="3474720" cy="1371600"/>
          </a:xfrm>
          <a:prstGeom prst="roundRect">
            <a:avLst>
              <a:gd name="adj" fmla="val 10666"/>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 y="2697480"/>
            <a:ext cx="64008" cy="1371600"/>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2807208"/>
            <a:ext cx="3182112" cy="365760"/>
          </a:xfrm>
          <a:prstGeom prst="rect">
            <a:avLst/>
          </a:prstGeom>
          <a:noFill/>
        </p:spPr>
        <p:txBody>
          <a:bodyPr wrap="square" lIns="36576" rIns="36576" tIns="36576" bIns="36576" anchor="t">
            <a:noAutofit/>
          </a:bodyPr>
          <a:lstStyle/>
          <a:p>
            <a:pPr algn="l"/>
            <a:r>
              <a:rPr sz="1600" b="1" i="0">
                <a:solidFill>
                  <a:srgbClr val="2F5D8A"/>
                </a:solidFill>
                <a:latin typeface="Aptos"/>
                <a:ea typeface="Aptos"/>
                <a:cs typeface="Aptos"/>
              </a:rPr>
              <a:t>LAVA</a:t>
            </a:r>
          </a:p>
        </p:txBody>
      </p:sp>
      <p:sp>
        <p:nvSpPr>
          <p:cNvPr id="21" name="TextBox 20"/>
          <p:cNvSpPr txBox="1"/>
          <p:nvPr/>
        </p:nvSpPr>
        <p:spPr>
          <a:xfrm>
            <a:off x="868680" y="3200400"/>
            <a:ext cx="3182112" cy="80467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Lifetime classes and host states; adapts when VMs outlive their prediction.</a:t>
            </a:r>
          </a:p>
        </p:txBody>
      </p:sp>
      <p:sp>
        <p:nvSpPr>
          <p:cNvPr id="22" name="Rounded Rectangle 21"/>
          <p:cNvSpPr/>
          <p:nvPr/>
        </p:nvSpPr>
        <p:spPr>
          <a:xfrm>
            <a:off x="4343400" y="2697480"/>
            <a:ext cx="3474720" cy="1371600"/>
          </a:xfrm>
          <a:prstGeom prst="roundRect">
            <a:avLst>
              <a:gd name="adj" fmla="val 10666"/>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43400" y="2697480"/>
            <a:ext cx="64008" cy="1371600"/>
          </a:xfrm>
          <a:prstGeom prst="rect">
            <a:avLst/>
          </a:prstGeom>
          <a:solidFill>
            <a:srgbClr val="B6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26280" y="2807208"/>
            <a:ext cx="3182112" cy="365760"/>
          </a:xfrm>
          <a:prstGeom prst="rect">
            <a:avLst/>
          </a:prstGeom>
          <a:noFill/>
        </p:spPr>
        <p:txBody>
          <a:bodyPr wrap="square" lIns="36576" rIns="36576" tIns="36576" bIns="36576" anchor="t">
            <a:noAutofit/>
          </a:bodyPr>
          <a:lstStyle/>
          <a:p>
            <a:pPr algn="l"/>
            <a:r>
              <a:rPr sz="1600" b="1" i="0">
                <a:solidFill>
                  <a:srgbClr val="B64A4A"/>
                </a:solidFill>
                <a:latin typeface="Aptos"/>
                <a:ea typeface="Aptos"/>
                <a:cs typeface="Aptos"/>
              </a:rPr>
              <a:t>VM-Level CA (VM-CA)</a:t>
            </a:r>
          </a:p>
        </p:txBody>
      </p:sp>
      <p:sp>
        <p:nvSpPr>
          <p:cNvPr id="25" name="TextBox 24"/>
          <p:cNvSpPr txBox="1"/>
          <p:nvPr/>
        </p:nvSpPr>
        <p:spPr>
          <a:xfrm>
            <a:off x="4526280" y="3200400"/>
            <a:ext cx="3182112" cy="80467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Per-arrival confidence gate between LAVA and Best-Fit on shared hosts.</a:t>
            </a:r>
          </a:p>
        </p:txBody>
      </p:sp>
      <p:sp>
        <p:nvSpPr>
          <p:cNvPr id="26" name="Rounded Rectangle 25"/>
          <p:cNvSpPr/>
          <p:nvPr/>
        </p:nvSpPr>
        <p:spPr>
          <a:xfrm>
            <a:off x="8001000" y="2697480"/>
            <a:ext cx="3474720" cy="1371600"/>
          </a:xfrm>
          <a:prstGeom prst="roundRect">
            <a:avLst>
              <a:gd name="adj" fmla="val 10666"/>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1000" y="2697480"/>
            <a:ext cx="64008" cy="1371600"/>
          </a:xfrm>
          <a:prstGeom prst="rect">
            <a:avLst/>
          </a:prstGeom>
          <a:solidFill>
            <a:srgbClr val="3E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83879" y="2807208"/>
            <a:ext cx="3182112" cy="365760"/>
          </a:xfrm>
          <a:prstGeom prst="rect">
            <a:avLst/>
          </a:prstGeom>
          <a:noFill/>
        </p:spPr>
        <p:txBody>
          <a:bodyPr wrap="square" lIns="36576" rIns="36576" tIns="36576" bIns="36576" anchor="t">
            <a:noAutofit/>
          </a:bodyPr>
          <a:lstStyle/>
          <a:p>
            <a:pPr algn="l"/>
            <a:r>
              <a:rPr sz="1600" b="1" i="0">
                <a:solidFill>
                  <a:srgbClr val="3E7C59"/>
                </a:solidFill>
                <a:latin typeface="Aptos"/>
                <a:ea typeface="Aptos"/>
                <a:cs typeface="Aptos"/>
              </a:rPr>
              <a:t>Host-Level CA (Host-CA)</a:t>
            </a:r>
          </a:p>
        </p:txBody>
      </p:sp>
      <p:sp>
        <p:nvSpPr>
          <p:cNvPr id="29" name="TextBox 28"/>
          <p:cNvSpPr txBox="1"/>
          <p:nvPr/>
        </p:nvSpPr>
        <p:spPr>
          <a:xfrm>
            <a:off x="8183879" y="3200400"/>
            <a:ext cx="3182112" cy="80467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Same gate, but each host keeps one mode until it empties.</a:t>
            </a:r>
          </a:p>
        </p:txBody>
      </p:sp>
      <p:sp>
        <p:nvSpPr>
          <p:cNvPr id="30" name="Rounded Rectangle 29"/>
          <p:cNvSpPr/>
          <p:nvPr/>
        </p:nvSpPr>
        <p:spPr>
          <a:xfrm>
            <a:off x="685800" y="4343400"/>
            <a:ext cx="10817352" cy="1188720"/>
          </a:xfrm>
          <a:prstGeom prst="roundRect">
            <a:avLst>
              <a:gd name="adj" fmla="val 12307"/>
            </a:avLst>
          </a:prstGeom>
          <a:solidFill>
            <a:srgbClr val="EEF6F0"/>
          </a:solidFill>
          <a:ln w="10160">
            <a:solidFill>
              <a:srgbClr val="C9D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85800" y="4343400"/>
            <a:ext cx="64008" cy="1188720"/>
          </a:xfrm>
          <a:prstGeom prst="rect">
            <a:avLst/>
          </a:prstGeom>
          <a:solidFill>
            <a:srgbClr val="3E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4453128"/>
            <a:ext cx="10424160" cy="365760"/>
          </a:xfrm>
          <a:prstGeom prst="rect">
            <a:avLst/>
          </a:prstGeom>
          <a:noFill/>
        </p:spPr>
        <p:txBody>
          <a:bodyPr wrap="square" lIns="36576" rIns="36576" tIns="36576" bIns="36576" anchor="t">
            <a:noAutofit/>
          </a:bodyPr>
          <a:lstStyle/>
          <a:p>
            <a:pPr algn="l"/>
            <a:r>
              <a:rPr sz="1600" b="1" i="0">
                <a:solidFill>
                  <a:srgbClr val="3E7C59"/>
                </a:solidFill>
                <a:latin typeface="Aptos"/>
                <a:ea typeface="Aptos"/>
                <a:cs typeface="Aptos"/>
              </a:rPr>
              <a:t>New in this project: *-Bayes variants (RQ3)</a:t>
            </a:r>
          </a:p>
        </p:txBody>
      </p:sp>
      <p:sp>
        <p:nvSpPr>
          <p:cNvPr id="33" name="TextBox 32"/>
          <p:cNvSpPr txBox="1"/>
          <p:nvPr/>
        </p:nvSpPr>
        <p:spPr>
          <a:xfrm>
            <a:off x="868680" y="4846320"/>
            <a:ext cx="10424160" cy="640080"/>
          </a:xfrm>
          <a:prstGeom prst="rect">
            <a:avLst/>
          </a:prstGeom>
          <a:noFill/>
        </p:spPr>
        <p:txBody>
          <a:bodyPr wrap="square" lIns="36576" rIns="36576" tIns="36576" bIns="36576" anchor="t">
            <a:noAutofit/>
          </a:bodyPr>
          <a:lstStyle/>
          <a:p>
            <a:pPr algn="l"/>
            <a:r>
              <a:rPr sz="1400" b="0" i="0">
                <a:solidFill>
                  <a:srgbClr val="233142"/>
                </a:solidFill>
                <a:latin typeface="Aptos"/>
                <a:ea typeface="Aptos"/>
                <a:cs typeface="Aptos"/>
              </a:rPr>
              <a:t>NILAS-Bayes, LAVA-Bayes, VM-CA-Bayes and Host-CA-Bayes run exactly the same scheduling code as their base policy and only swap in the prior-fused lifetime predictor.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502920" y="320040"/>
            <a:ext cx="502920" cy="256032"/>
          </a:xfrm>
          <a:prstGeom prst="rect">
            <a:avLst/>
          </a:prstGeom>
          <a:noFill/>
        </p:spPr>
        <p:txBody>
          <a:bodyPr wrap="square" lIns="36576" rIns="36576" tIns="36576" bIns="36576" anchor="ctr">
            <a:noAutofit/>
          </a:bodyPr>
          <a:lstStyle/>
          <a:p>
            <a:pPr algn="ctr"/>
            <a:r>
              <a:rPr sz="1200" b="1" i="0">
                <a:solidFill>
                  <a:srgbClr val="A85A14"/>
                </a:solidFill>
                <a:latin typeface="Aptos"/>
                <a:ea typeface="Aptos"/>
                <a:cs typeface="Aptos"/>
              </a:rPr>
              <a:t>07</a:t>
            </a:r>
          </a:p>
        </p:txBody>
      </p:sp>
      <p:sp>
        <p:nvSpPr>
          <p:cNvPr id="3" name="TextBox 2"/>
          <p:cNvSpPr txBox="1"/>
          <p:nvPr/>
        </p:nvSpPr>
        <p:spPr>
          <a:xfrm>
            <a:off x="1005840" y="256032"/>
            <a:ext cx="10561320" cy="466344"/>
          </a:xfrm>
          <a:prstGeom prst="rect">
            <a:avLst/>
          </a:prstGeom>
          <a:noFill/>
        </p:spPr>
        <p:txBody>
          <a:bodyPr wrap="square" lIns="36576" rIns="36576" tIns="36576" bIns="36576" anchor="t">
            <a:noAutofit/>
          </a:bodyPr>
          <a:lstStyle/>
          <a:p>
            <a:pPr algn="l"/>
            <a:r>
              <a:rPr sz="2400" b="1" i="0">
                <a:solidFill>
                  <a:srgbClr val="233142"/>
                </a:solidFill>
                <a:latin typeface="Aptos"/>
                <a:ea typeface="Aptos"/>
                <a:cs typeface="Aptos"/>
              </a:rPr>
              <a:t>Prediction settings and information boundary</a:t>
            </a:r>
          </a:p>
        </p:txBody>
      </p:sp>
      <p:sp>
        <p:nvSpPr>
          <p:cNvPr id="4" name="TextBox 3"/>
          <p:cNvSpPr txBox="1"/>
          <p:nvPr/>
        </p:nvSpPr>
        <p:spPr>
          <a:xfrm>
            <a:off x="594360" y="6528816"/>
            <a:ext cx="6190488" cy="192024"/>
          </a:xfrm>
          <a:prstGeom prst="rect">
            <a:avLst/>
          </a:prstGeom>
          <a:noFill/>
        </p:spPr>
        <p:txBody>
          <a:bodyPr wrap="square" lIns="36576" rIns="36576" tIns="36576" bIns="36576" anchor="t">
            <a:noAutofit/>
          </a:bodyPr>
          <a:lstStyle/>
          <a:p>
            <a:pPr algn="l"/>
            <a:r>
              <a:rPr sz="800" b="0" i="0">
                <a:solidFill>
                  <a:srgbClr val="6B7785"/>
                </a:solidFill>
                <a:latin typeface="Aptos"/>
                <a:ea typeface="Aptos"/>
                <a:cs typeface="Aptos"/>
              </a:rPr>
              <a:t>Independent reconstruction   29 October 2026</a:t>
            </a:r>
          </a:p>
        </p:txBody>
      </p:sp>
      <p:sp>
        <p:nvSpPr>
          <p:cNvPr id="5" name="TextBox 4"/>
          <p:cNvSpPr txBox="1"/>
          <p:nvPr/>
        </p:nvSpPr>
        <p:spPr>
          <a:xfrm>
            <a:off x="11109960" y="6510528"/>
            <a:ext cx="457200" cy="192024"/>
          </a:xfrm>
          <a:prstGeom prst="rect">
            <a:avLst/>
          </a:prstGeom>
          <a:noFill/>
        </p:spPr>
        <p:txBody>
          <a:bodyPr wrap="square" lIns="36576" rIns="36576" tIns="36576" bIns="36576" anchor="t">
            <a:noAutofit/>
          </a:bodyPr>
          <a:lstStyle/>
          <a:p>
            <a:pPr algn="r"/>
            <a:r>
              <a:rPr sz="800" b="0" i="0">
                <a:solidFill>
                  <a:srgbClr val="6B7785"/>
                </a:solidFill>
                <a:latin typeface="Aptos"/>
                <a:ea typeface="Aptos"/>
                <a:cs typeface="Aptos"/>
              </a:rPr>
              <a:t>7</a:t>
            </a:r>
          </a:p>
        </p:txBody>
      </p:sp>
      <p:sp>
        <p:nvSpPr>
          <p:cNvPr id="6" name="Rounded Rectangle 5"/>
          <p:cNvSpPr/>
          <p:nvPr/>
        </p:nvSpPr>
        <p:spPr>
          <a:xfrm>
            <a:off x="685800" y="1143000"/>
            <a:ext cx="3520440" cy="1234440"/>
          </a:xfrm>
          <a:prstGeom prst="roundRect">
            <a:avLst>
              <a:gd name="adj" fmla="val 11851"/>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143000"/>
            <a:ext cx="64008" cy="1234440"/>
          </a:xfrm>
          <a:prstGeom prst="rect">
            <a:avLst/>
          </a:prstGeom>
          <a:solidFill>
            <a:srgbClr val="3E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252728"/>
            <a:ext cx="3227832" cy="365760"/>
          </a:xfrm>
          <a:prstGeom prst="rect">
            <a:avLst/>
          </a:prstGeom>
          <a:noFill/>
        </p:spPr>
        <p:txBody>
          <a:bodyPr wrap="square" lIns="36576" rIns="36576" tIns="36576" bIns="36576" anchor="t">
            <a:noAutofit/>
          </a:bodyPr>
          <a:lstStyle/>
          <a:p>
            <a:pPr algn="l"/>
            <a:r>
              <a:rPr sz="1600" b="1" i="0">
                <a:solidFill>
                  <a:srgbClr val="3E7C59"/>
                </a:solidFill>
                <a:latin typeface="Aptos"/>
                <a:ea typeface="Aptos"/>
                <a:cs typeface="Aptos"/>
              </a:rPr>
              <a:t>Correct bucket</a:t>
            </a:r>
          </a:p>
        </p:txBody>
      </p:sp>
      <p:sp>
        <p:nvSpPr>
          <p:cNvPr id="9" name="TextBox 8"/>
          <p:cNvSpPr txBox="1"/>
          <p:nvPr/>
        </p:nvSpPr>
        <p:spPr>
          <a:xfrm>
            <a:off x="868680" y="1645920"/>
            <a:ext cx="3227832" cy="66751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Log10 error with σ = 0.001.</a:t>
            </a:r>
          </a:p>
        </p:txBody>
      </p:sp>
      <p:sp>
        <p:nvSpPr>
          <p:cNvPr id="10" name="Rounded Rectangle 9"/>
          <p:cNvSpPr/>
          <p:nvPr/>
        </p:nvSpPr>
        <p:spPr>
          <a:xfrm>
            <a:off x="685800" y="2560320"/>
            <a:ext cx="3520440" cy="1234440"/>
          </a:xfrm>
          <a:prstGeom prst="roundRect">
            <a:avLst>
              <a:gd name="adj" fmla="val 11851"/>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560320"/>
            <a:ext cx="64008" cy="1234440"/>
          </a:xfrm>
          <a:prstGeom prst="rect">
            <a:avLst/>
          </a:prstGeom>
          <a:solidFill>
            <a:srgbClr val="B6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670048"/>
            <a:ext cx="3227832" cy="365760"/>
          </a:xfrm>
          <a:prstGeom prst="rect">
            <a:avLst/>
          </a:prstGeom>
          <a:noFill/>
        </p:spPr>
        <p:txBody>
          <a:bodyPr wrap="square" lIns="36576" rIns="36576" tIns="36576" bIns="36576" anchor="t">
            <a:noAutofit/>
          </a:bodyPr>
          <a:lstStyle/>
          <a:p>
            <a:pPr algn="l"/>
            <a:r>
              <a:rPr sz="1600" b="1" i="0">
                <a:solidFill>
                  <a:srgbClr val="B64A4A"/>
                </a:solidFill>
                <a:latin typeface="Aptos"/>
                <a:ea typeface="Aptos"/>
                <a:cs typeface="Aptos"/>
              </a:rPr>
              <a:t>Incorrect bucket</a:t>
            </a:r>
          </a:p>
        </p:txBody>
      </p:sp>
      <p:sp>
        <p:nvSpPr>
          <p:cNvPr id="13" name="TextBox 12"/>
          <p:cNvSpPr txBox="1"/>
          <p:nvPr/>
        </p:nvSpPr>
        <p:spPr>
          <a:xfrm>
            <a:off x="868680" y="3063239"/>
            <a:ext cx="3227832" cy="66751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Log10 error with σ = 3 (orders of magnitude).</a:t>
            </a:r>
          </a:p>
        </p:txBody>
      </p:sp>
      <p:sp>
        <p:nvSpPr>
          <p:cNvPr id="14" name="Rounded Rectangle 13"/>
          <p:cNvSpPr/>
          <p:nvPr/>
        </p:nvSpPr>
        <p:spPr>
          <a:xfrm>
            <a:off x="685800" y="3977639"/>
            <a:ext cx="3520440" cy="1463040"/>
          </a:xfrm>
          <a:prstGeom prst="roundRect">
            <a:avLst>
              <a:gd name="adj" fmla="val 10000"/>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3977639"/>
            <a:ext cx="64008" cy="1463040"/>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87368"/>
            <a:ext cx="3227832" cy="365760"/>
          </a:xfrm>
          <a:prstGeom prst="rect">
            <a:avLst/>
          </a:prstGeom>
          <a:noFill/>
        </p:spPr>
        <p:txBody>
          <a:bodyPr wrap="square" lIns="36576" rIns="36576" tIns="36576" bIns="36576" anchor="t">
            <a:noAutofit/>
          </a:bodyPr>
          <a:lstStyle/>
          <a:p>
            <a:pPr algn="l"/>
            <a:r>
              <a:rPr sz="1600" b="1" i="0">
                <a:solidFill>
                  <a:srgbClr val="2F5D8A"/>
                </a:solidFill>
                <a:latin typeface="Aptos"/>
                <a:ea typeface="Aptos"/>
                <a:cs typeface="Aptos"/>
              </a:rPr>
              <a:t>Information boundary</a:t>
            </a:r>
          </a:p>
        </p:txBody>
      </p:sp>
      <p:sp>
        <p:nvSpPr>
          <p:cNvPr id="17" name="TextBox 16"/>
          <p:cNvSpPr txBox="1"/>
          <p:nvPr/>
        </p:nvSpPr>
        <p:spPr>
          <a:xfrm>
            <a:off x="868680" y="4480559"/>
            <a:ext cx="3227832" cy="89611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The scheduler never sees the bucket or the true lifetime.</a:t>
            </a:r>
          </a:p>
        </p:txBody>
      </p:sp>
      <p:sp>
        <p:nvSpPr>
          <p:cNvPr id="18" name="TextBox 17"/>
          <p:cNvSpPr txBox="1"/>
          <p:nvPr/>
        </p:nvSpPr>
        <p:spPr>
          <a:xfrm>
            <a:off x="4526280" y="1097280"/>
            <a:ext cx="6949440" cy="329184"/>
          </a:xfrm>
          <a:prstGeom prst="rect">
            <a:avLst/>
          </a:prstGeom>
          <a:noFill/>
        </p:spPr>
        <p:txBody>
          <a:bodyPr wrap="square" lIns="36576" rIns="36576" tIns="36576" bIns="36576" anchor="t">
            <a:noAutofit/>
          </a:bodyPr>
          <a:lstStyle/>
          <a:p>
            <a:pPr algn="ctr"/>
            <a:r>
              <a:rPr sz="1300" b="1" i="0">
                <a:solidFill>
                  <a:srgbClr val="5A6573"/>
                </a:solidFill>
                <a:latin typeface="Aptos"/>
                <a:ea typeface="Aptos"/>
                <a:cs typeface="Aptos"/>
              </a:rPr>
              <a:t>Controlled accuracy = share of VMs in the correct bucket</a:t>
            </a:r>
          </a:p>
        </p:txBody>
      </p:sp>
      <p:sp>
        <p:nvSpPr>
          <p:cNvPr id="19" name="TextBox 18"/>
          <p:cNvSpPr txBox="1"/>
          <p:nvPr/>
        </p:nvSpPr>
        <p:spPr>
          <a:xfrm>
            <a:off x="4754880" y="1463040"/>
            <a:ext cx="1188720" cy="411480"/>
          </a:xfrm>
          <a:prstGeom prst="rect">
            <a:avLst/>
          </a:prstGeom>
          <a:noFill/>
        </p:spPr>
        <p:txBody>
          <a:bodyPr wrap="square" lIns="36576" rIns="36576" tIns="36576" bIns="36576" anchor="ctr">
            <a:noAutofit/>
          </a:bodyPr>
          <a:lstStyle/>
          <a:p>
            <a:pPr algn="ctr"/>
            <a:r>
              <a:rPr sz="2000" b="1" i="0">
                <a:solidFill>
                  <a:srgbClr val="2F5D8A"/>
                </a:solidFill>
                <a:latin typeface="Aptos"/>
                <a:ea typeface="Aptos"/>
                <a:cs typeface="Aptos"/>
              </a:rPr>
              <a:t>25%</a:t>
            </a:r>
          </a:p>
        </p:txBody>
      </p:sp>
      <p:cxnSp>
        <p:nvCxnSpPr>
          <p:cNvPr id="20" name="Connector 19"/>
          <p:cNvCxnSpPr/>
          <p:nvPr/>
        </p:nvCxnSpPr>
        <p:spPr>
          <a:xfrm>
            <a:off x="5806440" y="1668780"/>
            <a:ext cx="411480" cy="0"/>
          </a:xfrm>
          <a:prstGeom prst="line">
            <a:avLst/>
          </a:prstGeom>
          <a:ln w="22225">
            <a:solidFill>
              <a:srgbClr val="6B778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080760" y="1463040"/>
            <a:ext cx="1188720" cy="411480"/>
          </a:xfrm>
          <a:prstGeom prst="rect">
            <a:avLst/>
          </a:prstGeom>
          <a:noFill/>
        </p:spPr>
        <p:txBody>
          <a:bodyPr wrap="square" lIns="36576" rIns="36576" tIns="36576" bIns="36576" anchor="ctr">
            <a:noAutofit/>
          </a:bodyPr>
          <a:lstStyle/>
          <a:p>
            <a:pPr algn="ctr"/>
            <a:r>
              <a:rPr sz="2000" b="1" i="0">
                <a:solidFill>
                  <a:srgbClr val="2F5D8A"/>
                </a:solidFill>
                <a:latin typeface="Aptos"/>
                <a:ea typeface="Aptos"/>
                <a:cs typeface="Aptos"/>
              </a:rPr>
              <a:t>50%</a:t>
            </a:r>
          </a:p>
        </p:txBody>
      </p:sp>
      <p:cxnSp>
        <p:nvCxnSpPr>
          <p:cNvPr id="22" name="Connector 21"/>
          <p:cNvCxnSpPr/>
          <p:nvPr/>
        </p:nvCxnSpPr>
        <p:spPr>
          <a:xfrm>
            <a:off x="7132320" y="1668780"/>
            <a:ext cx="411480" cy="0"/>
          </a:xfrm>
          <a:prstGeom prst="line">
            <a:avLst/>
          </a:prstGeom>
          <a:ln w="22225">
            <a:solidFill>
              <a:srgbClr val="6B7785"/>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06640" y="1463040"/>
            <a:ext cx="1188720" cy="411480"/>
          </a:xfrm>
          <a:prstGeom prst="rect">
            <a:avLst/>
          </a:prstGeom>
          <a:noFill/>
        </p:spPr>
        <p:txBody>
          <a:bodyPr wrap="square" lIns="36576" rIns="36576" tIns="36576" bIns="36576" anchor="ctr">
            <a:noAutofit/>
          </a:bodyPr>
          <a:lstStyle/>
          <a:p>
            <a:pPr algn="ctr"/>
            <a:r>
              <a:rPr sz="2000" b="1" i="0">
                <a:solidFill>
                  <a:srgbClr val="2F5D8A"/>
                </a:solidFill>
                <a:latin typeface="Aptos"/>
                <a:ea typeface="Aptos"/>
                <a:cs typeface="Aptos"/>
              </a:rPr>
              <a:t>75%</a:t>
            </a:r>
          </a:p>
        </p:txBody>
      </p:sp>
      <p:cxnSp>
        <p:nvCxnSpPr>
          <p:cNvPr id="24" name="Connector 23"/>
          <p:cNvCxnSpPr/>
          <p:nvPr/>
        </p:nvCxnSpPr>
        <p:spPr>
          <a:xfrm>
            <a:off x="8458200" y="1668780"/>
            <a:ext cx="411480" cy="0"/>
          </a:xfrm>
          <a:prstGeom prst="line">
            <a:avLst/>
          </a:prstGeom>
          <a:ln w="22225">
            <a:solidFill>
              <a:srgbClr val="6B7785"/>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732520" y="1463040"/>
            <a:ext cx="1188720" cy="411480"/>
          </a:xfrm>
          <a:prstGeom prst="rect">
            <a:avLst/>
          </a:prstGeom>
          <a:noFill/>
        </p:spPr>
        <p:txBody>
          <a:bodyPr wrap="square" lIns="36576" rIns="36576" tIns="36576" bIns="36576" anchor="ctr">
            <a:noAutofit/>
          </a:bodyPr>
          <a:lstStyle/>
          <a:p>
            <a:pPr algn="ctr"/>
            <a:r>
              <a:rPr sz="2000" b="1" i="0">
                <a:solidFill>
                  <a:srgbClr val="2F5D8A"/>
                </a:solidFill>
                <a:latin typeface="Aptos"/>
                <a:ea typeface="Aptos"/>
                <a:cs typeface="Aptos"/>
              </a:rPr>
              <a:t>85%</a:t>
            </a:r>
          </a:p>
        </p:txBody>
      </p:sp>
      <p:cxnSp>
        <p:nvCxnSpPr>
          <p:cNvPr id="26" name="Connector 25"/>
          <p:cNvCxnSpPr/>
          <p:nvPr/>
        </p:nvCxnSpPr>
        <p:spPr>
          <a:xfrm>
            <a:off x="9784080" y="1668780"/>
            <a:ext cx="411480" cy="0"/>
          </a:xfrm>
          <a:prstGeom prst="line">
            <a:avLst/>
          </a:prstGeom>
          <a:ln w="22225">
            <a:solidFill>
              <a:srgbClr val="6B778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058400" y="1463040"/>
            <a:ext cx="1188720" cy="411480"/>
          </a:xfrm>
          <a:prstGeom prst="rect">
            <a:avLst/>
          </a:prstGeom>
          <a:noFill/>
        </p:spPr>
        <p:txBody>
          <a:bodyPr wrap="square" lIns="36576" rIns="36576" tIns="36576" bIns="36576" anchor="ctr">
            <a:noAutofit/>
          </a:bodyPr>
          <a:lstStyle/>
          <a:p>
            <a:pPr algn="ctr"/>
            <a:r>
              <a:rPr sz="2000" b="1" i="0">
                <a:solidFill>
                  <a:srgbClr val="2F5D8A"/>
                </a:solidFill>
                <a:latin typeface="Aptos"/>
                <a:ea typeface="Aptos"/>
                <a:cs typeface="Aptos"/>
              </a:rPr>
              <a:t>100%</a:t>
            </a:r>
          </a:p>
        </p:txBody>
      </p:sp>
      <p:sp>
        <p:nvSpPr>
          <p:cNvPr id="28" name="Rounded Rectangle 27"/>
          <p:cNvSpPr/>
          <p:nvPr/>
        </p:nvSpPr>
        <p:spPr>
          <a:xfrm>
            <a:off x="4526280" y="2194560"/>
            <a:ext cx="6976872" cy="1417320"/>
          </a:xfrm>
          <a:prstGeom prst="roundRect">
            <a:avLst>
              <a:gd name="adj" fmla="val 10322"/>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26280" y="2194560"/>
            <a:ext cx="64008" cy="1417320"/>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09160" y="2304288"/>
            <a:ext cx="6684264" cy="365760"/>
          </a:xfrm>
          <a:prstGeom prst="rect">
            <a:avLst/>
          </a:prstGeom>
          <a:noFill/>
        </p:spPr>
        <p:txBody>
          <a:bodyPr wrap="square" lIns="36576" rIns="36576" tIns="36576" bIns="36576" anchor="t">
            <a:noAutofit/>
          </a:bodyPr>
          <a:lstStyle/>
          <a:p>
            <a:pPr algn="l"/>
            <a:r>
              <a:rPr sz="1600" b="1" i="0">
                <a:solidFill>
                  <a:srgbClr val="2F5D8A"/>
                </a:solidFill>
                <a:latin typeface="Aptos"/>
                <a:ea typeface="Aptos"/>
                <a:cs typeface="Aptos"/>
              </a:rPr>
              <a:t>Default predictor</a:t>
            </a:r>
          </a:p>
        </p:txBody>
      </p:sp>
      <p:sp>
        <p:nvSpPr>
          <p:cNvPr id="31" name="TextBox 30"/>
          <p:cNvSpPr txBox="1"/>
          <p:nvPr/>
        </p:nvSpPr>
        <p:spPr>
          <a:xfrm>
            <a:off x="4709160" y="2697480"/>
            <a:ext cx="6684264" cy="85039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Profile-level two-exponential mixtures give the conditional remaining lifetime and a class probability. Numeric parameters are inferred.</a:t>
            </a:r>
          </a:p>
        </p:txBody>
      </p:sp>
      <p:sp>
        <p:nvSpPr>
          <p:cNvPr id="32" name="Rounded Rectangle 31"/>
          <p:cNvSpPr/>
          <p:nvPr/>
        </p:nvSpPr>
        <p:spPr>
          <a:xfrm>
            <a:off x="4526280" y="3794760"/>
            <a:ext cx="3383280" cy="1645920"/>
          </a:xfrm>
          <a:prstGeom prst="roundRect">
            <a:avLst>
              <a:gd name="adj" fmla="val 8888"/>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26280" y="3794760"/>
            <a:ext cx="64008" cy="1645920"/>
          </a:xfrm>
          <a:prstGeom prst="rect">
            <a:avLst/>
          </a:prstGeom>
          <a:solidFill>
            <a:srgbClr val="D98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09160" y="3904488"/>
            <a:ext cx="3090672" cy="365760"/>
          </a:xfrm>
          <a:prstGeom prst="rect">
            <a:avLst/>
          </a:prstGeom>
          <a:noFill/>
        </p:spPr>
        <p:txBody>
          <a:bodyPr wrap="square" lIns="36576" rIns="36576" tIns="36576" bIns="36576" anchor="t">
            <a:noAutofit/>
          </a:bodyPr>
          <a:lstStyle/>
          <a:p>
            <a:pPr algn="l"/>
            <a:r>
              <a:rPr sz="1600" b="1" i="0">
                <a:solidFill>
                  <a:srgbClr val="A85A14"/>
                </a:solidFill>
                <a:latin typeface="Aptos"/>
                <a:ea typeface="Aptos"/>
                <a:cs typeface="Aptos"/>
              </a:rPr>
              <a:t>Oracle reference</a:t>
            </a:r>
          </a:p>
        </p:txBody>
      </p:sp>
      <p:sp>
        <p:nvSpPr>
          <p:cNvPr id="35" name="TextBox 34"/>
          <p:cNvSpPr txBox="1"/>
          <p:nvPr/>
        </p:nvSpPr>
        <p:spPr>
          <a:xfrm>
            <a:off x="4709160" y="4297680"/>
            <a:ext cx="3090672" cy="107899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True remaining lifetime; a full-information reference, not an upper bound.</a:t>
            </a:r>
          </a:p>
        </p:txBody>
      </p:sp>
      <p:sp>
        <p:nvSpPr>
          <p:cNvPr id="36" name="Rounded Rectangle 35"/>
          <p:cNvSpPr/>
          <p:nvPr/>
        </p:nvSpPr>
        <p:spPr>
          <a:xfrm>
            <a:off x="8119872" y="3794760"/>
            <a:ext cx="3383280" cy="1645920"/>
          </a:xfrm>
          <a:prstGeom prst="roundRect">
            <a:avLst>
              <a:gd name="adj" fmla="val 8888"/>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19872" y="3794760"/>
            <a:ext cx="64008" cy="1645920"/>
          </a:xfrm>
          <a:prstGeom prst="rect">
            <a:avLst/>
          </a:prstGeom>
          <a:solidFill>
            <a:srgbClr val="3E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02752" y="3904488"/>
            <a:ext cx="3090672" cy="365760"/>
          </a:xfrm>
          <a:prstGeom prst="rect">
            <a:avLst/>
          </a:prstGeom>
          <a:noFill/>
        </p:spPr>
        <p:txBody>
          <a:bodyPr wrap="square" lIns="36576" rIns="36576" tIns="36576" bIns="36576" anchor="t">
            <a:noAutofit/>
          </a:bodyPr>
          <a:lstStyle/>
          <a:p>
            <a:pPr algn="l"/>
            <a:r>
              <a:rPr sz="1600" b="1" i="0">
                <a:solidFill>
                  <a:srgbClr val="3E7C59"/>
                </a:solidFill>
                <a:latin typeface="Aptos"/>
                <a:ea typeface="Aptos"/>
                <a:cs typeface="Aptos"/>
              </a:rPr>
              <a:t>Statistical protocol</a:t>
            </a:r>
          </a:p>
        </p:txBody>
      </p:sp>
      <p:sp>
        <p:nvSpPr>
          <p:cNvPr id="39" name="TextBox 38"/>
          <p:cNvSpPr txBox="1"/>
          <p:nvPr/>
        </p:nvSpPr>
        <p:spPr>
          <a:xfrm>
            <a:off x="8302752" y="4297680"/>
            <a:ext cx="3090672" cy="107899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Identical traces and noise for all policies; paired Student-t 95% intervals.</a:t>
            </a:r>
          </a:p>
        </p:txBody>
      </p:sp>
      <p:sp>
        <p:nvSpPr>
          <p:cNvPr id="40" name="TextBox 39"/>
          <p:cNvSpPr txBox="1"/>
          <p:nvPr/>
        </p:nvSpPr>
        <p:spPr>
          <a:xfrm>
            <a:off x="685800" y="5715000"/>
            <a:ext cx="10835640" cy="292608"/>
          </a:xfrm>
          <a:prstGeom prst="rect">
            <a:avLst/>
          </a:prstGeom>
          <a:noFill/>
        </p:spPr>
        <p:txBody>
          <a:bodyPr wrap="square" lIns="36576" rIns="36576" tIns="36576" bIns="36576" anchor="t">
            <a:noAutofit/>
          </a:bodyPr>
          <a:lstStyle/>
          <a:p>
            <a:pPr algn="ctr"/>
            <a:r>
              <a:rPr sz="1200" b="1" i="0">
                <a:solidFill>
                  <a:srgbClr val="5A6573"/>
                </a:solidFill>
                <a:latin typeface="Aptos"/>
                <a:ea typeface="Aptos"/>
                <a:cs typeface="Aptos"/>
              </a:rPr>
              <a:t>*-Bayes adds only the profile prior, which the default predictor already uses.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502920" y="320040"/>
            <a:ext cx="502920" cy="256032"/>
          </a:xfrm>
          <a:prstGeom prst="rect">
            <a:avLst/>
          </a:prstGeom>
          <a:noFill/>
        </p:spPr>
        <p:txBody>
          <a:bodyPr wrap="square" lIns="36576" rIns="36576" tIns="36576" bIns="36576" anchor="ctr">
            <a:noAutofit/>
          </a:bodyPr>
          <a:lstStyle/>
          <a:p>
            <a:pPr algn="ctr"/>
            <a:r>
              <a:rPr sz="1200" b="1" i="0">
                <a:solidFill>
                  <a:srgbClr val="A85A14"/>
                </a:solidFill>
                <a:latin typeface="Aptos"/>
                <a:ea typeface="Aptos"/>
                <a:cs typeface="Aptos"/>
              </a:rPr>
              <a:t>08</a:t>
            </a:r>
          </a:p>
        </p:txBody>
      </p:sp>
      <p:sp>
        <p:nvSpPr>
          <p:cNvPr id="3" name="TextBox 2"/>
          <p:cNvSpPr txBox="1"/>
          <p:nvPr/>
        </p:nvSpPr>
        <p:spPr>
          <a:xfrm>
            <a:off x="1005840" y="256032"/>
            <a:ext cx="10561320" cy="466344"/>
          </a:xfrm>
          <a:prstGeom prst="rect">
            <a:avLst/>
          </a:prstGeom>
          <a:noFill/>
        </p:spPr>
        <p:txBody>
          <a:bodyPr wrap="square" lIns="36576" rIns="36576" tIns="36576" bIns="36576" anchor="t">
            <a:noAutofit/>
          </a:bodyPr>
          <a:lstStyle/>
          <a:p>
            <a:pPr algn="l"/>
            <a:r>
              <a:rPr sz="2400" b="1" i="0">
                <a:solidFill>
                  <a:srgbClr val="233142"/>
                </a:solidFill>
                <a:latin typeface="Aptos"/>
                <a:ea typeface="Aptos"/>
                <a:cs typeface="Aptos"/>
              </a:rPr>
              <a:t>RQ1: Prediction accuracy drives LAVA’s gain</a:t>
            </a:r>
          </a:p>
        </p:txBody>
      </p:sp>
      <p:sp>
        <p:nvSpPr>
          <p:cNvPr id="4" name="TextBox 3"/>
          <p:cNvSpPr txBox="1"/>
          <p:nvPr/>
        </p:nvSpPr>
        <p:spPr>
          <a:xfrm>
            <a:off x="594360" y="6528816"/>
            <a:ext cx="6190488" cy="192024"/>
          </a:xfrm>
          <a:prstGeom prst="rect">
            <a:avLst/>
          </a:prstGeom>
          <a:noFill/>
        </p:spPr>
        <p:txBody>
          <a:bodyPr wrap="square" lIns="36576" rIns="36576" tIns="36576" bIns="36576" anchor="t">
            <a:noAutofit/>
          </a:bodyPr>
          <a:lstStyle/>
          <a:p>
            <a:pPr algn="l"/>
            <a:r>
              <a:rPr sz="800" b="0" i="0">
                <a:solidFill>
                  <a:srgbClr val="6B7785"/>
                </a:solidFill>
                <a:latin typeface="Aptos"/>
                <a:ea typeface="Aptos"/>
                <a:cs typeface="Aptos"/>
              </a:rPr>
              <a:t>Independent reconstruction   29 October 2026</a:t>
            </a:r>
          </a:p>
        </p:txBody>
      </p:sp>
      <p:sp>
        <p:nvSpPr>
          <p:cNvPr id="5" name="TextBox 4"/>
          <p:cNvSpPr txBox="1"/>
          <p:nvPr/>
        </p:nvSpPr>
        <p:spPr>
          <a:xfrm>
            <a:off x="11109960" y="6510528"/>
            <a:ext cx="457200" cy="192024"/>
          </a:xfrm>
          <a:prstGeom prst="rect">
            <a:avLst/>
          </a:prstGeom>
          <a:noFill/>
        </p:spPr>
        <p:txBody>
          <a:bodyPr wrap="square" lIns="36576" rIns="36576" tIns="36576" bIns="36576" anchor="t">
            <a:noAutofit/>
          </a:bodyPr>
          <a:lstStyle/>
          <a:p>
            <a:pPr algn="r"/>
            <a:r>
              <a:rPr sz="800" b="0" i="0">
                <a:solidFill>
                  <a:srgbClr val="6B7785"/>
                </a:solidFill>
                <a:latin typeface="Aptos"/>
                <a:ea typeface="Aptos"/>
                <a:cs typeface="Aptos"/>
              </a:rPr>
              <a:t>8</a:t>
            </a:r>
          </a:p>
        </p:txBody>
      </p:sp>
      <p:graphicFrame>
        <p:nvGraphicFramePr>
          <p:cNvPr id="6" name="Chart 5"/>
          <p:cNvGraphicFramePr>
            <a:graphicFrameLocks noGrp="1"/>
          </p:cNvGraphicFramePr>
          <p:nvPr/>
        </p:nvGraphicFramePr>
        <p:xfrm>
          <a:off x="685800" y="1097280"/>
          <a:ext cx="7498079" cy="4434840"/>
        </p:xfrm>
        <a:graphic>
          <a:graphicData uri="http://schemas.openxmlformats.org/drawingml/2006/chart">
            <c:chart xmlns:c="http://schemas.openxmlformats.org/drawingml/2006/chart" r:id="rId3"/>
          </a:graphicData>
        </a:graphic>
      </p:graphicFrame>
      <p:sp>
        <p:nvSpPr>
          <p:cNvPr id="7" name="Rounded Rectangle 6"/>
          <p:cNvSpPr/>
          <p:nvPr/>
        </p:nvSpPr>
        <p:spPr>
          <a:xfrm>
            <a:off x="8458200" y="1143000"/>
            <a:ext cx="3044952" cy="1280160"/>
          </a:xfrm>
          <a:prstGeom prst="roundRect">
            <a:avLst>
              <a:gd name="adj" fmla="val 11428"/>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58200" y="1143000"/>
            <a:ext cx="64008" cy="1280160"/>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41080" y="1252728"/>
            <a:ext cx="2752344" cy="365760"/>
          </a:xfrm>
          <a:prstGeom prst="rect">
            <a:avLst/>
          </a:prstGeom>
          <a:noFill/>
        </p:spPr>
        <p:txBody>
          <a:bodyPr wrap="square" lIns="36576" rIns="36576" tIns="36576" bIns="36576" anchor="t">
            <a:noAutofit/>
          </a:bodyPr>
          <a:lstStyle/>
          <a:p>
            <a:pPr algn="l"/>
            <a:r>
              <a:rPr sz="1600" b="1" i="0">
                <a:solidFill>
                  <a:srgbClr val="2F5D8A"/>
                </a:solidFill>
                <a:latin typeface="Aptos"/>
                <a:ea typeface="Aptos"/>
                <a:cs typeface="Aptos"/>
              </a:rPr>
              <a:t>First significant point</a:t>
            </a:r>
          </a:p>
        </p:txBody>
      </p:sp>
      <p:sp>
        <p:nvSpPr>
          <p:cNvPr id="10" name="TextBox 9"/>
          <p:cNvSpPr txBox="1"/>
          <p:nvPr/>
        </p:nvSpPr>
        <p:spPr>
          <a:xfrm>
            <a:off x="8641080" y="1645920"/>
            <a:ext cx="2752344" cy="713231"/>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75% accuracy: +0.275 [+0.147, +0.403] pp</a:t>
            </a:r>
          </a:p>
        </p:txBody>
      </p:sp>
      <p:sp>
        <p:nvSpPr>
          <p:cNvPr id="11" name="Rounded Rectangle 10"/>
          <p:cNvSpPr/>
          <p:nvPr/>
        </p:nvSpPr>
        <p:spPr>
          <a:xfrm>
            <a:off x="8458200" y="2606040"/>
            <a:ext cx="3044952" cy="1463040"/>
          </a:xfrm>
          <a:prstGeom prst="roundRect">
            <a:avLst>
              <a:gd name="adj" fmla="val 10000"/>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2606040"/>
            <a:ext cx="64008" cy="1463040"/>
          </a:xfrm>
          <a:prstGeom prst="rect">
            <a:avLst/>
          </a:prstGeom>
          <a:solidFill>
            <a:srgbClr val="D98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41080" y="2715768"/>
            <a:ext cx="2752344" cy="365760"/>
          </a:xfrm>
          <a:prstGeom prst="rect">
            <a:avLst/>
          </a:prstGeom>
          <a:noFill/>
        </p:spPr>
        <p:txBody>
          <a:bodyPr wrap="square" lIns="36576" rIns="36576" tIns="36576" bIns="36576" anchor="t">
            <a:noAutofit/>
          </a:bodyPr>
          <a:lstStyle/>
          <a:p>
            <a:pPr algn="l"/>
            <a:r>
              <a:rPr sz="1600" b="1" i="0">
                <a:solidFill>
                  <a:srgbClr val="A85A14"/>
                </a:solidFill>
                <a:latin typeface="Aptos"/>
                <a:ea typeface="Aptos"/>
                <a:cs typeface="Aptos"/>
              </a:rPr>
              <a:t>Default predictor</a:t>
            </a:r>
          </a:p>
        </p:txBody>
      </p:sp>
      <p:sp>
        <p:nvSpPr>
          <p:cNvPr id="14" name="TextBox 13"/>
          <p:cNvSpPr txBox="1"/>
          <p:nvPr/>
        </p:nvSpPr>
        <p:spPr>
          <a:xfrm>
            <a:off x="8641080" y="3108960"/>
            <a:ext cx="2752344" cy="89611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+0.124 pp here; not replicated on held-out (+0.001) or fresh seeds (−0.043).</a:t>
            </a:r>
          </a:p>
        </p:txBody>
      </p:sp>
      <p:sp>
        <p:nvSpPr>
          <p:cNvPr id="15" name="Rounded Rectangle 14"/>
          <p:cNvSpPr/>
          <p:nvPr/>
        </p:nvSpPr>
        <p:spPr>
          <a:xfrm>
            <a:off x="8458200" y="4251960"/>
            <a:ext cx="3044952" cy="1280160"/>
          </a:xfrm>
          <a:prstGeom prst="roundRect">
            <a:avLst>
              <a:gd name="adj" fmla="val 11428"/>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58200" y="4251960"/>
            <a:ext cx="64008" cy="1280160"/>
          </a:xfrm>
          <a:prstGeom prst="rect">
            <a:avLst/>
          </a:prstGeom>
          <a:solidFill>
            <a:srgbClr val="3E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41080" y="4361688"/>
            <a:ext cx="2752344" cy="365760"/>
          </a:xfrm>
          <a:prstGeom prst="rect">
            <a:avLst/>
          </a:prstGeom>
          <a:noFill/>
        </p:spPr>
        <p:txBody>
          <a:bodyPr wrap="square" lIns="36576" rIns="36576" tIns="36576" bIns="36576" anchor="t">
            <a:noAutofit/>
          </a:bodyPr>
          <a:lstStyle/>
          <a:p>
            <a:pPr algn="l"/>
            <a:r>
              <a:rPr sz="1600" b="1" i="0">
                <a:solidFill>
                  <a:srgbClr val="3E7C59"/>
                </a:solidFill>
                <a:latin typeface="Aptos"/>
                <a:ea typeface="Aptos"/>
                <a:cs typeface="Aptos"/>
              </a:rPr>
              <a:t>Oracle reference</a:t>
            </a:r>
          </a:p>
        </p:txBody>
      </p:sp>
      <p:sp>
        <p:nvSpPr>
          <p:cNvPr id="18" name="TextBox 17"/>
          <p:cNvSpPr txBox="1"/>
          <p:nvPr/>
        </p:nvSpPr>
        <p:spPr>
          <a:xfrm>
            <a:off x="8641080" y="4754880"/>
            <a:ext cx="2752344" cy="713231"/>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+0.575 [+0.433, +0.718] pp</a:t>
            </a:r>
          </a:p>
        </p:txBody>
      </p:sp>
      <p:sp>
        <p:nvSpPr>
          <p:cNvPr id="19" name="TextBox 18"/>
          <p:cNvSpPr txBox="1"/>
          <p:nvPr/>
        </p:nvSpPr>
        <p:spPr>
          <a:xfrm>
            <a:off x="685800" y="5760720"/>
            <a:ext cx="10835640" cy="292608"/>
          </a:xfrm>
          <a:prstGeom prst="rect">
            <a:avLst/>
          </a:prstGeom>
          <a:noFill/>
        </p:spPr>
        <p:txBody>
          <a:bodyPr wrap="square" lIns="36576" rIns="36576" tIns="36576" bIns="36576" anchor="t">
            <a:noAutofit/>
          </a:bodyPr>
          <a:lstStyle/>
          <a:p>
            <a:pPr algn="ctr"/>
            <a:r>
              <a:rPr sz="1200" b="1" i="0">
                <a:solidFill>
                  <a:srgbClr val="5A6573"/>
                </a:solidFill>
                <a:latin typeface="Aptos"/>
                <a:ea typeface="Aptos"/>
                <a:cs typeface="Aptos"/>
              </a:rPr>
              <a:t>Initial split (n = 20 per point), paired 95% intervals. The 75% crossing point is specific to this reconstruction.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502920" y="320040"/>
            <a:ext cx="502920" cy="256032"/>
          </a:xfrm>
          <a:prstGeom prst="rect">
            <a:avLst/>
          </a:prstGeom>
          <a:noFill/>
        </p:spPr>
        <p:txBody>
          <a:bodyPr wrap="square" lIns="36576" rIns="36576" tIns="36576" bIns="36576" anchor="ctr">
            <a:noAutofit/>
          </a:bodyPr>
          <a:lstStyle/>
          <a:p>
            <a:pPr algn="ctr"/>
            <a:r>
              <a:rPr sz="1200" b="1" i="0">
                <a:solidFill>
                  <a:srgbClr val="A85A14"/>
                </a:solidFill>
                <a:latin typeface="Aptos"/>
                <a:ea typeface="Aptos"/>
                <a:cs typeface="Aptos"/>
              </a:rPr>
              <a:t>09</a:t>
            </a:r>
          </a:p>
        </p:txBody>
      </p:sp>
      <p:sp>
        <p:nvSpPr>
          <p:cNvPr id="3" name="TextBox 2"/>
          <p:cNvSpPr txBox="1"/>
          <p:nvPr/>
        </p:nvSpPr>
        <p:spPr>
          <a:xfrm>
            <a:off x="1005840" y="256032"/>
            <a:ext cx="10561320" cy="466344"/>
          </a:xfrm>
          <a:prstGeom prst="rect">
            <a:avLst/>
          </a:prstGeom>
          <a:noFill/>
        </p:spPr>
        <p:txBody>
          <a:bodyPr wrap="square" lIns="36576" rIns="36576" tIns="36576" bIns="36576" anchor="t">
            <a:noAutofit/>
          </a:bodyPr>
          <a:lstStyle/>
          <a:p>
            <a:pPr algn="l"/>
            <a:r>
              <a:rPr sz="2400" b="1" i="0">
                <a:solidFill>
                  <a:srgbClr val="233142"/>
                </a:solidFill>
                <a:latin typeface="Aptos"/>
                <a:ea typeface="Aptos"/>
                <a:cs typeface="Aptos"/>
              </a:rPr>
              <a:t>Held-out sensitivity and the RQ2 hypothesis</a:t>
            </a:r>
          </a:p>
        </p:txBody>
      </p:sp>
      <p:sp>
        <p:nvSpPr>
          <p:cNvPr id="4" name="TextBox 3"/>
          <p:cNvSpPr txBox="1"/>
          <p:nvPr/>
        </p:nvSpPr>
        <p:spPr>
          <a:xfrm>
            <a:off x="594360" y="6528816"/>
            <a:ext cx="6190488" cy="192024"/>
          </a:xfrm>
          <a:prstGeom prst="rect">
            <a:avLst/>
          </a:prstGeom>
          <a:noFill/>
        </p:spPr>
        <p:txBody>
          <a:bodyPr wrap="square" lIns="36576" rIns="36576" tIns="36576" bIns="36576" anchor="t">
            <a:noAutofit/>
          </a:bodyPr>
          <a:lstStyle/>
          <a:p>
            <a:pPr algn="l"/>
            <a:r>
              <a:rPr sz="800" b="0" i="0">
                <a:solidFill>
                  <a:srgbClr val="6B7785"/>
                </a:solidFill>
                <a:latin typeface="Aptos"/>
                <a:ea typeface="Aptos"/>
                <a:cs typeface="Aptos"/>
              </a:rPr>
              <a:t>Independent reconstruction   29 October 2026</a:t>
            </a:r>
          </a:p>
        </p:txBody>
      </p:sp>
      <p:sp>
        <p:nvSpPr>
          <p:cNvPr id="5" name="TextBox 4"/>
          <p:cNvSpPr txBox="1"/>
          <p:nvPr/>
        </p:nvSpPr>
        <p:spPr>
          <a:xfrm>
            <a:off x="11109960" y="6510528"/>
            <a:ext cx="457200" cy="192024"/>
          </a:xfrm>
          <a:prstGeom prst="rect">
            <a:avLst/>
          </a:prstGeom>
          <a:noFill/>
        </p:spPr>
        <p:txBody>
          <a:bodyPr wrap="square" lIns="36576" rIns="36576" tIns="36576" bIns="36576" anchor="t">
            <a:noAutofit/>
          </a:bodyPr>
          <a:lstStyle/>
          <a:p>
            <a:pPr algn="r"/>
            <a:r>
              <a:rPr sz="800" b="0" i="0">
                <a:solidFill>
                  <a:srgbClr val="6B7785"/>
                </a:solidFill>
                <a:latin typeface="Aptos"/>
                <a:ea typeface="Aptos"/>
                <a:cs typeface="Aptos"/>
              </a:rPr>
              <a:t>9</a:t>
            </a:r>
          </a:p>
        </p:txBody>
      </p:sp>
      <p:sp>
        <p:nvSpPr>
          <p:cNvPr id="6" name="Rounded Rectangle 5"/>
          <p:cNvSpPr/>
          <p:nvPr/>
        </p:nvSpPr>
        <p:spPr>
          <a:xfrm>
            <a:off x="685800" y="1188720"/>
            <a:ext cx="3474720" cy="1371600"/>
          </a:xfrm>
          <a:prstGeom prst="roundRect">
            <a:avLst>
              <a:gd name="adj" fmla="val 10666"/>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344168"/>
            <a:ext cx="3291840" cy="566928"/>
          </a:xfrm>
          <a:prstGeom prst="rect">
            <a:avLst/>
          </a:prstGeom>
          <a:noFill/>
        </p:spPr>
        <p:txBody>
          <a:bodyPr wrap="square" lIns="36576" rIns="36576" tIns="36576" bIns="36576" anchor="t">
            <a:noAutofit/>
          </a:bodyPr>
          <a:lstStyle/>
          <a:p>
            <a:pPr algn="ctr"/>
            <a:r>
              <a:rPr sz="3200" b="1" i="0">
                <a:solidFill>
                  <a:srgbClr val="6B7785"/>
                </a:solidFill>
                <a:latin typeface="Aptos"/>
                <a:ea typeface="Aptos"/>
                <a:cs typeface="Aptos"/>
              </a:rPr>
              <a:t>+0.001 pp</a:t>
            </a:r>
          </a:p>
        </p:txBody>
      </p:sp>
      <p:sp>
        <p:nvSpPr>
          <p:cNvPr id="8" name="TextBox 7"/>
          <p:cNvSpPr txBox="1"/>
          <p:nvPr/>
        </p:nvSpPr>
        <p:spPr>
          <a:xfrm>
            <a:off x="777240" y="1947672"/>
            <a:ext cx="3291840" cy="457200"/>
          </a:xfrm>
          <a:prstGeom prst="rect">
            <a:avLst/>
          </a:prstGeom>
          <a:noFill/>
        </p:spPr>
        <p:txBody>
          <a:bodyPr wrap="square" lIns="36576" rIns="36576" tIns="36576" bIns="36576" anchor="t">
            <a:noAutofit/>
          </a:bodyPr>
          <a:lstStyle/>
          <a:p>
            <a:pPr algn="ctr"/>
            <a:r>
              <a:rPr sz="1200" b="0" i="0">
                <a:solidFill>
                  <a:srgbClr val="5A6573"/>
                </a:solidFill>
                <a:latin typeface="Aptos"/>
                <a:ea typeface="Aptos"/>
                <a:cs typeface="Aptos"/>
              </a:rPr>
              <a:t>LAVA, default predictor (held-out 20–39)</a:t>
            </a:r>
          </a:p>
        </p:txBody>
      </p:sp>
      <p:sp>
        <p:nvSpPr>
          <p:cNvPr id="9" name="Rounded Rectangle 8"/>
          <p:cNvSpPr/>
          <p:nvPr/>
        </p:nvSpPr>
        <p:spPr>
          <a:xfrm>
            <a:off x="4343400" y="1188720"/>
            <a:ext cx="3474720" cy="1371600"/>
          </a:xfrm>
          <a:prstGeom prst="roundRect">
            <a:avLst>
              <a:gd name="adj" fmla="val 10666"/>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34840" y="1344168"/>
            <a:ext cx="3291840" cy="566928"/>
          </a:xfrm>
          <a:prstGeom prst="rect">
            <a:avLst/>
          </a:prstGeom>
          <a:noFill/>
        </p:spPr>
        <p:txBody>
          <a:bodyPr wrap="square" lIns="36576" rIns="36576" tIns="36576" bIns="36576" anchor="t">
            <a:noAutofit/>
          </a:bodyPr>
          <a:lstStyle/>
          <a:p>
            <a:pPr algn="ctr"/>
            <a:r>
              <a:rPr sz="3200" b="1" i="0">
                <a:solidFill>
                  <a:srgbClr val="3E7C59"/>
                </a:solidFill>
                <a:latin typeface="Aptos"/>
                <a:ea typeface="Aptos"/>
                <a:cs typeface="Aptos"/>
              </a:rPr>
              <a:t>+0.661 pp</a:t>
            </a:r>
          </a:p>
        </p:txBody>
      </p:sp>
      <p:sp>
        <p:nvSpPr>
          <p:cNvPr id="11" name="TextBox 10"/>
          <p:cNvSpPr txBox="1"/>
          <p:nvPr/>
        </p:nvSpPr>
        <p:spPr>
          <a:xfrm>
            <a:off x="4434840" y="1947672"/>
            <a:ext cx="3291840" cy="457200"/>
          </a:xfrm>
          <a:prstGeom prst="rect">
            <a:avLst/>
          </a:prstGeom>
          <a:noFill/>
        </p:spPr>
        <p:txBody>
          <a:bodyPr wrap="square" lIns="36576" rIns="36576" tIns="36576" bIns="36576" anchor="t">
            <a:noAutofit/>
          </a:bodyPr>
          <a:lstStyle/>
          <a:p>
            <a:pPr algn="ctr"/>
            <a:r>
              <a:rPr sz="1200" b="0" i="0">
                <a:solidFill>
                  <a:srgbClr val="5A6573"/>
                </a:solidFill>
                <a:latin typeface="Aptos"/>
                <a:ea typeface="Aptos"/>
                <a:cs typeface="Aptos"/>
              </a:rPr>
              <a:t>LAVA with true lifetimes (held-out 20–39)</a:t>
            </a:r>
          </a:p>
        </p:txBody>
      </p:sp>
      <p:sp>
        <p:nvSpPr>
          <p:cNvPr id="12" name="Rounded Rectangle 11"/>
          <p:cNvSpPr/>
          <p:nvPr/>
        </p:nvSpPr>
        <p:spPr>
          <a:xfrm>
            <a:off x="8001000" y="1188720"/>
            <a:ext cx="3474720" cy="1371600"/>
          </a:xfrm>
          <a:prstGeom prst="roundRect">
            <a:avLst>
              <a:gd name="adj" fmla="val 10666"/>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1344168"/>
            <a:ext cx="3291840" cy="566928"/>
          </a:xfrm>
          <a:prstGeom prst="rect">
            <a:avLst/>
          </a:prstGeom>
          <a:noFill/>
        </p:spPr>
        <p:txBody>
          <a:bodyPr wrap="square" lIns="36576" rIns="36576" tIns="36576" bIns="36576" anchor="t">
            <a:noAutofit/>
          </a:bodyPr>
          <a:lstStyle/>
          <a:p>
            <a:pPr algn="ctr"/>
            <a:r>
              <a:rPr sz="3200" b="1" i="0">
                <a:solidFill>
                  <a:srgbClr val="B64A4A"/>
                </a:solidFill>
                <a:latin typeface="Aptos"/>
                <a:ea typeface="Aptos"/>
                <a:cs typeface="Aptos"/>
              </a:rPr>
              <a:t>−0.187 pp</a:t>
            </a:r>
          </a:p>
        </p:txBody>
      </p:sp>
      <p:sp>
        <p:nvSpPr>
          <p:cNvPr id="14" name="TextBox 13"/>
          <p:cNvSpPr txBox="1"/>
          <p:nvPr/>
        </p:nvSpPr>
        <p:spPr>
          <a:xfrm>
            <a:off x="8092440" y="1947672"/>
            <a:ext cx="3291840" cy="457200"/>
          </a:xfrm>
          <a:prstGeom prst="rect">
            <a:avLst/>
          </a:prstGeom>
          <a:noFill/>
        </p:spPr>
        <p:txBody>
          <a:bodyPr wrap="square" lIns="36576" rIns="36576" tIns="36576" bIns="36576" anchor="t">
            <a:noAutofit/>
          </a:bodyPr>
          <a:lstStyle/>
          <a:p>
            <a:pPr algn="ctr"/>
            <a:r>
              <a:rPr sz="1200" b="0" i="0">
                <a:solidFill>
                  <a:srgbClr val="5A6573"/>
                </a:solidFill>
                <a:latin typeface="Aptos"/>
                <a:ea typeface="Aptos"/>
                <a:cs typeface="Aptos"/>
              </a:rPr>
              <a:t>LAVA at 25% accuracy (fresh seeds)</a:t>
            </a:r>
          </a:p>
        </p:txBody>
      </p:sp>
      <p:sp>
        <p:nvSpPr>
          <p:cNvPr id="15" name="Rounded Rectangle 14"/>
          <p:cNvSpPr/>
          <p:nvPr/>
        </p:nvSpPr>
        <p:spPr>
          <a:xfrm>
            <a:off x="685800" y="2926080"/>
            <a:ext cx="3291840" cy="1600200"/>
          </a:xfrm>
          <a:prstGeom prst="roundRect">
            <a:avLst>
              <a:gd name="adj" fmla="val 9142"/>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2926080"/>
            <a:ext cx="64008" cy="1600200"/>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035808"/>
            <a:ext cx="2999232" cy="365760"/>
          </a:xfrm>
          <a:prstGeom prst="rect">
            <a:avLst/>
          </a:prstGeom>
          <a:noFill/>
        </p:spPr>
        <p:txBody>
          <a:bodyPr wrap="square" lIns="36576" rIns="36576" tIns="36576" bIns="36576" anchor="t">
            <a:noAutofit/>
          </a:bodyPr>
          <a:lstStyle/>
          <a:p>
            <a:pPr algn="l"/>
            <a:r>
              <a:rPr sz="1600" b="1" i="0">
                <a:solidFill>
                  <a:srgbClr val="2F5D8A"/>
                </a:solidFill>
                <a:latin typeface="Aptos"/>
                <a:ea typeface="Aptos"/>
                <a:cs typeface="Aptos"/>
              </a:rPr>
              <a:t>Observation</a:t>
            </a:r>
          </a:p>
        </p:txBody>
      </p:sp>
      <p:sp>
        <p:nvSpPr>
          <p:cNvPr id="18" name="TextBox 17"/>
          <p:cNvSpPr txBox="1"/>
          <p:nvPr/>
        </p:nvSpPr>
        <p:spPr>
          <a:xfrm>
            <a:off x="868680" y="3429000"/>
            <a:ext cx="2999232" cy="1033271"/>
          </a:xfrm>
          <a:prstGeom prst="rect">
            <a:avLst/>
          </a:prstGeom>
          <a:noFill/>
        </p:spPr>
        <p:txBody>
          <a:bodyPr wrap="square" lIns="36576" rIns="36576" tIns="36576" bIns="36576" anchor="t">
            <a:noAutofit/>
          </a:bodyPr>
          <a:lstStyle/>
          <a:p>
            <a:pPr algn="l"/>
            <a:r>
              <a:rPr sz="1400" b="0" i="0">
                <a:solidFill>
                  <a:srgbClr val="233142"/>
                </a:solidFill>
                <a:latin typeface="Aptos"/>
                <a:ea typeface="Aptos"/>
                <a:cs typeface="Aptos"/>
              </a:rPr>
              <a:t>LAVA gains little with the default predictor and loses to Best-Fit when predictions are poor.</a:t>
            </a:r>
          </a:p>
        </p:txBody>
      </p:sp>
      <p:cxnSp>
        <p:nvCxnSpPr>
          <p:cNvPr id="19" name="Connector 18"/>
          <p:cNvCxnSpPr/>
          <p:nvPr/>
        </p:nvCxnSpPr>
        <p:spPr>
          <a:xfrm>
            <a:off x="4041648" y="3721608"/>
            <a:ext cx="342899" cy="0"/>
          </a:xfrm>
          <a:prstGeom prst="line">
            <a:avLst/>
          </a:prstGeom>
          <a:ln w="22225">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448556" y="2926080"/>
            <a:ext cx="3291840" cy="1600200"/>
          </a:xfrm>
          <a:prstGeom prst="roundRect">
            <a:avLst>
              <a:gd name="adj" fmla="val 9142"/>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48556" y="2926080"/>
            <a:ext cx="64008" cy="1600200"/>
          </a:xfrm>
          <a:prstGeom prst="rect">
            <a:avLst/>
          </a:prstGeom>
          <a:solidFill>
            <a:srgbClr val="D98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31436" y="3035808"/>
            <a:ext cx="2999232" cy="365760"/>
          </a:xfrm>
          <a:prstGeom prst="rect">
            <a:avLst/>
          </a:prstGeom>
          <a:noFill/>
        </p:spPr>
        <p:txBody>
          <a:bodyPr wrap="square" lIns="36576" rIns="36576" tIns="36576" bIns="36576" anchor="t">
            <a:noAutofit/>
          </a:bodyPr>
          <a:lstStyle/>
          <a:p>
            <a:pPr algn="l"/>
            <a:r>
              <a:rPr sz="1600" b="1" i="0">
                <a:solidFill>
                  <a:srgbClr val="A85A14"/>
                </a:solidFill>
                <a:latin typeface="Aptos"/>
                <a:ea typeface="Aptos"/>
                <a:cs typeface="Aptos"/>
              </a:rPr>
              <a:t>Hypothesis</a:t>
            </a:r>
          </a:p>
        </p:txBody>
      </p:sp>
      <p:sp>
        <p:nvSpPr>
          <p:cNvPr id="23" name="TextBox 22"/>
          <p:cNvSpPr txBox="1"/>
          <p:nvPr/>
        </p:nvSpPr>
        <p:spPr>
          <a:xfrm>
            <a:off x="4631436" y="3429000"/>
            <a:ext cx="2999232" cy="1033271"/>
          </a:xfrm>
          <a:prstGeom prst="rect">
            <a:avLst/>
          </a:prstGeom>
          <a:noFill/>
        </p:spPr>
        <p:txBody>
          <a:bodyPr wrap="square" lIns="36576" rIns="36576" tIns="36576" bIns="36576" anchor="t">
            <a:noAutofit/>
          </a:bodyPr>
          <a:lstStyle/>
          <a:p>
            <a:pPr algn="l"/>
            <a:r>
              <a:rPr sz="1400" b="0" i="0">
                <a:solidFill>
                  <a:srgbClr val="233142"/>
                </a:solidFill>
                <a:latin typeface="Aptos"/>
                <a:ea typeface="Aptos"/>
                <a:cs typeface="Aptos"/>
              </a:rPr>
              <a:t>The earlier report’s idea: send low-confidence requests to Best-Fit, per VM or per host.</a:t>
            </a:r>
          </a:p>
        </p:txBody>
      </p:sp>
      <p:cxnSp>
        <p:nvCxnSpPr>
          <p:cNvPr id="24" name="Connector 23"/>
          <p:cNvCxnSpPr/>
          <p:nvPr/>
        </p:nvCxnSpPr>
        <p:spPr>
          <a:xfrm>
            <a:off x="7804404" y="3721608"/>
            <a:ext cx="342900" cy="0"/>
          </a:xfrm>
          <a:prstGeom prst="line">
            <a:avLst/>
          </a:prstGeom>
          <a:ln w="22225">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211312" y="2926080"/>
            <a:ext cx="3291840" cy="1600200"/>
          </a:xfrm>
          <a:prstGeom prst="roundRect">
            <a:avLst>
              <a:gd name="adj" fmla="val 9142"/>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11312" y="2926080"/>
            <a:ext cx="64008" cy="1600200"/>
          </a:xfrm>
          <a:prstGeom prst="rect">
            <a:avLst/>
          </a:prstGeom>
          <a:solidFill>
            <a:srgbClr val="B6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94192" y="3035808"/>
            <a:ext cx="2999232" cy="365760"/>
          </a:xfrm>
          <a:prstGeom prst="rect">
            <a:avLst/>
          </a:prstGeom>
          <a:noFill/>
        </p:spPr>
        <p:txBody>
          <a:bodyPr wrap="square" lIns="36576" rIns="36576" tIns="36576" bIns="36576" anchor="t">
            <a:noAutofit/>
          </a:bodyPr>
          <a:lstStyle/>
          <a:p>
            <a:pPr algn="l"/>
            <a:r>
              <a:rPr sz="1600" b="1" i="0">
                <a:solidFill>
                  <a:srgbClr val="B64A4A"/>
                </a:solidFill>
                <a:latin typeface="Aptos"/>
                <a:ea typeface="Aptos"/>
                <a:cs typeface="Aptos"/>
              </a:rPr>
              <a:t>Constraint</a:t>
            </a:r>
          </a:p>
        </p:txBody>
      </p:sp>
      <p:sp>
        <p:nvSpPr>
          <p:cNvPr id="28" name="TextBox 27"/>
          <p:cNvSpPr txBox="1"/>
          <p:nvPr/>
        </p:nvSpPr>
        <p:spPr>
          <a:xfrm>
            <a:off x="8394192" y="3429000"/>
            <a:ext cx="2999232" cy="1033271"/>
          </a:xfrm>
          <a:prstGeom prst="rect">
            <a:avLst/>
          </a:prstGeom>
          <a:noFill/>
        </p:spPr>
        <p:txBody>
          <a:bodyPr wrap="square" lIns="36576" rIns="36576" tIns="36576" bIns="36576" anchor="t">
            <a:noAutofit/>
          </a:bodyPr>
          <a:lstStyle/>
          <a:p>
            <a:pPr algn="l"/>
            <a:r>
              <a:rPr sz="1400" b="0" i="0">
                <a:solidFill>
                  <a:srgbClr val="233142"/>
                </a:solidFill>
                <a:latin typeface="Aptos"/>
                <a:ea typeface="Aptos"/>
                <a:cs typeface="Aptos"/>
              </a:rPr>
              <a:t>Workload and threshold stay fixed; no search for a result that matches the earlier report.</a:t>
            </a:r>
          </a:p>
        </p:txBody>
      </p:sp>
      <p:sp>
        <p:nvSpPr>
          <p:cNvPr id="29" name="TextBox 28"/>
          <p:cNvSpPr txBox="1"/>
          <p:nvPr/>
        </p:nvSpPr>
        <p:spPr>
          <a:xfrm>
            <a:off x="685800" y="4892040"/>
            <a:ext cx="10835640" cy="292608"/>
          </a:xfrm>
          <a:prstGeom prst="rect">
            <a:avLst/>
          </a:prstGeom>
          <a:noFill/>
        </p:spPr>
        <p:txBody>
          <a:bodyPr wrap="square" lIns="36576" rIns="36576" tIns="36576" bIns="36576" anchor="t">
            <a:noAutofit/>
          </a:bodyPr>
          <a:lstStyle/>
          <a:p>
            <a:pPr algn="ctr"/>
            <a:r>
              <a:rPr sz="1200" b="1" i="0">
                <a:solidFill>
                  <a:srgbClr val="5A6573"/>
                </a:solidFill>
                <a:latin typeface="Aptos"/>
                <a:ea typeface="Aptos"/>
                <a:cs typeface="Aptos"/>
              </a:rPr>
              <a:t>All values are paired differences relative to same-seed Best-Fit.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502920" y="320040"/>
            <a:ext cx="502920" cy="256032"/>
          </a:xfrm>
          <a:prstGeom prst="rect">
            <a:avLst/>
          </a:prstGeom>
          <a:noFill/>
        </p:spPr>
        <p:txBody>
          <a:bodyPr wrap="square" lIns="36576" rIns="36576" tIns="36576" bIns="36576" anchor="ctr">
            <a:noAutofit/>
          </a:bodyPr>
          <a:lstStyle/>
          <a:p>
            <a:pPr algn="ctr"/>
            <a:r>
              <a:rPr sz="1200" b="1" i="0">
                <a:solidFill>
                  <a:srgbClr val="A85A14"/>
                </a:solidFill>
                <a:latin typeface="Aptos"/>
                <a:ea typeface="Aptos"/>
                <a:cs typeface="Aptos"/>
              </a:rPr>
              <a:t>10</a:t>
            </a:r>
          </a:p>
        </p:txBody>
      </p:sp>
      <p:sp>
        <p:nvSpPr>
          <p:cNvPr id="3" name="TextBox 2"/>
          <p:cNvSpPr txBox="1"/>
          <p:nvPr/>
        </p:nvSpPr>
        <p:spPr>
          <a:xfrm>
            <a:off x="1005840" y="256032"/>
            <a:ext cx="10561320" cy="466344"/>
          </a:xfrm>
          <a:prstGeom prst="rect">
            <a:avLst/>
          </a:prstGeom>
          <a:noFill/>
        </p:spPr>
        <p:txBody>
          <a:bodyPr wrap="square" lIns="36576" rIns="36576" tIns="36576" bIns="36576" anchor="t">
            <a:noAutofit/>
          </a:bodyPr>
          <a:lstStyle/>
          <a:p>
            <a:pPr algn="l"/>
            <a:r>
              <a:rPr sz="2400" b="1" i="0">
                <a:solidFill>
                  <a:srgbClr val="233142"/>
                </a:solidFill>
                <a:latin typeface="Aptos"/>
                <a:ea typeface="Aptos"/>
                <a:cs typeface="Aptos"/>
              </a:rPr>
              <a:t>RQ2: Two ways to route by confidence</a:t>
            </a:r>
          </a:p>
        </p:txBody>
      </p:sp>
      <p:sp>
        <p:nvSpPr>
          <p:cNvPr id="4" name="TextBox 3"/>
          <p:cNvSpPr txBox="1"/>
          <p:nvPr/>
        </p:nvSpPr>
        <p:spPr>
          <a:xfrm>
            <a:off x="594360" y="6528816"/>
            <a:ext cx="6190488" cy="192024"/>
          </a:xfrm>
          <a:prstGeom prst="rect">
            <a:avLst/>
          </a:prstGeom>
          <a:noFill/>
        </p:spPr>
        <p:txBody>
          <a:bodyPr wrap="square" lIns="36576" rIns="36576" tIns="36576" bIns="36576" anchor="t">
            <a:noAutofit/>
          </a:bodyPr>
          <a:lstStyle/>
          <a:p>
            <a:pPr algn="l"/>
            <a:r>
              <a:rPr sz="800" b="0" i="0">
                <a:solidFill>
                  <a:srgbClr val="6B7785"/>
                </a:solidFill>
                <a:latin typeface="Aptos"/>
                <a:ea typeface="Aptos"/>
                <a:cs typeface="Aptos"/>
              </a:rPr>
              <a:t>Independent reconstruction   29 October 2026</a:t>
            </a:r>
          </a:p>
        </p:txBody>
      </p:sp>
      <p:sp>
        <p:nvSpPr>
          <p:cNvPr id="5" name="TextBox 4"/>
          <p:cNvSpPr txBox="1"/>
          <p:nvPr/>
        </p:nvSpPr>
        <p:spPr>
          <a:xfrm>
            <a:off x="11109960" y="6510528"/>
            <a:ext cx="457200" cy="192024"/>
          </a:xfrm>
          <a:prstGeom prst="rect">
            <a:avLst/>
          </a:prstGeom>
          <a:noFill/>
        </p:spPr>
        <p:txBody>
          <a:bodyPr wrap="square" lIns="36576" rIns="36576" tIns="36576" bIns="36576" anchor="t">
            <a:noAutofit/>
          </a:bodyPr>
          <a:lstStyle/>
          <a:p>
            <a:pPr algn="r"/>
            <a:r>
              <a:rPr sz="800" b="0" i="0">
                <a:solidFill>
                  <a:srgbClr val="6B7785"/>
                </a:solidFill>
                <a:latin typeface="Aptos"/>
                <a:ea typeface="Aptos"/>
                <a:cs typeface="Aptos"/>
              </a:rPr>
              <a:t>10</a:t>
            </a:r>
          </a:p>
        </p:txBody>
      </p:sp>
      <p:sp>
        <p:nvSpPr>
          <p:cNvPr id="6" name="Rounded Rectangle 5"/>
          <p:cNvSpPr/>
          <p:nvPr/>
        </p:nvSpPr>
        <p:spPr>
          <a:xfrm>
            <a:off x="685800" y="1097280"/>
            <a:ext cx="5303520" cy="3246120"/>
          </a:xfrm>
          <a:prstGeom prst="roundRect">
            <a:avLst>
              <a:gd name="adj" fmla="val 4507"/>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170432"/>
            <a:ext cx="4937760" cy="365760"/>
          </a:xfrm>
          <a:prstGeom prst="rect">
            <a:avLst/>
          </a:prstGeom>
          <a:noFill/>
        </p:spPr>
        <p:txBody>
          <a:bodyPr wrap="square" lIns="36576" rIns="36576" tIns="36576" bIns="36576" anchor="t">
            <a:noAutofit/>
          </a:bodyPr>
          <a:lstStyle/>
          <a:p>
            <a:pPr algn="l"/>
            <a:r>
              <a:rPr sz="1700" b="1" i="0">
                <a:solidFill>
                  <a:srgbClr val="2F5D8A"/>
                </a:solidFill>
                <a:latin typeface="Aptos"/>
                <a:ea typeface="Aptos"/>
                <a:cs typeface="Aptos"/>
              </a:rPr>
              <a:t>VM-Level CA</a:t>
            </a:r>
          </a:p>
        </p:txBody>
      </p:sp>
      <p:sp>
        <p:nvSpPr>
          <p:cNvPr id="8" name="Rounded Rectangle 7"/>
          <p:cNvSpPr/>
          <p:nvPr/>
        </p:nvSpPr>
        <p:spPr>
          <a:xfrm>
            <a:off x="914400" y="2148840"/>
            <a:ext cx="1143000" cy="566928"/>
          </a:xfrm>
          <a:prstGeom prst="roundRect">
            <a:avLst>
              <a:gd name="adj" fmla="val 16670"/>
            </a:avLst>
          </a:prstGeom>
          <a:solidFill>
            <a:srgbClr val="FFFFFF"/>
          </a:solidFill>
          <a:ln w="10160">
            <a:solidFill>
              <a:srgbClr val="C9D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48840"/>
            <a:ext cx="1051560" cy="566928"/>
          </a:xfrm>
          <a:prstGeom prst="rect">
            <a:avLst/>
          </a:prstGeom>
          <a:noFill/>
        </p:spPr>
        <p:txBody>
          <a:bodyPr wrap="square" lIns="36576" rIns="36576" tIns="36576" bIns="36576" anchor="ctr">
            <a:noAutofit/>
          </a:bodyPr>
          <a:lstStyle/>
          <a:p>
            <a:pPr algn="ctr"/>
            <a:r>
              <a:rPr sz="1300" b="0" i="0">
                <a:solidFill>
                  <a:srgbClr val="233142"/>
                </a:solidFill>
                <a:latin typeface="Aptos"/>
                <a:ea typeface="Aptos"/>
                <a:cs typeface="Aptos"/>
              </a:rPr>
              <a:t>Arrival</a:t>
            </a:r>
          </a:p>
        </p:txBody>
      </p:sp>
      <p:cxnSp>
        <p:nvCxnSpPr>
          <p:cNvPr id="10" name="Connector 9"/>
          <p:cNvCxnSpPr/>
          <p:nvPr/>
        </p:nvCxnSpPr>
        <p:spPr>
          <a:xfrm>
            <a:off x="2103120" y="2432304"/>
            <a:ext cx="365760" cy="0"/>
          </a:xfrm>
          <a:prstGeom prst="line">
            <a:avLst/>
          </a:prstGeom>
          <a:ln w="22225">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Diamond 10"/>
          <p:cNvSpPr/>
          <p:nvPr/>
        </p:nvSpPr>
        <p:spPr>
          <a:xfrm>
            <a:off x="2514600" y="1828800"/>
            <a:ext cx="1417320" cy="1207008"/>
          </a:xfrm>
          <a:prstGeom prst="diamond">
            <a:avLst/>
          </a:prstGeom>
          <a:solidFill>
            <a:srgbClr val="FFF7EC"/>
          </a:solidFill>
          <a:ln w="12700">
            <a:solidFill>
              <a:srgbClr val="D982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2103120"/>
            <a:ext cx="1325880" cy="658368"/>
          </a:xfrm>
          <a:prstGeom prst="rect">
            <a:avLst/>
          </a:prstGeom>
          <a:noFill/>
        </p:spPr>
        <p:txBody>
          <a:bodyPr wrap="square" lIns="36576" rIns="36576" tIns="36576" bIns="36576" anchor="ctr">
            <a:noAutofit/>
          </a:bodyPr>
          <a:lstStyle/>
          <a:p>
            <a:pPr algn="ctr"/>
            <a:r>
              <a:rPr sz="1200" b="1" i="0">
                <a:solidFill>
                  <a:srgbClr val="233142"/>
                </a:solidFill>
                <a:latin typeface="Aptos"/>
                <a:ea typeface="Aptos"/>
                <a:cs typeface="Aptos"/>
              </a:rPr>
              <a:t>Confidence</a:t>
            </a:r>
          </a:p>
          <a:p>
            <a:pPr algn="ctr"/>
            <a:r>
              <a:rPr sz="1200" b="1" i="0">
                <a:solidFill>
                  <a:srgbClr val="233142"/>
                </a:solidFill>
                <a:latin typeface="Aptos"/>
                <a:ea typeface="Aptos"/>
                <a:cs typeface="Aptos"/>
              </a:rPr>
              <a:t>≥ τ ?</a:t>
            </a:r>
          </a:p>
        </p:txBody>
      </p:sp>
      <p:sp>
        <p:nvSpPr>
          <p:cNvPr id="13" name="Rounded Rectangle 12"/>
          <p:cNvSpPr/>
          <p:nvPr/>
        </p:nvSpPr>
        <p:spPr>
          <a:xfrm>
            <a:off x="4389120" y="1664208"/>
            <a:ext cx="1417320" cy="566928"/>
          </a:xfrm>
          <a:prstGeom prst="roundRect">
            <a:avLst>
              <a:gd name="adj" fmla="val 16670"/>
            </a:avLst>
          </a:prstGeom>
          <a:solidFill>
            <a:srgbClr val="FFFFFF"/>
          </a:solidFill>
          <a:ln w="10160">
            <a:solidFill>
              <a:srgbClr val="C9D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1664208"/>
            <a:ext cx="1325880" cy="566928"/>
          </a:xfrm>
          <a:prstGeom prst="rect">
            <a:avLst/>
          </a:prstGeom>
          <a:noFill/>
        </p:spPr>
        <p:txBody>
          <a:bodyPr wrap="square" lIns="36576" rIns="36576" tIns="36576" bIns="36576" anchor="ctr">
            <a:noAutofit/>
          </a:bodyPr>
          <a:lstStyle/>
          <a:p>
            <a:pPr algn="ctr"/>
            <a:r>
              <a:rPr sz="1200" b="0" i="0">
                <a:solidFill>
                  <a:srgbClr val="233142"/>
                </a:solidFill>
                <a:latin typeface="Aptos"/>
                <a:ea typeface="Aptos"/>
                <a:cs typeface="Aptos"/>
              </a:rPr>
              <a:t>LAVA scoring</a:t>
            </a:r>
          </a:p>
        </p:txBody>
      </p:sp>
      <p:sp>
        <p:nvSpPr>
          <p:cNvPr id="15" name="Rounded Rectangle 14"/>
          <p:cNvSpPr/>
          <p:nvPr/>
        </p:nvSpPr>
        <p:spPr>
          <a:xfrm>
            <a:off x="4389120" y="2633472"/>
            <a:ext cx="1417320" cy="566928"/>
          </a:xfrm>
          <a:prstGeom prst="roundRect">
            <a:avLst>
              <a:gd name="adj" fmla="val 16670"/>
            </a:avLst>
          </a:prstGeom>
          <a:solidFill>
            <a:srgbClr val="FFFFFF"/>
          </a:solidFill>
          <a:ln w="10160">
            <a:solidFill>
              <a:srgbClr val="C9D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2633472"/>
            <a:ext cx="1325880" cy="566928"/>
          </a:xfrm>
          <a:prstGeom prst="rect">
            <a:avLst/>
          </a:prstGeom>
          <a:noFill/>
        </p:spPr>
        <p:txBody>
          <a:bodyPr wrap="square" lIns="36576" rIns="36576" tIns="36576" bIns="36576" anchor="ctr">
            <a:noAutofit/>
          </a:bodyPr>
          <a:lstStyle/>
          <a:p>
            <a:pPr algn="ctr"/>
            <a:r>
              <a:rPr sz="1200" b="0" i="0">
                <a:solidFill>
                  <a:srgbClr val="233142"/>
                </a:solidFill>
                <a:latin typeface="Aptos"/>
                <a:ea typeface="Aptos"/>
                <a:cs typeface="Aptos"/>
              </a:rPr>
              <a:t>Best-Fit scoring</a:t>
            </a:r>
          </a:p>
        </p:txBody>
      </p:sp>
      <p:cxnSp>
        <p:nvCxnSpPr>
          <p:cNvPr id="17" name="Connector 16"/>
          <p:cNvCxnSpPr/>
          <p:nvPr/>
        </p:nvCxnSpPr>
        <p:spPr>
          <a:xfrm flipV="1">
            <a:off x="3931920" y="1947672"/>
            <a:ext cx="411480" cy="338328"/>
          </a:xfrm>
          <a:prstGeom prst="line">
            <a:avLst/>
          </a:prstGeom>
          <a:ln w="22225">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931920" y="2578608"/>
            <a:ext cx="411480" cy="338328"/>
          </a:xfrm>
          <a:prstGeom prst="line">
            <a:avLst/>
          </a:prstGeom>
          <a:ln w="22225">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886200" y="1700784"/>
            <a:ext cx="548640" cy="274320"/>
          </a:xfrm>
          <a:prstGeom prst="rect">
            <a:avLst/>
          </a:prstGeom>
          <a:noFill/>
        </p:spPr>
        <p:txBody>
          <a:bodyPr wrap="square" lIns="36576" rIns="36576" tIns="36576" bIns="36576" anchor="t">
            <a:noAutofit/>
          </a:bodyPr>
          <a:lstStyle/>
          <a:p>
            <a:pPr algn="ctr"/>
            <a:r>
              <a:rPr sz="1100" b="0" i="0">
                <a:solidFill>
                  <a:srgbClr val="5A6573"/>
                </a:solidFill>
                <a:latin typeface="Aptos"/>
                <a:ea typeface="Aptos"/>
                <a:cs typeface="Aptos"/>
              </a:rPr>
              <a:t>yes</a:t>
            </a:r>
          </a:p>
        </p:txBody>
      </p:sp>
      <p:sp>
        <p:nvSpPr>
          <p:cNvPr id="20" name="TextBox 19"/>
          <p:cNvSpPr txBox="1"/>
          <p:nvPr/>
        </p:nvSpPr>
        <p:spPr>
          <a:xfrm>
            <a:off x="3886200" y="2926080"/>
            <a:ext cx="548640" cy="274320"/>
          </a:xfrm>
          <a:prstGeom prst="rect">
            <a:avLst/>
          </a:prstGeom>
          <a:noFill/>
        </p:spPr>
        <p:txBody>
          <a:bodyPr wrap="square" lIns="36576" rIns="36576" tIns="36576" bIns="36576" anchor="t">
            <a:noAutofit/>
          </a:bodyPr>
          <a:lstStyle/>
          <a:p>
            <a:pPr algn="ctr"/>
            <a:r>
              <a:rPr sz="1100" b="0" i="0">
                <a:solidFill>
                  <a:srgbClr val="5A6573"/>
                </a:solidFill>
                <a:latin typeface="Aptos"/>
                <a:ea typeface="Aptos"/>
                <a:cs typeface="Aptos"/>
              </a:rPr>
              <a:t>no</a:t>
            </a:r>
          </a:p>
        </p:txBody>
      </p:sp>
      <p:sp>
        <p:nvSpPr>
          <p:cNvPr id="21" name="TextBox 20"/>
          <p:cNvSpPr txBox="1"/>
          <p:nvPr/>
        </p:nvSpPr>
        <p:spPr>
          <a:xfrm>
            <a:off x="914400" y="3383280"/>
            <a:ext cx="4846320" cy="822960"/>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Both decisions land on one shared set of hosts: modes mix on a host.</a:t>
            </a:r>
          </a:p>
        </p:txBody>
      </p:sp>
      <p:sp>
        <p:nvSpPr>
          <p:cNvPr id="22" name="Rounded Rectangle 21"/>
          <p:cNvSpPr/>
          <p:nvPr/>
        </p:nvSpPr>
        <p:spPr>
          <a:xfrm>
            <a:off x="6199632" y="1097280"/>
            <a:ext cx="5303520" cy="3246120"/>
          </a:xfrm>
          <a:prstGeom prst="roundRect">
            <a:avLst>
              <a:gd name="adj" fmla="val 4507"/>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82512" y="1170432"/>
            <a:ext cx="4937760" cy="365760"/>
          </a:xfrm>
          <a:prstGeom prst="rect">
            <a:avLst/>
          </a:prstGeom>
          <a:noFill/>
        </p:spPr>
        <p:txBody>
          <a:bodyPr wrap="square" lIns="36576" rIns="36576" tIns="36576" bIns="36576" anchor="t">
            <a:noAutofit/>
          </a:bodyPr>
          <a:lstStyle/>
          <a:p>
            <a:pPr algn="l"/>
            <a:r>
              <a:rPr sz="1700" b="1" i="0">
                <a:solidFill>
                  <a:srgbClr val="B64A4A"/>
                </a:solidFill>
                <a:latin typeface="Aptos"/>
                <a:ea typeface="Aptos"/>
                <a:cs typeface="Aptos"/>
              </a:rPr>
              <a:t>Host-Level CA</a:t>
            </a:r>
          </a:p>
        </p:txBody>
      </p:sp>
      <p:sp>
        <p:nvSpPr>
          <p:cNvPr id="24" name="Rounded Rectangle 23"/>
          <p:cNvSpPr/>
          <p:nvPr/>
        </p:nvSpPr>
        <p:spPr>
          <a:xfrm>
            <a:off x="6428232" y="2148840"/>
            <a:ext cx="1143000" cy="566928"/>
          </a:xfrm>
          <a:prstGeom prst="roundRect">
            <a:avLst>
              <a:gd name="adj" fmla="val 16670"/>
            </a:avLst>
          </a:prstGeom>
          <a:solidFill>
            <a:srgbClr val="FFFFFF"/>
          </a:solidFill>
          <a:ln w="10160">
            <a:solidFill>
              <a:srgbClr val="C9D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3952" y="2148840"/>
            <a:ext cx="1051560" cy="566928"/>
          </a:xfrm>
          <a:prstGeom prst="rect">
            <a:avLst/>
          </a:prstGeom>
          <a:noFill/>
        </p:spPr>
        <p:txBody>
          <a:bodyPr wrap="square" lIns="36576" rIns="36576" tIns="36576" bIns="36576" anchor="ctr">
            <a:noAutofit/>
          </a:bodyPr>
          <a:lstStyle/>
          <a:p>
            <a:pPr algn="ctr"/>
            <a:r>
              <a:rPr sz="1300" b="0" i="0">
                <a:solidFill>
                  <a:srgbClr val="233142"/>
                </a:solidFill>
                <a:latin typeface="Aptos"/>
                <a:ea typeface="Aptos"/>
                <a:cs typeface="Aptos"/>
              </a:rPr>
              <a:t>Arrival</a:t>
            </a:r>
          </a:p>
        </p:txBody>
      </p:sp>
      <p:cxnSp>
        <p:nvCxnSpPr>
          <p:cNvPr id="26" name="Connector 25"/>
          <p:cNvCxnSpPr/>
          <p:nvPr/>
        </p:nvCxnSpPr>
        <p:spPr>
          <a:xfrm>
            <a:off x="7616952" y="2432304"/>
            <a:ext cx="365760" cy="0"/>
          </a:xfrm>
          <a:prstGeom prst="line">
            <a:avLst/>
          </a:prstGeom>
          <a:ln w="22225">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Diamond 26"/>
          <p:cNvSpPr/>
          <p:nvPr/>
        </p:nvSpPr>
        <p:spPr>
          <a:xfrm>
            <a:off x="8028432" y="1828800"/>
            <a:ext cx="1417320" cy="1207008"/>
          </a:xfrm>
          <a:prstGeom prst="diamond">
            <a:avLst/>
          </a:prstGeom>
          <a:solidFill>
            <a:srgbClr val="FFF7EC"/>
          </a:solidFill>
          <a:ln w="12700">
            <a:solidFill>
              <a:srgbClr val="D982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74152" y="2103120"/>
            <a:ext cx="1325880" cy="658368"/>
          </a:xfrm>
          <a:prstGeom prst="rect">
            <a:avLst/>
          </a:prstGeom>
          <a:noFill/>
        </p:spPr>
        <p:txBody>
          <a:bodyPr wrap="square" lIns="36576" rIns="36576" tIns="36576" bIns="36576" anchor="ctr">
            <a:noAutofit/>
          </a:bodyPr>
          <a:lstStyle/>
          <a:p>
            <a:pPr algn="ctr"/>
            <a:r>
              <a:rPr sz="1200" b="1" i="0">
                <a:solidFill>
                  <a:srgbClr val="233142"/>
                </a:solidFill>
                <a:latin typeface="Aptos"/>
                <a:ea typeface="Aptos"/>
                <a:cs typeface="Aptos"/>
              </a:rPr>
              <a:t>Confidence</a:t>
            </a:r>
          </a:p>
          <a:p>
            <a:pPr algn="ctr"/>
            <a:r>
              <a:rPr sz="1200" b="1" i="0">
                <a:solidFill>
                  <a:srgbClr val="233142"/>
                </a:solidFill>
                <a:latin typeface="Aptos"/>
                <a:ea typeface="Aptos"/>
                <a:cs typeface="Aptos"/>
              </a:rPr>
              <a:t>≥ τ ?</a:t>
            </a:r>
          </a:p>
        </p:txBody>
      </p:sp>
      <p:sp>
        <p:nvSpPr>
          <p:cNvPr id="29" name="Rounded Rectangle 28"/>
          <p:cNvSpPr/>
          <p:nvPr/>
        </p:nvSpPr>
        <p:spPr>
          <a:xfrm>
            <a:off x="9902952" y="1664208"/>
            <a:ext cx="1417320" cy="566928"/>
          </a:xfrm>
          <a:prstGeom prst="roundRect">
            <a:avLst>
              <a:gd name="adj" fmla="val 16670"/>
            </a:avLst>
          </a:prstGeom>
          <a:solidFill>
            <a:srgbClr val="FFFFFF"/>
          </a:solidFill>
          <a:ln w="10160">
            <a:solidFill>
              <a:srgbClr val="C9D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48672" y="1664208"/>
            <a:ext cx="1325880" cy="566928"/>
          </a:xfrm>
          <a:prstGeom prst="rect">
            <a:avLst/>
          </a:prstGeom>
          <a:noFill/>
        </p:spPr>
        <p:txBody>
          <a:bodyPr wrap="square" lIns="36576" rIns="36576" tIns="36576" bIns="36576" anchor="ctr">
            <a:noAutofit/>
          </a:bodyPr>
          <a:lstStyle/>
          <a:p>
            <a:pPr algn="ctr"/>
            <a:r>
              <a:rPr sz="1200" b="0" i="0">
                <a:solidFill>
                  <a:srgbClr val="233142"/>
                </a:solidFill>
                <a:latin typeface="Aptos"/>
                <a:ea typeface="Aptos"/>
                <a:cs typeface="Aptos"/>
              </a:rPr>
              <a:t>LAVA-mode hosts only</a:t>
            </a:r>
          </a:p>
        </p:txBody>
      </p:sp>
      <p:sp>
        <p:nvSpPr>
          <p:cNvPr id="31" name="Rounded Rectangle 30"/>
          <p:cNvSpPr/>
          <p:nvPr/>
        </p:nvSpPr>
        <p:spPr>
          <a:xfrm>
            <a:off x="9902952" y="2633472"/>
            <a:ext cx="1417320" cy="566928"/>
          </a:xfrm>
          <a:prstGeom prst="roundRect">
            <a:avLst>
              <a:gd name="adj" fmla="val 16670"/>
            </a:avLst>
          </a:prstGeom>
          <a:solidFill>
            <a:srgbClr val="FFFFFF"/>
          </a:solidFill>
          <a:ln w="10160">
            <a:solidFill>
              <a:srgbClr val="C9D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948672" y="2633472"/>
            <a:ext cx="1325880" cy="566928"/>
          </a:xfrm>
          <a:prstGeom prst="rect">
            <a:avLst/>
          </a:prstGeom>
          <a:noFill/>
        </p:spPr>
        <p:txBody>
          <a:bodyPr wrap="square" lIns="36576" rIns="36576" tIns="36576" bIns="36576" anchor="ctr">
            <a:noAutofit/>
          </a:bodyPr>
          <a:lstStyle/>
          <a:p>
            <a:pPr algn="ctr"/>
            <a:r>
              <a:rPr sz="1200" b="0" i="0">
                <a:solidFill>
                  <a:srgbClr val="233142"/>
                </a:solidFill>
                <a:latin typeface="Aptos"/>
                <a:ea typeface="Aptos"/>
                <a:cs typeface="Aptos"/>
              </a:rPr>
              <a:t>Best-Fit-mode hosts only</a:t>
            </a:r>
          </a:p>
        </p:txBody>
      </p:sp>
      <p:cxnSp>
        <p:nvCxnSpPr>
          <p:cNvPr id="33" name="Connector 32"/>
          <p:cNvCxnSpPr/>
          <p:nvPr/>
        </p:nvCxnSpPr>
        <p:spPr>
          <a:xfrm flipV="1">
            <a:off x="9445752" y="1947672"/>
            <a:ext cx="411480" cy="338328"/>
          </a:xfrm>
          <a:prstGeom prst="line">
            <a:avLst/>
          </a:prstGeom>
          <a:ln w="22225">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445752" y="2578608"/>
            <a:ext cx="411480" cy="338328"/>
          </a:xfrm>
          <a:prstGeom prst="line">
            <a:avLst/>
          </a:prstGeom>
          <a:ln w="22225">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400032" y="1700784"/>
            <a:ext cx="548640" cy="274320"/>
          </a:xfrm>
          <a:prstGeom prst="rect">
            <a:avLst/>
          </a:prstGeom>
          <a:noFill/>
        </p:spPr>
        <p:txBody>
          <a:bodyPr wrap="square" lIns="36576" rIns="36576" tIns="36576" bIns="36576" anchor="t">
            <a:noAutofit/>
          </a:bodyPr>
          <a:lstStyle/>
          <a:p>
            <a:pPr algn="ctr"/>
            <a:r>
              <a:rPr sz="1100" b="0" i="0">
                <a:solidFill>
                  <a:srgbClr val="5A6573"/>
                </a:solidFill>
                <a:latin typeface="Aptos"/>
                <a:ea typeface="Aptos"/>
                <a:cs typeface="Aptos"/>
              </a:rPr>
              <a:t>yes</a:t>
            </a:r>
          </a:p>
        </p:txBody>
      </p:sp>
      <p:sp>
        <p:nvSpPr>
          <p:cNvPr id="36" name="TextBox 35"/>
          <p:cNvSpPr txBox="1"/>
          <p:nvPr/>
        </p:nvSpPr>
        <p:spPr>
          <a:xfrm>
            <a:off x="9400032" y="2926080"/>
            <a:ext cx="548640" cy="274320"/>
          </a:xfrm>
          <a:prstGeom prst="rect">
            <a:avLst/>
          </a:prstGeom>
          <a:noFill/>
        </p:spPr>
        <p:txBody>
          <a:bodyPr wrap="square" lIns="36576" rIns="36576" tIns="36576" bIns="36576" anchor="t">
            <a:noAutofit/>
          </a:bodyPr>
          <a:lstStyle/>
          <a:p>
            <a:pPr algn="ctr"/>
            <a:r>
              <a:rPr sz="1100" b="0" i="0">
                <a:solidFill>
                  <a:srgbClr val="5A6573"/>
                </a:solidFill>
                <a:latin typeface="Aptos"/>
                <a:ea typeface="Aptos"/>
                <a:cs typeface="Aptos"/>
              </a:rPr>
              <a:t>no</a:t>
            </a:r>
          </a:p>
        </p:txBody>
      </p:sp>
      <p:sp>
        <p:nvSpPr>
          <p:cNvPr id="37" name="TextBox 36"/>
          <p:cNvSpPr txBox="1"/>
          <p:nvPr/>
        </p:nvSpPr>
        <p:spPr>
          <a:xfrm>
            <a:off x="6428232" y="3383280"/>
            <a:ext cx="4846320" cy="822960"/>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A host keeps its first mode until empty; cross-mode only if nothing else fits.</a:t>
            </a:r>
          </a:p>
        </p:txBody>
      </p:sp>
      <p:sp>
        <p:nvSpPr>
          <p:cNvPr id="38" name="TextBox 37"/>
          <p:cNvSpPr txBox="1"/>
          <p:nvPr/>
        </p:nvSpPr>
        <p:spPr>
          <a:xfrm>
            <a:off x="685800" y="4526280"/>
            <a:ext cx="3474720" cy="566928"/>
          </a:xfrm>
          <a:prstGeom prst="rect">
            <a:avLst/>
          </a:prstGeom>
          <a:noFill/>
        </p:spPr>
        <p:txBody>
          <a:bodyPr wrap="square" lIns="36576" rIns="36576" tIns="36576" bIns="36576" anchor="t">
            <a:noAutofit/>
          </a:bodyPr>
          <a:lstStyle/>
          <a:p>
            <a:pPr algn="ctr"/>
            <a:r>
              <a:rPr sz="2600" b="1" i="0">
                <a:solidFill>
                  <a:srgbClr val="B64A4A"/>
                </a:solidFill>
                <a:latin typeface="Aptos"/>
                <a:ea typeface="Aptos"/>
                <a:cs typeface="Aptos"/>
              </a:rPr>
              <a:t>608 + 319 → 0</a:t>
            </a:r>
          </a:p>
        </p:txBody>
      </p:sp>
      <p:sp>
        <p:nvSpPr>
          <p:cNvPr id="39" name="TextBox 38"/>
          <p:cNvSpPr txBox="1"/>
          <p:nvPr/>
        </p:nvSpPr>
        <p:spPr>
          <a:xfrm>
            <a:off x="685800" y="5129784"/>
            <a:ext cx="3474720" cy="457200"/>
          </a:xfrm>
          <a:prstGeom prst="rect">
            <a:avLst/>
          </a:prstGeom>
          <a:noFill/>
        </p:spPr>
        <p:txBody>
          <a:bodyPr wrap="square" lIns="36576" rIns="36576" tIns="36576" bIns="36576" anchor="t">
            <a:noAutofit/>
          </a:bodyPr>
          <a:lstStyle/>
          <a:p>
            <a:pPr algn="ctr"/>
            <a:r>
              <a:rPr sz="1200" b="0" i="0">
                <a:solidFill>
                  <a:srgbClr val="5A6573"/>
                </a:solidFill>
                <a:latin typeface="Aptos"/>
                <a:ea typeface="Aptos"/>
                <a:cs typeface="Aptos"/>
              </a:rPr>
              <a:t>cross-mode placements per trace,</a:t>
            </a:r>
          </a:p>
          <a:p>
            <a:pPr algn="ctr"/>
            <a:r>
              <a:rPr sz="1200" b="0" i="0">
                <a:solidFill>
                  <a:srgbClr val="5A6573"/>
                </a:solidFill>
                <a:latin typeface="Aptos"/>
                <a:ea typeface="Aptos"/>
                <a:cs typeface="Aptos"/>
              </a:rPr>
              <a:t>VM-CA → Host-CA</a:t>
            </a:r>
          </a:p>
        </p:txBody>
      </p:sp>
      <p:sp>
        <p:nvSpPr>
          <p:cNvPr id="40" name="TextBox 39"/>
          <p:cNvSpPr txBox="1"/>
          <p:nvPr/>
        </p:nvSpPr>
        <p:spPr>
          <a:xfrm>
            <a:off x="4343400" y="4526280"/>
            <a:ext cx="3474720" cy="566928"/>
          </a:xfrm>
          <a:prstGeom prst="rect">
            <a:avLst/>
          </a:prstGeom>
          <a:noFill/>
        </p:spPr>
        <p:txBody>
          <a:bodyPr wrap="square" lIns="36576" rIns="36576" tIns="36576" bIns="36576" anchor="t">
            <a:noAutofit/>
          </a:bodyPr>
          <a:lstStyle/>
          <a:p>
            <a:pPr algn="ctr"/>
            <a:r>
              <a:rPr sz="2600" b="1" i="0">
                <a:solidFill>
                  <a:srgbClr val="2F5D8A"/>
                </a:solidFill>
                <a:latin typeface="Aptos"/>
                <a:ea typeface="Aptos"/>
                <a:cs typeface="Aptos"/>
              </a:rPr>
              <a:t>20%</a:t>
            </a:r>
          </a:p>
        </p:txBody>
      </p:sp>
      <p:sp>
        <p:nvSpPr>
          <p:cNvPr id="41" name="TextBox 40"/>
          <p:cNvSpPr txBox="1"/>
          <p:nvPr/>
        </p:nvSpPr>
        <p:spPr>
          <a:xfrm>
            <a:off x="4343400" y="5129784"/>
            <a:ext cx="3474720" cy="457200"/>
          </a:xfrm>
          <a:prstGeom prst="rect">
            <a:avLst/>
          </a:prstGeom>
          <a:noFill/>
        </p:spPr>
        <p:txBody>
          <a:bodyPr wrap="square" lIns="36576" rIns="36576" tIns="36576" bIns="36576" anchor="t">
            <a:noAutofit/>
          </a:bodyPr>
          <a:lstStyle/>
          <a:p>
            <a:pPr algn="ctr"/>
            <a:r>
              <a:rPr sz="1200" b="0" i="0">
                <a:solidFill>
                  <a:srgbClr val="5A6573"/>
                </a:solidFill>
                <a:latin typeface="Aptos"/>
                <a:ea typeface="Aptos"/>
                <a:cs typeface="Aptos"/>
              </a:rPr>
              <a:t>of arrivals pass the gate,</a:t>
            </a:r>
          </a:p>
          <a:p>
            <a:pPr algn="ctr"/>
            <a:r>
              <a:rPr sz="1200" b="0" i="0">
                <a:solidFill>
                  <a:srgbClr val="5A6573"/>
                </a:solidFill>
                <a:latin typeface="Aptos"/>
                <a:ea typeface="Aptos"/>
                <a:cs typeface="Aptos"/>
              </a:rPr>
              <a:t>identical in both variants</a:t>
            </a:r>
          </a:p>
        </p:txBody>
      </p:sp>
      <p:sp>
        <p:nvSpPr>
          <p:cNvPr id="42" name="TextBox 41"/>
          <p:cNvSpPr txBox="1"/>
          <p:nvPr/>
        </p:nvSpPr>
        <p:spPr>
          <a:xfrm>
            <a:off x="8001000" y="4526280"/>
            <a:ext cx="3474720" cy="566928"/>
          </a:xfrm>
          <a:prstGeom prst="rect">
            <a:avLst/>
          </a:prstGeom>
          <a:noFill/>
        </p:spPr>
        <p:txBody>
          <a:bodyPr wrap="square" lIns="36576" rIns="36576" tIns="36576" bIns="36576" anchor="t">
            <a:noAutofit/>
          </a:bodyPr>
          <a:lstStyle/>
          <a:p>
            <a:pPr algn="ctr"/>
            <a:r>
              <a:rPr sz="2600" b="1" i="0">
                <a:solidFill>
                  <a:srgbClr val="3E7C59"/>
                </a:solidFill>
                <a:latin typeface="Aptos"/>
                <a:ea typeface="Aptos"/>
                <a:cs typeface="Aptos"/>
              </a:rPr>
              <a:t>0</a:t>
            </a:r>
          </a:p>
        </p:txBody>
      </p:sp>
      <p:sp>
        <p:nvSpPr>
          <p:cNvPr id="43" name="TextBox 42"/>
          <p:cNvSpPr txBox="1"/>
          <p:nvPr/>
        </p:nvSpPr>
        <p:spPr>
          <a:xfrm>
            <a:off x="8001000" y="5129784"/>
            <a:ext cx="3474720" cy="457200"/>
          </a:xfrm>
          <a:prstGeom prst="rect">
            <a:avLst/>
          </a:prstGeom>
          <a:noFill/>
        </p:spPr>
        <p:txBody>
          <a:bodyPr wrap="square" lIns="36576" rIns="36576" tIns="36576" bIns="36576" anchor="t">
            <a:noAutofit/>
          </a:bodyPr>
          <a:lstStyle/>
          <a:p>
            <a:pPr algn="ctr"/>
            <a:r>
              <a:rPr sz="1200" b="0" i="0">
                <a:solidFill>
                  <a:srgbClr val="5A6573"/>
                </a:solidFill>
                <a:latin typeface="Aptos"/>
                <a:ea typeface="Aptos"/>
                <a:cs typeface="Aptos"/>
              </a:rPr>
              <a:t>capacity fallbacks in any run</a:t>
            </a:r>
          </a:p>
        </p:txBody>
      </p:sp>
      <p:sp>
        <p:nvSpPr>
          <p:cNvPr id="44" name="TextBox 43"/>
          <p:cNvSpPr txBox="1"/>
          <p:nvPr/>
        </p:nvSpPr>
        <p:spPr>
          <a:xfrm>
            <a:off x="685800" y="5852160"/>
            <a:ext cx="10835640" cy="292608"/>
          </a:xfrm>
          <a:prstGeom prst="rect">
            <a:avLst/>
          </a:prstGeom>
          <a:noFill/>
        </p:spPr>
        <p:txBody>
          <a:bodyPr wrap="square" lIns="36576" rIns="36576" tIns="36576" bIns="36576" anchor="t">
            <a:noAutofit/>
          </a:bodyPr>
          <a:lstStyle/>
          <a:p>
            <a:pPr algn="ctr"/>
            <a:r>
              <a:rPr sz="1200" b="1" i="0">
                <a:solidFill>
                  <a:srgbClr val="5A6573"/>
                </a:solidFill>
                <a:latin typeface="Aptos"/>
                <a:ea typeface="Aptos"/>
                <a:cs typeface="Aptos"/>
              </a:rPr>
              <a:t>Mechanism check on held-out seeds 20–39, default predictor: isolation does exactly what it was designed to do.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502920" y="320040"/>
            <a:ext cx="502920" cy="256032"/>
          </a:xfrm>
          <a:prstGeom prst="rect">
            <a:avLst/>
          </a:prstGeom>
          <a:noFill/>
        </p:spPr>
        <p:txBody>
          <a:bodyPr wrap="square" lIns="36576" rIns="36576" tIns="36576" bIns="36576" anchor="ctr">
            <a:noAutofit/>
          </a:bodyPr>
          <a:lstStyle/>
          <a:p>
            <a:pPr algn="ctr"/>
            <a:r>
              <a:rPr sz="1200" b="1" i="0">
                <a:solidFill>
                  <a:srgbClr val="A85A14"/>
                </a:solidFill>
                <a:latin typeface="Aptos"/>
                <a:ea typeface="Aptos"/>
                <a:cs typeface="Aptos"/>
              </a:rPr>
              <a:t>11</a:t>
            </a:r>
          </a:p>
        </p:txBody>
      </p:sp>
      <p:sp>
        <p:nvSpPr>
          <p:cNvPr id="3" name="TextBox 2"/>
          <p:cNvSpPr txBox="1"/>
          <p:nvPr/>
        </p:nvSpPr>
        <p:spPr>
          <a:xfrm>
            <a:off x="1005840" y="256032"/>
            <a:ext cx="10561320" cy="466344"/>
          </a:xfrm>
          <a:prstGeom prst="rect">
            <a:avLst/>
          </a:prstGeom>
          <a:noFill/>
        </p:spPr>
        <p:txBody>
          <a:bodyPr wrap="square" lIns="36576" rIns="36576" tIns="36576" bIns="36576" anchor="t">
            <a:noAutofit/>
          </a:bodyPr>
          <a:lstStyle/>
          <a:p>
            <a:pPr algn="l"/>
            <a:r>
              <a:rPr sz="2400" b="1" i="0">
                <a:solidFill>
                  <a:srgbClr val="233142"/>
                </a:solidFill>
                <a:latin typeface="Aptos"/>
                <a:ea typeface="Aptos"/>
                <a:cs typeface="Aptos"/>
              </a:rPr>
              <a:t>Diagnostic negative result: routing does not beat Best-Fit</a:t>
            </a:r>
          </a:p>
        </p:txBody>
      </p:sp>
      <p:sp>
        <p:nvSpPr>
          <p:cNvPr id="4" name="TextBox 3"/>
          <p:cNvSpPr txBox="1"/>
          <p:nvPr/>
        </p:nvSpPr>
        <p:spPr>
          <a:xfrm>
            <a:off x="594360" y="6528816"/>
            <a:ext cx="6190488" cy="192024"/>
          </a:xfrm>
          <a:prstGeom prst="rect">
            <a:avLst/>
          </a:prstGeom>
          <a:noFill/>
        </p:spPr>
        <p:txBody>
          <a:bodyPr wrap="square" lIns="36576" rIns="36576" tIns="36576" bIns="36576" anchor="t">
            <a:noAutofit/>
          </a:bodyPr>
          <a:lstStyle/>
          <a:p>
            <a:pPr algn="l"/>
            <a:r>
              <a:rPr sz="800" b="0" i="0">
                <a:solidFill>
                  <a:srgbClr val="6B7785"/>
                </a:solidFill>
                <a:latin typeface="Aptos"/>
                <a:ea typeface="Aptos"/>
                <a:cs typeface="Aptos"/>
              </a:rPr>
              <a:t>Independent reconstruction   29 October 2026</a:t>
            </a:r>
          </a:p>
        </p:txBody>
      </p:sp>
      <p:sp>
        <p:nvSpPr>
          <p:cNvPr id="5" name="TextBox 4"/>
          <p:cNvSpPr txBox="1"/>
          <p:nvPr/>
        </p:nvSpPr>
        <p:spPr>
          <a:xfrm>
            <a:off x="11109960" y="6510528"/>
            <a:ext cx="457200" cy="192024"/>
          </a:xfrm>
          <a:prstGeom prst="rect">
            <a:avLst/>
          </a:prstGeom>
          <a:noFill/>
        </p:spPr>
        <p:txBody>
          <a:bodyPr wrap="square" lIns="36576" rIns="36576" tIns="36576" bIns="36576" anchor="t">
            <a:noAutofit/>
          </a:bodyPr>
          <a:lstStyle/>
          <a:p>
            <a:pPr algn="r"/>
            <a:r>
              <a:rPr sz="800" b="0" i="0">
                <a:solidFill>
                  <a:srgbClr val="6B7785"/>
                </a:solidFill>
                <a:latin typeface="Aptos"/>
                <a:ea typeface="Aptos"/>
                <a:cs typeface="Aptos"/>
              </a:rPr>
              <a:t>11</a:t>
            </a:r>
          </a:p>
        </p:txBody>
      </p:sp>
      <p:graphicFrame>
        <p:nvGraphicFramePr>
          <p:cNvPr id="6" name="Chart 5"/>
          <p:cNvGraphicFramePr>
            <a:graphicFrameLocks noGrp="1"/>
          </p:cNvGraphicFramePr>
          <p:nvPr/>
        </p:nvGraphicFramePr>
        <p:xfrm>
          <a:off x="685800" y="1097280"/>
          <a:ext cx="6675120" cy="4434840"/>
        </p:xfrm>
        <a:graphic>
          <a:graphicData uri="http://schemas.openxmlformats.org/drawingml/2006/chart">
            <c:chart xmlns:c="http://schemas.openxmlformats.org/drawingml/2006/chart" r:id="rId3"/>
          </a:graphicData>
        </a:graphic>
      </p:graphicFrame>
      <p:sp>
        <p:nvSpPr>
          <p:cNvPr id="7" name="Rounded Rectangle 6"/>
          <p:cNvSpPr/>
          <p:nvPr/>
        </p:nvSpPr>
        <p:spPr>
          <a:xfrm>
            <a:off x="7589520" y="1143000"/>
            <a:ext cx="3913632" cy="1371600"/>
          </a:xfrm>
          <a:prstGeom prst="roundRect">
            <a:avLst>
              <a:gd name="adj" fmla="val 10666"/>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589520" y="1143000"/>
            <a:ext cx="64008" cy="1371600"/>
          </a:xfrm>
          <a:prstGeom prst="rect">
            <a:avLst/>
          </a:prstGeom>
          <a:solidFill>
            <a:srgbClr val="B6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0" y="1252728"/>
            <a:ext cx="3621024" cy="365760"/>
          </a:xfrm>
          <a:prstGeom prst="rect">
            <a:avLst/>
          </a:prstGeom>
          <a:noFill/>
        </p:spPr>
        <p:txBody>
          <a:bodyPr wrap="square" lIns="36576" rIns="36576" tIns="36576" bIns="36576" anchor="t">
            <a:noAutofit/>
          </a:bodyPr>
          <a:lstStyle/>
          <a:p>
            <a:pPr algn="l"/>
            <a:r>
              <a:rPr sz="1600" b="1" i="0">
                <a:solidFill>
                  <a:srgbClr val="B64A4A"/>
                </a:solidFill>
                <a:latin typeface="Aptos"/>
                <a:ea typeface="Aptos"/>
                <a:cs typeface="Aptos"/>
              </a:rPr>
              <a:t>Fresh seeds (n = 100)</a:t>
            </a:r>
          </a:p>
        </p:txBody>
      </p:sp>
      <p:sp>
        <p:nvSpPr>
          <p:cNvPr id="10" name="TextBox 9"/>
          <p:cNvSpPr txBox="1"/>
          <p:nvPr/>
        </p:nvSpPr>
        <p:spPr>
          <a:xfrm>
            <a:off x="7772400" y="1645920"/>
            <a:ext cx="3621024" cy="80467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Host-CA − Best-Fit: −0.090 [−0.147, −0.034] pp, significantly below zero.</a:t>
            </a:r>
          </a:p>
        </p:txBody>
      </p:sp>
      <p:sp>
        <p:nvSpPr>
          <p:cNvPr id="11" name="Rounded Rectangle 10"/>
          <p:cNvSpPr/>
          <p:nvPr/>
        </p:nvSpPr>
        <p:spPr>
          <a:xfrm>
            <a:off x="7589520" y="2697480"/>
            <a:ext cx="3913632" cy="1371600"/>
          </a:xfrm>
          <a:prstGeom prst="roundRect">
            <a:avLst>
              <a:gd name="adj" fmla="val 10666"/>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589520" y="2697480"/>
            <a:ext cx="64008" cy="1371600"/>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2807208"/>
            <a:ext cx="3621024" cy="365760"/>
          </a:xfrm>
          <a:prstGeom prst="rect">
            <a:avLst/>
          </a:prstGeom>
          <a:noFill/>
        </p:spPr>
        <p:txBody>
          <a:bodyPr wrap="square" lIns="36576" rIns="36576" tIns="36576" bIns="36576" anchor="t">
            <a:noAutofit/>
          </a:bodyPr>
          <a:lstStyle/>
          <a:p>
            <a:pPr algn="l"/>
            <a:r>
              <a:rPr sz="1600" b="1" i="0">
                <a:solidFill>
                  <a:srgbClr val="2F5D8A"/>
                </a:solidFill>
                <a:latin typeface="Aptos"/>
                <a:ea typeface="Aptos"/>
                <a:cs typeface="Aptos"/>
              </a:rPr>
              <a:t>Held-out seeds 20–39</a:t>
            </a:r>
          </a:p>
        </p:txBody>
      </p:sp>
      <p:sp>
        <p:nvSpPr>
          <p:cNvPr id="14" name="TextBox 13"/>
          <p:cNvSpPr txBox="1"/>
          <p:nvPr/>
        </p:nvSpPr>
        <p:spPr>
          <a:xfrm>
            <a:off x="7772400" y="3200400"/>
            <a:ext cx="3621024" cy="80467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Host-CA −0.045 vs Best-Fit, −0.158 vs VM-CA; VM-CA’s +0.114 did not replicate.</a:t>
            </a:r>
          </a:p>
        </p:txBody>
      </p:sp>
      <p:sp>
        <p:nvSpPr>
          <p:cNvPr id="15" name="Rounded Rectangle 14"/>
          <p:cNvSpPr/>
          <p:nvPr/>
        </p:nvSpPr>
        <p:spPr>
          <a:xfrm>
            <a:off x="7589520" y="4251960"/>
            <a:ext cx="3913632" cy="1280160"/>
          </a:xfrm>
          <a:prstGeom prst="roundRect">
            <a:avLst>
              <a:gd name="adj" fmla="val 11428"/>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589520" y="4251960"/>
            <a:ext cx="64008" cy="1280160"/>
          </a:xfrm>
          <a:prstGeom prst="rect">
            <a:avLst/>
          </a:prstGeom>
          <a:solidFill>
            <a:srgbClr val="D98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4361688"/>
            <a:ext cx="3621024" cy="365760"/>
          </a:xfrm>
          <a:prstGeom prst="rect">
            <a:avLst/>
          </a:prstGeom>
          <a:noFill/>
        </p:spPr>
        <p:txBody>
          <a:bodyPr wrap="square" lIns="36576" rIns="36576" tIns="36576" bIns="36576" anchor="t">
            <a:noAutofit/>
          </a:bodyPr>
          <a:lstStyle/>
          <a:p>
            <a:pPr algn="l"/>
            <a:r>
              <a:rPr sz="1600" b="1" i="0">
                <a:solidFill>
                  <a:srgbClr val="A85A14"/>
                </a:solidFill>
                <a:latin typeface="Aptos"/>
                <a:ea typeface="Aptos"/>
                <a:cs typeface="Aptos"/>
              </a:rPr>
              <a:t>Surviving report (historical)</a:t>
            </a:r>
          </a:p>
        </p:txBody>
      </p:sp>
      <p:sp>
        <p:nvSpPr>
          <p:cNvPr id="18" name="TextBox 17"/>
          <p:cNvSpPr txBox="1"/>
          <p:nvPr/>
        </p:nvSpPr>
        <p:spPr>
          <a:xfrm>
            <a:off x="7772400" y="4754880"/>
            <a:ext cx="3621024" cy="713231"/>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Reported Host-CA − Best-Fit: +0.241 [+0.125, +0.357] pp; not reproduced here.</a:t>
            </a:r>
          </a:p>
        </p:txBody>
      </p:sp>
      <p:sp>
        <p:nvSpPr>
          <p:cNvPr id="19" name="TextBox 18"/>
          <p:cNvSpPr txBox="1"/>
          <p:nvPr/>
        </p:nvSpPr>
        <p:spPr>
          <a:xfrm>
            <a:off x="685800" y="5779008"/>
            <a:ext cx="10835640" cy="292608"/>
          </a:xfrm>
          <a:prstGeom prst="rect">
            <a:avLst/>
          </a:prstGeom>
          <a:noFill/>
        </p:spPr>
        <p:txBody>
          <a:bodyPr wrap="square" lIns="36576" rIns="36576" tIns="36576" bIns="36576" anchor="t">
            <a:noAutofit/>
          </a:bodyPr>
          <a:lstStyle/>
          <a:p>
            <a:pPr algn="ctr"/>
            <a:r>
              <a:rPr sz="1200" b="1" i="0">
                <a:solidFill>
                  <a:srgbClr val="5A6573"/>
                </a:solidFill>
                <a:latin typeface="Aptos"/>
                <a:ea typeface="Aptos"/>
                <a:cs typeface="Aptos"/>
              </a:rPr>
              <a:t>Paired 95% intervals; threshold τ = 0.3 as in the report.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502920" y="320040"/>
            <a:ext cx="502920" cy="256032"/>
          </a:xfrm>
          <a:prstGeom prst="rect">
            <a:avLst/>
          </a:prstGeom>
          <a:noFill/>
        </p:spPr>
        <p:txBody>
          <a:bodyPr wrap="square" lIns="36576" rIns="36576" tIns="36576" bIns="36576" anchor="ctr">
            <a:noAutofit/>
          </a:bodyPr>
          <a:lstStyle/>
          <a:p>
            <a:pPr algn="ctr"/>
            <a:r>
              <a:rPr sz="1200" b="1" i="0">
                <a:solidFill>
                  <a:srgbClr val="A85A14"/>
                </a:solidFill>
                <a:latin typeface="Aptos"/>
                <a:ea typeface="Aptos"/>
                <a:cs typeface="Aptos"/>
              </a:rPr>
              <a:t>12</a:t>
            </a:r>
          </a:p>
        </p:txBody>
      </p:sp>
      <p:sp>
        <p:nvSpPr>
          <p:cNvPr id="3" name="TextBox 2"/>
          <p:cNvSpPr txBox="1"/>
          <p:nvPr/>
        </p:nvSpPr>
        <p:spPr>
          <a:xfrm>
            <a:off x="1005840" y="256032"/>
            <a:ext cx="10561320" cy="466344"/>
          </a:xfrm>
          <a:prstGeom prst="rect">
            <a:avLst/>
          </a:prstGeom>
          <a:noFill/>
        </p:spPr>
        <p:txBody>
          <a:bodyPr wrap="square" lIns="36576" rIns="36576" tIns="36576" bIns="36576" anchor="t">
            <a:noAutofit/>
          </a:bodyPr>
          <a:lstStyle/>
          <a:p>
            <a:pPr algn="l"/>
            <a:r>
              <a:rPr sz="2400" b="1" i="0">
                <a:solidFill>
                  <a:srgbClr val="233142"/>
                </a:solidFill>
                <a:latin typeface="Aptos"/>
                <a:ea typeface="Aptos"/>
                <a:cs typeface="Aptos"/>
              </a:rPr>
              <a:t>Why confidence routing does not help here</a:t>
            </a:r>
          </a:p>
        </p:txBody>
      </p:sp>
      <p:sp>
        <p:nvSpPr>
          <p:cNvPr id="4" name="TextBox 3"/>
          <p:cNvSpPr txBox="1"/>
          <p:nvPr/>
        </p:nvSpPr>
        <p:spPr>
          <a:xfrm>
            <a:off x="594360" y="6528816"/>
            <a:ext cx="6190488" cy="192024"/>
          </a:xfrm>
          <a:prstGeom prst="rect">
            <a:avLst/>
          </a:prstGeom>
          <a:noFill/>
        </p:spPr>
        <p:txBody>
          <a:bodyPr wrap="square" lIns="36576" rIns="36576" tIns="36576" bIns="36576" anchor="t">
            <a:noAutofit/>
          </a:bodyPr>
          <a:lstStyle/>
          <a:p>
            <a:pPr algn="l"/>
            <a:r>
              <a:rPr sz="800" b="0" i="0">
                <a:solidFill>
                  <a:srgbClr val="6B7785"/>
                </a:solidFill>
                <a:latin typeface="Aptos"/>
                <a:ea typeface="Aptos"/>
                <a:cs typeface="Aptos"/>
              </a:rPr>
              <a:t>Independent reconstruction   29 October 2026</a:t>
            </a:r>
          </a:p>
        </p:txBody>
      </p:sp>
      <p:sp>
        <p:nvSpPr>
          <p:cNvPr id="5" name="TextBox 4"/>
          <p:cNvSpPr txBox="1"/>
          <p:nvPr/>
        </p:nvSpPr>
        <p:spPr>
          <a:xfrm>
            <a:off x="11109960" y="6510528"/>
            <a:ext cx="457200" cy="192024"/>
          </a:xfrm>
          <a:prstGeom prst="rect">
            <a:avLst/>
          </a:prstGeom>
          <a:noFill/>
        </p:spPr>
        <p:txBody>
          <a:bodyPr wrap="square" lIns="36576" rIns="36576" tIns="36576" bIns="36576" anchor="t">
            <a:noAutofit/>
          </a:bodyPr>
          <a:lstStyle/>
          <a:p>
            <a:pPr algn="r"/>
            <a:r>
              <a:rPr sz="800" b="0" i="0">
                <a:solidFill>
                  <a:srgbClr val="6B7785"/>
                </a:solidFill>
                <a:latin typeface="Aptos"/>
                <a:ea typeface="Aptos"/>
                <a:cs typeface="Aptos"/>
              </a:rPr>
              <a:t>12</a:t>
            </a:r>
          </a:p>
        </p:txBody>
      </p:sp>
      <p:graphicFrame>
        <p:nvGraphicFramePr>
          <p:cNvPr id="6" name="Chart 5"/>
          <p:cNvGraphicFramePr>
            <a:graphicFrameLocks noGrp="1"/>
          </p:cNvGraphicFramePr>
          <p:nvPr/>
        </p:nvGraphicFramePr>
        <p:xfrm>
          <a:off x="685800" y="1097280"/>
          <a:ext cx="6675120" cy="4434840"/>
        </p:xfrm>
        <a:graphic>
          <a:graphicData uri="http://schemas.openxmlformats.org/drawingml/2006/chart">
            <c:chart xmlns:c="http://schemas.openxmlformats.org/drawingml/2006/chart" r:id="rId3"/>
          </a:graphicData>
        </a:graphic>
      </p:graphicFrame>
      <p:cxnSp>
        <p:nvCxnSpPr>
          <p:cNvPr id="7" name="Connector 6"/>
          <p:cNvCxnSpPr/>
          <p:nvPr/>
        </p:nvCxnSpPr>
        <p:spPr>
          <a:xfrm>
            <a:off x="1286560" y="3598529"/>
            <a:ext cx="5273345" cy="0"/>
          </a:xfrm>
          <a:prstGeom prst="line">
            <a:avLst/>
          </a:prstGeom>
          <a:ln w="19050">
            <a:solidFill>
              <a:srgbClr val="B64A4A"/>
            </a:solidFill>
            <a:prstDash val="lgDash"/>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96481" y="3452225"/>
            <a:ext cx="777240" cy="292608"/>
          </a:xfrm>
          <a:prstGeom prst="rect">
            <a:avLst/>
          </a:prstGeom>
          <a:noFill/>
        </p:spPr>
        <p:txBody>
          <a:bodyPr wrap="square" lIns="36576" rIns="36576" tIns="36576" bIns="36576" anchor="ctr">
            <a:noAutofit/>
          </a:bodyPr>
          <a:lstStyle/>
          <a:p>
            <a:pPr algn="l"/>
            <a:r>
              <a:rPr sz="1200" b="1" i="0">
                <a:solidFill>
                  <a:srgbClr val="B64A4A"/>
                </a:solidFill>
                <a:latin typeface="Aptos"/>
                <a:ea typeface="Aptos"/>
                <a:cs typeface="Aptos"/>
              </a:rPr>
              <a:t>τ = 0.3</a:t>
            </a:r>
          </a:p>
        </p:txBody>
      </p:sp>
      <p:sp>
        <p:nvSpPr>
          <p:cNvPr id="9" name="Rounded Rectangle 8"/>
          <p:cNvSpPr/>
          <p:nvPr/>
        </p:nvSpPr>
        <p:spPr>
          <a:xfrm>
            <a:off x="7589520" y="1143000"/>
            <a:ext cx="3913632" cy="1371600"/>
          </a:xfrm>
          <a:prstGeom prst="roundRect">
            <a:avLst>
              <a:gd name="adj" fmla="val 10666"/>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589520" y="1143000"/>
            <a:ext cx="64008" cy="1371600"/>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0" y="1252728"/>
            <a:ext cx="3621024" cy="365760"/>
          </a:xfrm>
          <a:prstGeom prst="rect">
            <a:avLst/>
          </a:prstGeom>
          <a:noFill/>
        </p:spPr>
        <p:txBody>
          <a:bodyPr wrap="square" lIns="36576" rIns="36576" tIns="36576" bIns="36576" anchor="t">
            <a:noAutofit/>
          </a:bodyPr>
          <a:lstStyle/>
          <a:p>
            <a:pPr algn="l"/>
            <a:r>
              <a:rPr sz="1600" b="1" i="0">
                <a:solidFill>
                  <a:srgbClr val="2F5D8A"/>
                </a:solidFill>
                <a:latin typeface="Aptos"/>
                <a:ea typeface="Aptos"/>
                <a:cs typeface="Aptos"/>
              </a:rPr>
              <a:t>Inverted confidence</a:t>
            </a:r>
          </a:p>
        </p:txBody>
      </p:sp>
      <p:sp>
        <p:nvSpPr>
          <p:cNvPr id="12" name="TextBox 11"/>
          <p:cNvSpPr txBox="1"/>
          <p:nvPr/>
        </p:nvSpPr>
        <p:spPr>
          <a:xfrm>
            <a:off x="7772400" y="1645920"/>
            <a:ext cx="3621024" cy="80467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Interactive VMs are 88% likely to exit within 1 h but get 0.092; service VMs get 0.364.</a:t>
            </a:r>
          </a:p>
        </p:txBody>
      </p:sp>
      <p:sp>
        <p:nvSpPr>
          <p:cNvPr id="13" name="Rounded Rectangle 12"/>
          <p:cNvSpPr/>
          <p:nvPr/>
        </p:nvSpPr>
        <p:spPr>
          <a:xfrm>
            <a:off x="7589520" y="2697480"/>
            <a:ext cx="3913632" cy="1371600"/>
          </a:xfrm>
          <a:prstGeom prst="roundRect">
            <a:avLst>
              <a:gd name="adj" fmla="val 10666"/>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89520" y="2697480"/>
            <a:ext cx="64008" cy="1371600"/>
          </a:xfrm>
          <a:prstGeom prst="rect">
            <a:avLst/>
          </a:prstGeom>
          <a:solidFill>
            <a:srgbClr val="D98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0" y="2807208"/>
            <a:ext cx="3621024" cy="365760"/>
          </a:xfrm>
          <a:prstGeom prst="rect">
            <a:avLst/>
          </a:prstGeom>
          <a:noFill/>
        </p:spPr>
        <p:txBody>
          <a:bodyPr wrap="square" lIns="36576" rIns="36576" tIns="36576" bIns="36576" anchor="t">
            <a:noAutofit/>
          </a:bodyPr>
          <a:lstStyle/>
          <a:p>
            <a:pPr algn="l"/>
            <a:r>
              <a:rPr sz="1600" b="1" i="0">
                <a:solidFill>
                  <a:srgbClr val="A85A14"/>
                </a:solidFill>
                <a:latin typeface="Aptos"/>
                <a:ea typeface="Aptos"/>
                <a:cs typeface="Aptos"/>
              </a:rPr>
              <a:t>Blind gate</a:t>
            </a:r>
          </a:p>
        </p:txBody>
      </p:sp>
      <p:sp>
        <p:nvSpPr>
          <p:cNvPr id="16" name="TextBox 15"/>
          <p:cNvSpPr txBox="1"/>
          <p:nvPr/>
        </p:nvSpPr>
        <p:spPr>
          <a:xfrm>
            <a:off x="7772400" y="3200400"/>
            <a:ext cx="3621024" cy="80467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Under controlled noise ≥99.96% of arrivals pass τ = 0.3, so both variants essentially reduce to LAVA.</a:t>
            </a:r>
          </a:p>
        </p:txBody>
      </p:sp>
      <p:sp>
        <p:nvSpPr>
          <p:cNvPr id="17" name="Rounded Rectangle 16"/>
          <p:cNvSpPr/>
          <p:nvPr/>
        </p:nvSpPr>
        <p:spPr>
          <a:xfrm>
            <a:off x="7589520" y="4251960"/>
            <a:ext cx="3913632" cy="1280160"/>
          </a:xfrm>
          <a:prstGeom prst="roundRect">
            <a:avLst>
              <a:gd name="adj" fmla="val 11428"/>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589520" y="4251960"/>
            <a:ext cx="64008" cy="1280160"/>
          </a:xfrm>
          <a:prstGeom prst="rect">
            <a:avLst/>
          </a:prstGeom>
          <a:solidFill>
            <a:srgbClr val="B6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0" y="4361688"/>
            <a:ext cx="3621024" cy="365760"/>
          </a:xfrm>
          <a:prstGeom prst="rect">
            <a:avLst/>
          </a:prstGeom>
          <a:noFill/>
        </p:spPr>
        <p:txBody>
          <a:bodyPr wrap="square" lIns="36576" rIns="36576" tIns="36576" bIns="36576" anchor="t">
            <a:noAutofit/>
          </a:bodyPr>
          <a:lstStyle/>
          <a:p>
            <a:pPr algn="l"/>
            <a:r>
              <a:rPr sz="1600" b="1" i="0">
                <a:solidFill>
                  <a:srgbClr val="B64A4A"/>
                </a:solidFill>
                <a:latin typeface="Aptos"/>
                <a:ea typeface="Aptos"/>
                <a:cs typeface="Aptos"/>
              </a:rPr>
              <a:t>Isolation costs packing</a:t>
            </a:r>
          </a:p>
        </p:txBody>
      </p:sp>
      <p:sp>
        <p:nvSpPr>
          <p:cNvPr id="20" name="TextBox 19"/>
          <p:cNvSpPr txBox="1"/>
          <p:nvPr/>
        </p:nvSpPr>
        <p:spPr>
          <a:xfrm>
            <a:off x="7772400" y="4754880"/>
            <a:ext cx="3621024" cy="713231"/>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Host-CA loses 0.99 pp of empty hosts during arrivals; the tail recovers about 72%.</a:t>
            </a:r>
          </a:p>
        </p:txBody>
      </p:sp>
      <p:sp>
        <p:nvSpPr>
          <p:cNvPr id="21" name="TextBox 20"/>
          <p:cNvSpPr txBox="1"/>
          <p:nvPr/>
        </p:nvSpPr>
        <p:spPr>
          <a:xfrm>
            <a:off x="685800" y="5779008"/>
            <a:ext cx="10835640" cy="292608"/>
          </a:xfrm>
          <a:prstGeom prst="rect">
            <a:avLst/>
          </a:prstGeom>
          <a:noFill/>
        </p:spPr>
        <p:txBody>
          <a:bodyPr wrap="square" lIns="36576" rIns="36576" tIns="36576" bIns="36576" anchor="t">
            <a:noAutofit/>
          </a:bodyPr>
          <a:lstStyle/>
          <a:p>
            <a:pPr algn="ctr"/>
            <a:r>
              <a:rPr sz="1200" b="1" i="0">
                <a:solidFill>
                  <a:srgbClr val="5A6573"/>
                </a:solidFill>
                <a:latin typeface="Aptos"/>
                <a:ea typeface="Aptos"/>
                <a:cs typeface="Aptos"/>
              </a:rPr>
              <a:t>Default predictor at arrival; gate rates and windows on fresh seeds. Fixing the inversion alone did not help on development seeds either.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502920" y="320040"/>
            <a:ext cx="502920" cy="256032"/>
          </a:xfrm>
          <a:prstGeom prst="rect">
            <a:avLst/>
          </a:prstGeom>
          <a:noFill/>
        </p:spPr>
        <p:txBody>
          <a:bodyPr wrap="square" lIns="36576" rIns="36576" tIns="36576" bIns="36576" anchor="ctr">
            <a:noAutofit/>
          </a:bodyPr>
          <a:lstStyle/>
          <a:p>
            <a:pPr algn="ctr"/>
            <a:r>
              <a:rPr sz="1200" b="1" i="0">
                <a:solidFill>
                  <a:srgbClr val="A85A14"/>
                </a:solidFill>
                <a:latin typeface="Aptos"/>
                <a:ea typeface="Aptos"/>
                <a:cs typeface="Aptos"/>
              </a:rPr>
              <a:t>13</a:t>
            </a:r>
          </a:p>
        </p:txBody>
      </p:sp>
      <p:sp>
        <p:nvSpPr>
          <p:cNvPr id="3" name="TextBox 2"/>
          <p:cNvSpPr txBox="1"/>
          <p:nvPr/>
        </p:nvSpPr>
        <p:spPr>
          <a:xfrm>
            <a:off x="1005840" y="256032"/>
            <a:ext cx="10561320" cy="466344"/>
          </a:xfrm>
          <a:prstGeom prst="rect">
            <a:avLst/>
          </a:prstGeom>
          <a:noFill/>
        </p:spPr>
        <p:txBody>
          <a:bodyPr wrap="square" lIns="36576" rIns="36576" tIns="36576" bIns="36576" anchor="t">
            <a:noAutofit/>
          </a:bodyPr>
          <a:lstStyle/>
          <a:p>
            <a:pPr algn="l"/>
            <a:r>
              <a:rPr sz="2400" b="1" i="0">
                <a:solidFill>
                  <a:srgbClr val="233142"/>
                </a:solidFill>
                <a:latin typeface="Aptos"/>
                <a:ea typeface="Aptos"/>
                <a:cs typeface="Aptos"/>
              </a:rPr>
              <a:t>RQ3: Prior-fused lifetime prediction</a:t>
            </a:r>
          </a:p>
        </p:txBody>
      </p:sp>
      <p:sp>
        <p:nvSpPr>
          <p:cNvPr id="4" name="TextBox 3"/>
          <p:cNvSpPr txBox="1"/>
          <p:nvPr/>
        </p:nvSpPr>
        <p:spPr>
          <a:xfrm>
            <a:off x="594360" y="6528816"/>
            <a:ext cx="6190488" cy="192024"/>
          </a:xfrm>
          <a:prstGeom prst="rect">
            <a:avLst/>
          </a:prstGeom>
          <a:noFill/>
        </p:spPr>
        <p:txBody>
          <a:bodyPr wrap="square" lIns="36576" rIns="36576" tIns="36576" bIns="36576" anchor="t">
            <a:noAutofit/>
          </a:bodyPr>
          <a:lstStyle/>
          <a:p>
            <a:pPr algn="l"/>
            <a:r>
              <a:rPr sz="800" b="0" i="0">
                <a:solidFill>
                  <a:srgbClr val="6B7785"/>
                </a:solidFill>
                <a:latin typeface="Aptos"/>
                <a:ea typeface="Aptos"/>
                <a:cs typeface="Aptos"/>
              </a:rPr>
              <a:t>Independent reconstruction   29 October 2026</a:t>
            </a:r>
          </a:p>
        </p:txBody>
      </p:sp>
      <p:sp>
        <p:nvSpPr>
          <p:cNvPr id="5" name="TextBox 4"/>
          <p:cNvSpPr txBox="1"/>
          <p:nvPr/>
        </p:nvSpPr>
        <p:spPr>
          <a:xfrm>
            <a:off x="11109960" y="6510528"/>
            <a:ext cx="457200" cy="192024"/>
          </a:xfrm>
          <a:prstGeom prst="rect">
            <a:avLst/>
          </a:prstGeom>
          <a:noFill/>
        </p:spPr>
        <p:txBody>
          <a:bodyPr wrap="square" lIns="36576" rIns="36576" tIns="36576" bIns="36576" anchor="t">
            <a:noAutofit/>
          </a:bodyPr>
          <a:lstStyle/>
          <a:p>
            <a:pPr algn="r"/>
            <a:r>
              <a:rPr sz="800" b="0" i="0">
                <a:solidFill>
                  <a:srgbClr val="6B7785"/>
                </a:solidFill>
                <a:latin typeface="Aptos"/>
                <a:ea typeface="Aptos"/>
                <a:cs typeface="Aptos"/>
              </a:rPr>
              <a:t>13</a:t>
            </a:r>
          </a:p>
        </p:txBody>
      </p:sp>
      <p:sp>
        <p:nvSpPr>
          <p:cNvPr id="6" name="Rounded Rectangle 5"/>
          <p:cNvSpPr/>
          <p:nvPr/>
        </p:nvSpPr>
        <p:spPr>
          <a:xfrm>
            <a:off x="685800" y="1143000"/>
            <a:ext cx="1856231" cy="1463040"/>
          </a:xfrm>
          <a:prstGeom prst="roundRect">
            <a:avLst>
              <a:gd name="adj" fmla="val 10000"/>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234440"/>
            <a:ext cx="1636775" cy="347472"/>
          </a:xfrm>
          <a:prstGeom prst="rect">
            <a:avLst/>
          </a:prstGeom>
          <a:noFill/>
        </p:spPr>
        <p:txBody>
          <a:bodyPr wrap="square" lIns="36576" rIns="36576" tIns="36576" bIns="36576" anchor="t">
            <a:noAutofit/>
          </a:bodyPr>
          <a:lstStyle/>
          <a:p>
            <a:pPr algn="l"/>
            <a:r>
              <a:rPr sz="1500" b="1" i="0">
                <a:solidFill>
                  <a:srgbClr val="2F5D8A"/>
                </a:solidFill>
                <a:latin typeface="Aptos"/>
                <a:ea typeface="Aptos"/>
                <a:cs typeface="Aptos"/>
              </a:rPr>
              <a:t>Inputs</a:t>
            </a:r>
          </a:p>
        </p:txBody>
      </p:sp>
      <p:sp>
        <p:nvSpPr>
          <p:cNvPr id="8" name="TextBox 7"/>
          <p:cNvSpPr txBox="1"/>
          <p:nvPr/>
        </p:nvSpPr>
        <p:spPr>
          <a:xfrm>
            <a:off x="795528" y="1627632"/>
            <a:ext cx="1636775" cy="914400"/>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Profile prior, noisy value, accuracy and σ</a:t>
            </a:r>
          </a:p>
        </p:txBody>
      </p:sp>
      <p:cxnSp>
        <p:nvCxnSpPr>
          <p:cNvPr id="9" name="Connector 8"/>
          <p:cNvCxnSpPr/>
          <p:nvPr/>
        </p:nvCxnSpPr>
        <p:spPr>
          <a:xfrm>
            <a:off x="2587751" y="1874519"/>
            <a:ext cx="292609" cy="0"/>
          </a:xfrm>
          <a:prstGeom prst="line">
            <a:avLst/>
          </a:prstGeom>
          <a:ln w="22225">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926079" y="1143000"/>
            <a:ext cx="1856231" cy="1463040"/>
          </a:xfrm>
          <a:prstGeom prst="roundRect">
            <a:avLst>
              <a:gd name="adj" fmla="val 10000"/>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35808" y="1234440"/>
            <a:ext cx="1636775" cy="347472"/>
          </a:xfrm>
          <a:prstGeom prst="rect">
            <a:avLst/>
          </a:prstGeom>
          <a:noFill/>
        </p:spPr>
        <p:txBody>
          <a:bodyPr wrap="square" lIns="36576" rIns="36576" tIns="36576" bIns="36576" anchor="t">
            <a:noAutofit/>
          </a:bodyPr>
          <a:lstStyle/>
          <a:p>
            <a:pPr algn="l"/>
            <a:r>
              <a:rPr sz="1500" b="1" i="0">
                <a:solidFill>
                  <a:srgbClr val="A85A14"/>
                </a:solidFill>
                <a:latin typeface="Aptos"/>
                <a:ea typeface="Aptos"/>
                <a:cs typeface="Aptos"/>
              </a:rPr>
              <a:t>Posterior over T</a:t>
            </a:r>
          </a:p>
        </p:txBody>
      </p:sp>
      <p:sp>
        <p:nvSpPr>
          <p:cNvPr id="12" name="TextBox 11"/>
          <p:cNvSpPr txBox="1"/>
          <p:nvPr/>
        </p:nvSpPr>
        <p:spPr>
          <a:xfrm>
            <a:off x="3035808" y="1627632"/>
            <a:ext cx="1636775" cy="914400"/>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Log-grid atoms; values at the 336 h cap are censored</a:t>
            </a:r>
          </a:p>
        </p:txBody>
      </p:sp>
      <p:cxnSp>
        <p:nvCxnSpPr>
          <p:cNvPr id="13" name="Connector 12"/>
          <p:cNvCxnSpPr/>
          <p:nvPr/>
        </p:nvCxnSpPr>
        <p:spPr>
          <a:xfrm>
            <a:off x="4828031" y="1874519"/>
            <a:ext cx="292609" cy="0"/>
          </a:xfrm>
          <a:prstGeom prst="line">
            <a:avLst/>
          </a:prstGeom>
          <a:ln w="22225">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166359" y="1143000"/>
            <a:ext cx="1856231" cy="1463040"/>
          </a:xfrm>
          <a:prstGeom prst="roundRect">
            <a:avLst>
              <a:gd name="adj" fmla="val 10000"/>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76088" y="1234440"/>
            <a:ext cx="1636775" cy="347472"/>
          </a:xfrm>
          <a:prstGeom prst="rect">
            <a:avLst/>
          </a:prstGeom>
          <a:noFill/>
        </p:spPr>
        <p:txBody>
          <a:bodyPr wrap="square" lIns="36576" rIns="36576" tIns="36576" bIns="36576" anchor="t">
            <a:noAutofit/>
          </a:bodyPr>
          <a:lstStyle/>
          <a:p>
            <a:pPr algn="l"/>
            <a:r>
              <a:rPr sz="1500" b="1" i="0">
                <a:solidFill>
                  <a:srgbClr val="3E7C59"/>
                </a:solidFill>
                <a:latin typeface="Aptos"/>
                <a:ea typeface="Aptos"/>
                <a:cs typeface="Aptos"/>
              </a:rPr>
              <a:t>Uptime filter</a:t>
            </a:r>
          </a:p>
        </p:txBody>
      </p:sp>
      <p:sp>
        <p:nvSpPr>
          <p:cNvPr id="16" name="TextBox 15"/>
          <p:cNvSpPr txBox="1"/>
          <p:nvPr/>
        </p:nvSpPr>
        <p:spPr>
          <a:xfrm>
            <a:off x="5276088" y="1627632"/>
            <a:ext cx="1636775" cy="914400"/>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Keep only atoms above the current age</a:t>
            </a:r>
          </a:p>
        </p:txBody>
      </p:sp>
      <p:cxnSp>
        <p:nvCxnSpPr>
          <p:cNvPr id="17" name="Connector 16"/>
          <p:cNvCxnSpPr/>
          <p:nvPr/>
        </p:nvCxnSpPr>
        <p:spPr>
          <a:xfrm>
            <a:off x="7068312" y="1874519"/>
            <a:ext cx="292607" cy="0"/>
          </a:xfrm>
          <a:prstGeom prst="line">
            <a:avLst/>
          </a:prstGeom>
          <a:ln w="22225">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406640" y="1143000"/>
            <a:ext cx="1856231" cy="1463040"/>
          </a:xfrm>
          <a:prstGeom prst="roundRect">
            <a:avLst>
              <a:gd name="adj" fmla="val 10000"/>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16367" y="1234440"/>
            <a:ext cx="1636775" cy="347472"/>
          </a:xfrm>
          <a:prstGeom prst="rect">
            <a:avLst/>
          </a:prstGeom>
          <a:noFill/>
        </p:spPr>
        <p:txBody>
          <a:bodyPr wrap="square" lIns="36576" rIns="36576" tIns="36576" bIns="36576" anchor="t">
            <a:noAutofit/>
          </a:bodyPr>
          <a:lstStyle/>
          <a:p>
            <a:pPr algn="l"/>
            <a:r>
              <a:rPr sz="1500" b="1" i="0">
                <a:solidFill>
                  <a:srgbClr val="2F5D8A"/>
                </a:solidFill>
                <a:latin typeface="Aptos"/>
                <a:ea typeface="Aptos"/>
                <a:cs typeface="Aptos"/>
              </a:rPr>
              <a:t>Outputs</a:t>
            </a:r>
          </a:p>
        </p:txBody>
      </p:sp>
      <p:sp>
        <p:nvSpPr>
          <p:cNvPr id="20" name="TextBox 19"/>
          <p:cNvSpPr txBox="1"/>
          <p:nvPr/>
        </p:nvSpPr>
        <p:spPr>
          <a:xfrm>
            <a:off x="7516367" y="1627632"/>
            <a:ext cx="1636775" cy="914400"/>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Mean remaining lifetime and class confidence</a:t>
            </a:r>
          </a:p>
        </p:txBody>
      </p:sp>
      <p:cxnSp>
        <p:nvCxnSpPr>
          <p:cNvPr id="21" name="Connector 20"/>
          <p:cNvCxnSpPr/>
          <p:nvPr/>
        </p:nvCxnSpPr>
        <p:spPr>
          <a:xfrm>
            <a:off x="9308592" y="1874519"/>
            <a:ext cx="292607" cy="0"/>
          </a:xfrm>
          <a:prstGeom prst="line">
            <a:avLst/>
          </a:prstGeom>
          <a:ln w="22225">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646919" y="1143000"/>
            <a:ext cx="1856231" cy="1463040"/>
          </a:xfrm>
          <a:prstGeom prst="roundRect">
            <a:avLst>
              <a:gd name="adj" fmla="val 10000"/>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56647" y="1234440"/>
            <a:ext cx="1636775" cy="347472"/>
          </a:xfrm>
          <a:prstGeom prst="rect">
            <a:avLst/>
          </a:prstGeom>
          <a:noFill/>
        </p:spPr>
        <p:txBody>
          <a:bodyPr wrap="square" lIns="36576" rIns="36576" tIns="36576" bIns="36576" anchor="t">
            <a:noAutofit/>
          </a:bodyPr>
          <a:lstStyle/>
          <a:p>
            <a:pPr algn="l"/>
            <a:r>
              <a:rPr sz="1500" b="1" i="0">
                <a:solidFill>
                  <a:srgbClr val="B64A4A"/>
                </a:solidFill>
                <a:latin typeface="Aptos"/>
                <a:ea typeface="Aptos"/>
                <a:cs typeface="Aptos"/>
              </a:rPr>
              <a:t>Scheduler</a:t>
            </a:r>
          </a:p>
        </p:txBody>
      </p:sp>
      <p:sp>
        <p:nvSpPr>
          <p:cNvPr id="24" name="TextBox 23"/>
          <p:cNvSpPr txBox="1"/>
          <p:nvPr/>
        </p:nvSpPr>
        <p:spPr>
          <a:xfrm>
            <a:off x="9756647" y="1627632"/>
            <a:ext cx="1636775" cy="914400"/>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NILAS, LAVA and CA rules unchanged</a:t>
            </a:r>
          </a:p>
        </p:txBody>
      </p:sp>
      <p:sp>
        <p:nvSpPr>
          <p:cNvPr id="25" name="Rounded Rectangle 24"/>
          <p:cNvSpPr/>
          <p:nvPr/>
        </p:nvSpPr>
        <p:spPr>
          <a:xfrm>
            <a:off x="685800" y="2880360"/>
            <a:ext cx="3474720" cy="1600200"/>
          </a:xfrm>
          <a:prstGeom prst="roundRect">
            <a:avLst>
              <a:gd name="adj" fmla="val 9142"/>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5800" y="2880360"/>
            <a:ext cx="64008" cy="1600200"/>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2990088"/>
            <a:ext cx="3182112" cy="365760"/>
          </a:xfrm>
          <a:prstGeom prst="rect">
            <a:avLst/>
          </a:prstGeom>
          <a:noFill/>
        </p:spPr>
        <p:txBody>
          <a:bodyPr wrap="square" lIns="36576" rIns="36576" tIns="36576" bIns="36576" anchor="t">
            <a:noAutofit/>
          </a:bodyPr>
          <a:lstStyle/>
          <a:p>
            <a:pPr algn="l"/>
            <a:r>
              <a:rPr sz="1600" b="1" i="0">
                <a:solidFill>
                  <a:srgbClr val="2F5D8A"/>
                </a:solidFill>
                <a:latin typeface="Aptos"/>
                <a:ea typeface="Aptos"/>
                <a:cs typeface="Aptos"/>
              </a:rPr>
              <a:t>Implausible values fall back</a:t>
            </a:r>
          </a:p>
        </p:txBody>
      </p:sp>
      <p:sp>
        <p:nvSpPr>
          <p:cNvPr id="28" name="TextBox 27"/>
          <p:cNvSpPr txBox="1"/>
          <p:nvPr/>
        </p:nvSpPr>
        <p:spPr>
          <a:xfrm>
            <a:off x="868680" y="3383280"/>
            <a:ext cx="3182112" cy="1033271"/>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Interactive VM at 25% accuracy predicted 300 h: the original predictor uses 300 h, the fused one 1.52 h (prior mean 1.07 h).</a:t>
            </a:r>
          </a:p>
        </p:txBody>
      </p:sp>
      <p:sp>
        <p:nvSpPr>
          <p:cNvPr id="29" name="Rounded Rectangle 28"/>
          <p:cNvSpPr/>
          <p:nvPr/>
        </p:nvSpPr>
        <p:spPr>
          <a:xfrm>
            <a:off x="4361688" y="2880360"/>
            <a:ext cx="3474720" cy="1600200"/>
          </a:xfrm>
          <a:prstGeom prst="roundRect">
            <a:avLst>
              <a:gd name="adj" fmla="val 9142"/>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61688" y="2880360"/>
            <a:ext cx="64008" cy="1600200"/>
          </a:xfrm>
          <a:prstGeom prst="rect">
            <a:avLst/>
          </a:prstGeom>
          <a:solidFill>
            <a:srgbClr val="D98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44568" y="2990088"/>
            <a:ext cx="3182112" cy="365760"/>
          </a:xfrm>
          <a:prstGeom prst="rect">
            <a:avLst/>
          </a:prstGeom>
          <a:noFill/>
        </p:spPr>
        <p:txBody>
          <a:bodyPr wrap="square" lIns="36576" rIns="36576" tIns="36576" bIns="36576" anchor="t">
            <a:noAutofit/>
          </a:bodyPr>
          <a:lstStyle/>
          <a:p>
            <a:pPr algn="l"/>
            <a:r>
              <a:rPr sz="1600" b="1" i="0">
                <a:solidFill>
                  <a:srgbClr val="A85A14"/>
                </a:solidFill>
                <a:latin typeface="Aptos"/>
                <a:ea typeface="Aptos"/>
                <a:cs typeface="Aptos"/>
              </a:rPr>
              <a:t>Censoring at the cap</a:t>
            </a:r>
          </a:p>
        </p:txBody>
      </p:sp>
      <p:sp>
        <p:nvSpPr>
          <p:cNvPr id="32" name="TextBox 31"/>
          <p:cNvSpPr txBox="1"/>
          <p:nvPr/>
        </p:nvSpPr>
        <p:spPr>
          <a:xfrm>
            <a:off x="4544568" y="3383280"/>
            <a:ext cx="3182112" cy="1033271"/>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A value at 336 h means “at least 336 h”. At uptime 300 h the original expects 36 h left, the fused one 151 h.</a:t>
            </a:r>
          </a:p>
        </p:txBody>
      </p:sp>
      <p:sp>
        <p:nvSpPr>
          <p:cNvPr id="33" name="Rounded Rectangle 32"/>
          <p:cNvSpPr/>
          <p:nvPr/>
        </p:nvSpPr>
        <p:spPr>
          <a:xfrm>
            <a:off x="8028431" y="2880360"/>
            <a:ext cx="3474720" cy="1600200"/>
          </a:xfrm>
          <a:prstGeom prst="roundRect">
            <a:avLst>
              <a:gd name="adj" fmla="val 9142"/>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28431" y="2880360"/>
            <a:ext cx="64008" cy="1600200"/>
          </a:xfrm>
          <a:prstGeom prst="rect">
            <a:avLst/>
          </a:prstGeom>
          <a:solidFill>
            <a:srgbClr val="3E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11311" y="2990088"/>
            <a:ext cx="3182112" cy="365760"/>
          </a:xfrm>
          <a:prstGeom prst="rect">
            <a:avLst/>
          </a:prstGeom>
          <a:noFill/>
        </p:spPr>
        <p:txBody>
          <a:bodyPr wrap="square" lIns="36576" rIns="36576" tIns="36576" bIns="36576" anchor="t">
            <a:noAutofit/>
          </a:bodyPr>
          <a:lstStyle/>
          <a:p>
            <a:pPr algn="l"/>
            <a:r>
              <a:rPr sz="1600" b="1" i="0">
                <a:solidFill>
                  <a:srgbClr val="3E7C59"/>
                </a:solidFill>
                <a:latin typeface="Aptos"/>
                <a:ea typeface="Aptos"/>
                <a:cs typeface="Aptos"/>
              </a:rPr>
              <a:t>No overdue jump</a:t>
            </a:r>
          </a:p>
        </p:txBody>
      </p:sp>
      <p:sp>
        <p:nvSpPr>
          <p:cNvPr id="36" name="TextBox 35"/>
          <p:cNvSpPr txBox="1"/>
          <p:nvPr/>
        </p:nvSpPr>
        <p:spPr>
          <a:xfrm>
            <a:off x="8211311" y="3383280"/>
            <a:ext cx="3182112" cy="1033271"/>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A VM that outlives its prediction keeps a posterior estimate instead of jumping to “remaining = uptime”.</a:t>
            </a:r>
          </a:p>
        </p:txBody>
      </p:sp>
      <p:sp>
        <p:nvSpPr>
          <p:cNvPr id="37" name="TextBox 36"/>
          <p:cNvSpPr txBox="1"/>
          <p:nvPr/>
        </p:nvSpPr>
        <p:spPr>
          <a:xfrm>
            <a:off x="685800" y="4800600"/>
            <a:ext cx="10835640" cy="384048"/>
          </a:xfrm>
          <a:prstGeom prst="rect">
            <a:avLst/>
          </a:prstGeom>
          <a:noFill/>
        </p:spPr>
        <p:txBody>
          <a:bodyPr wrap="square" lIns="36576" rIns="36576" tIns="36576" bIns="36576" anchor="t">
            <a:noAutofit/>
          </a:bodyPr>
          <a:lstStyle/>
          <a:p>
            <a:pPr algn="ctr"/>
            <a:r>
              <a:rPr sz="1600" b="1" i="0">
                <a:solidFill>
                  <a:srgbClr val="233142"/>
                </a:solidFill>
                <a:latin typeface="Aptos"/>
                <a:ea typeface="Aptos"/>
                <a:cs typeface="Aptos"/>
              </a:rPr>
              <a:t>Same information as the original confidence model plus the profile prior; never the bucket or the true lifetime.</a:t>
            </a:r>
          </a:p>
        </p:txBody>
      </p:sp>
      <p:sp>
        <p:nvSpPr>
          <p:cNvPr id="38" name="TextBox 37"/>
          <p:cNvSpPr txBox="1"/>
          <p:nvPr/>
        </p:nvSpPr>
        <p:spPr>
          <a:xfrm>
            <a:off x="685800" y="5303520"/>
            <a:ext cx="10835640" cy="292608"/>
          </a:xfrm>
          <a:prstGeom prst="rect">
            <a:avLst/>
          </a:prstGeom>
          <a:noFill/>
        </p:spPr>
        <p:txBody>
          <a:bodyPr wrap="square" lIns="36576" rIns="36576" tIns="36576" bIns="36576" anchor="t">
            <a:noAutofit/>
          </a:bodyPr>
          <a:lstStyle/>
          <a:p>
            <a:pPr algn="ctr"/>
            <a:r>
              <a:rPr sz="1200" b="1" i="0">
                <a:solidFill>
                  <a:srgbClr val="5A6573"/>
                </a:solidFill>
                <a:latin typeface="Aptos"/>
                <a:ea typeface="Aptos"/>
                <a:cs typeface="Aptos"/>
              </a:rPr>
              <a:t>Implementation: BayesPredictor in lava/model.py (44 lines), unit-tested in tests/test_bayes.py; examples computed by the code.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502920" y="320040"/>
            <a:ext cx="502920" cy="256032"/>
          </a:xfrm>
          <a:prstGeom prst="rect">
            <a:avLst/>
          </a:prstGeom>
          <a:noFill/>
        </p:spPr>
        <p:txBody>
          <a:bodyPr wrap="square" lIns="36576" rIns="36576" tIns="36576" bIns="36576" anchor="ctr">
            <a:noAutofit/>
          </a:bodyPr>
          <a:lstStyle/>
          <a:p>
            <a:pPr algn="ctr"/>
            <a:r>
              <a:rPr sz="1200" b="1" i="0">
                <a:solidFill>
                  <a:srgbClr val="A85A14"/>
                </a:solidFill>
                <a:latin typeface="Aptos"/>
                <a:ea typeface="Aptos"/>
                <a:cs typeface="Aptos"/>
              </a:rPr>
              <a:t>14</a:t>
            </a:r>
          </a:p>
        </p:txBody>
      </p:sp>
      <p:sp>
        <p:nvSpPr>
          <p:cNvPr id="3" name="TextBox 2"/>
          <p:cNvSpPr txBox="1"/>
          <p:nvPr/>
        </p:nvSpPr>
        <p:spPr>
          <a:xfrm>
            <a:off x="1005840" y="256032"/>
            <a:ext cx="10561320" cy="466344"/>
          </a:xfrm>
          <a:prstGeom prst="rect">
            <a:avLst/>
          </a:prstGeom>
          <a:noFill/>
        </p:spPr>
        <p:txBody>
          <a:bodyPr wrap="square" lIns="36576" rIns="36576" tIns="36576" bIns="36576" anchor="t">
            <a:noAutofit/>
          </a:bodyPr>
          <a:lstStyle/>
          <a:p>
            <a:pPr algn="l"/>
            <a:r>
              <a:rPr sz="2400" b="1" i="0">
                <a:solidFill>
                  <a:srgbClr val="233142"/>
                </a:solidFill>
                <a:latin typeface="Aptos"/>
                <a:ea typeface="Aptos"/>
                <a:cs typeface="Aptos"/>
              </a:rPr>
              <a:t>Pre-registered evaluation protocol</a:t>
            </a:r>
          </a:p>
        </p:txBody>
      </p:sp>
      <p:sp>
        <p:nvSpPr>
          <p:cNvPr id="4" name="TextBox 3"/>
          <p:cNvSpPr txBox="1"/>
          <p:nvPr/>
        </p:nvSpPr>
        <p:spPr>
          <a:xfrm>
            <a:off x="594360" y="6528816"/>
            <a:ext cx="6190488" cy="192024"/>
          </a:xfrm>
          <a:prstGeom prst="rect">
            <a:avLst/>
          </a:prstGeom>
          <a:noFill/>
        </p:spPr>
        <p:txBody>
          <a:bodyPr wrap="square" lIns="36576" rIns="36576" tIns="36576" bIns="36576" anchor="t">
            <a:noAutofit/>
          </a:bodyPr>
          <a:lstStyle/>
          <a:p>
            <a:pPr algn="l"/>
            <a:r>
              <a:rPr sz="800" b="0" i="0">
                <a:solidFill>
                  <a:srgbClr val="6B7785"/>
                </a:solidFill>
                <a:latin typeface="Aptos"/>
                <a:ea typeface="Aptos"/>
                <a:cs typeface="Aptos"/>
              </a:rPr>
              <a:t>Independent reconstruction   29 October 2026</a:t>
            </a:r>
          </a:p>
        </p:txBody>
      </p:sp>
      <p:sp>
        <p:nvSpPr>
          <p:cNvPr id="5" name="TextBox 4"/>
          <p:cNvSpPr txBox="1"/>
          <p:nvPr/>
        </p:nvSpPr>
        <p:spPr>
          <a:xfrm>
            <a:off x="11109960" y="6510528"/>
            <a:ext cx="457200" cy="192024"/>
          </a:xfrm>
          <a:prstGeom prst="rect">
            <a:avLst/>
          </a:prstGeom>
          <a:noFill/>
        </p:spPr>
        <p:txBody>
          <a:bodyPr wrap="square" lIns="36576" rIns="36576" tIns="36576" bIns="36576" anchor="t">
            <a:noAutofit/>
          </a:bodyPr>
          <a:lstStyle/>
          <a:p>
            <a:pPr algn="r"/>
            <a:r>
              <a:rPr sz="800" b="0" i="0">
                <a:solidFill>
                  <a:srgbClr val="6B7785"/>
                </a:solidFill>
                <a:latin typeface="Aptos"/>
                <a:ea typeface="Aptos"/>
                <a:cs typeface="Aptos"/>
              </a:rPr>
              <a:t>14</a:t>
            </a:r>
          </a:p>
        </p:txBody>
      </p:sp>
      <p:sp>
        <p:nvSpPr>
          <p:cNvPr id="6" name="Rounded Rectangle 5"/>
          <p:cNvSpPr/>
          <p:nvPr/>
        </p:nvSpPr>
        <p:spPr>
          <a:xfrm>
            <a:off x="685800" y="1143000"/>
            <a:ext cx="2377440" cy="1691640"/>
          </a:xfrm>
          <a:prstGeom prst="roundRect">
            <a:avLst>
              <a:gd name="adj" fmla="val 8648"/>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143000"/>
            <a:ext cx="64008" cy="1691640"/>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252728"/>
            <a:ext cx="2084832" cy="365760"/>
          </a:xfrm>
          <a:prstGeom prst="rect">
            <a:avLst/>
          </a:prstGeom>
          <a:noFill/>
        </p:spPr>
        <p:txBody>
          <a:bodyPr wrap="square" lIns="36576" rIns="36576" tIns="36576" bIns="36576" anchor="t">
            <a:noAutofit/>
          </a:bodyPr>
          <a:lstStyle/>
          <a:p>
            <a:pPr algn="l"/>
            <a:r>
              <a:rPr sz="1600" b="1" i="0">
                <a:solidFill>
                  <a:srgbClr val="2F5D8A"/>
                </a:solidFill>
                <a:latin typeface="Aptos"/>
                <a:ea typeface="Aptos"/>
                <a:cs typeface="Aptos"/>
              </a:rPr>
              <a:t>1  Develop</a:t>
            </a:r>
          </a:p>
        </p:txBody>
      </p:sp>
      <p:sp>
        <p:nvSpPr>
          <p:cNvPr id="9" name="TextBox 8"/>
          <p:cNvSpPr txBox="1"/>
          <p:nvPr/>
        </p:nvSpPr>
        <p:spPr>
          <a:xfrm>
            <a:off x="868680" y="1645920"/>
            <a:ext cx="2084832" cy="112471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Seeds 0–19 only. Two other ideas rejected there.</a:t>
            </a:r>
          </a:p>
        </p:txBody>
      </p:sp>
      <p:cxnSp>
        <p:nvCxnSpPr>
          <p:cNvPr id="10" name="Connector 9"/>
          <p:cNvCxnSpPr/>
          <p:nvPr/>
        </p:nvCxnSpPr>
        <p:spPr>
          <a:xfrm>
            <a:off x="3118104" y="1984248"/>
            <a:ext cx="326440" cy="0"/>
          </a:xfrm>
          <a:prstGeom prst="line">
            <a:avLst/>
          </a:prstGeom>
          <a:ln w="22225">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499408" y="1143000"/>
            <a:ext cx="2377440" cy="1691640"/>
          </a:xfrm>
          <a:prstGeom prst="roundRect">
            <a:avLst>
              <a:gd name="adj" fmla="val 8648"/>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99408" y="1143000"/>
            <a:ext cx="64008" cy="1691640"/>
          </a:xfrm>
          <a:prstGeom prst="rect">
            <a:avLst/>
          </a:prstGeom>
          <a:solidFill>
            <a:srgbClr val="D98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82288" y="1252728"/>
            <a:ext cx="2084832" cy="365760"/>
          </a:xfrm>
          <a:prstGeom prst="rect">
            <a:avLst/>
          </a:prstGeom>
          <a:noFill/>
        </p:spPr>
        <p:txBody>
          <a:bodyPr wrap="square" lIns="36576" rIns="36576" tIns="36576" bIns="36576" anchor="t">
            <a:noAutofit/>
          </a:bodyPr>
          <a:lstStyle/>
          <a:p>
            <a:pPr algn="l"/>
            <a:r>
              <a:rPr sz="1600" b="1" i="0">
                <a:solidFill>
                  <a:srgbClr val="A85A14"/>
                </a:solidFill>
                <a:latin typeface="Aptos"/>
                <a:ea typeface="Aptos"/>
                <a:cs typeface="Aptos"/>
              </a:rPr>
              <a:t>2  Register</a:t>
            </a:r>
          </a:p>
        </p:txBody>
      </p:sp>
      <p:sp>
        <p:nvSpPr>
          <p:cNvPr id="14" name="TextBox 13"/>
          <p:cNvSpPr txBox="1"/>
          <p:nvPr/>
        </p:nvSpPr>
        <p:spPr>
          <a:xfrm>
            <a:off x="3682288" y="1645920"/>
            <a:ext cx="2084832" cy="112471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28 Oct, 20:10 (UTC+8): hypotheses, seeds, τ, decision rule and code hashes frozen.</a:t>
            </a:r>
          </a:p>
        </p:txBody>
      </p:sp>
      <p:cxnSp>
        <p:nvCxnSpPr>
          <p:cNvPr id="15" name="Connector 14"/>
          <p:cNvCxnSpPr/>
          <p:nvPr/>
        </p:nvCxnSpPr>
        <p:spPr>
          <a:xfrm>
            <a:off x="5931712" y="1984248"/>
            <a:ext cx="326441" cy="0"/>
          </a:xfrm>
          <a:prstGeom prst="line">
            <a:avLst/>
          </a:prstGeom>
          <a:ln w="22225">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313017" y="1143000"/>
            <a:ext cx="2377440" cy="1691640"/>
          </a:xfrm>
          <a:prstGeom prst="roundRect">
            <a:avLst>
              <a:gd name="adj" fmla="val 8648"/>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13017" y="1143000"/>
            <a:ext cx="64008" cy="1691640"/>
          </a:xfrm>
          <a:prstGeom prst="rect">
            <a:avLst/>
          </a:prstGeom>
          <a:solidFill>
            <a:srgbClr val="3E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5897" y="1252728"/>
            <a:ext cx="2084832" cy="365760"/>
          </a:xfrm>
          <a:prstGeom prst="rect">
            <a:avLst/>
          </a:prstGeom>
          <a:noFill/>
        </p:spPr>
        <p:txBody>
          <a:bodyPr wrap="square" lIns="36576" rIns="36576" tIns="36576" bIns="36576" anchor="t">
            <a:noAutofit/>
          </a:bodyPr>
          <a:lstStyle/>
          <a:p>
            <a:pPr algn="l"/>
            <a:r>
              <a:rPr sz="1600" b="1" i="0">
                <a:solidFill>
                  <a:srgbClr val="3E7C59"/>
                </a:solidFill>
                <a:latin typeface="Aptos"/>
                <a:ea typeface="Aptos"/>
                <a:cs typeface="Aptos"/>
              </a:rPr>
              <a:t>3  Test</a:t>
            </a:r>
          </a:p>
        </p:txBody>
      </p:sp>
      <p:sp>
        <p:nvSpPr>
          <p:cNvPr id="19" name="TextBox 18"/>
          <p:cNvSpPr txBox="1"/>
          <p:nvPr/>
        </p:nvSpPr>
        <p:spPr>
          <a:xfrm>
            <a:off x="6495897" y="1645920"/>
            <a:ext cx="2084832" cy="112471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Fresh seeds 1000–1099 (n = 100); τ = 0.3 from the report, nothing tuned.</a:t>
            </a:r>
          </a:p>
        </p:txBody>
      </p:sp>
      <p:cxnSp>
        <p:nvCxnSpPr>
          <p:cNvPr id="20" name="Connector 19"/>
          <p:cNvCxnSpPr/>
          <p:nvPr/>
        </p:nvCxnSpPr>
        <p:spPr>
          <a:xfrm>
            <a:off x="8745321" y="1984248"/>
            <a:ext cx="326441" cy="0"/>
          </a:xfrm>
          <a:prstGeom prst="line">
            <a:avLst/>
          </a:prstGeom>
          <a:ln w="22225">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126626" y="1143000"/>
            <a:ext cx="2377440" cy="1691640"/>
          </a:xfrm>
          <a:prstGeom prst="roundRect">
            <a:avLst>
              <a:gd name="adj" fmla="val 8648"/>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26626" y="1143000"/>
            <a:ext cx="64008" cy="1691640"/>
          </a:xfrm>
          <a:prstGeom prst="rect">
            <a:avLst/>
          </a:prstGeom>
          <a:solidFill>
            <a:srgbClr val="B6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09506" y="1252728"/>
            <a:ext cx="2084832" cy="365760"/>
          </a:xfrm>
          <a:prstGeom prst="rect">
            <a:avLst/>
          </a:prstGeom>
          <a:noFill/>
        </p:spPr>
        <p:txBody>
          <a:bodyPr wrap="square" lIns="36576" rIns="36576" tIns="36576" bIns="36576" anchor="t">
            <a:noAutofit/>
          </a:bodyPr>
          <a:lstStyle/>
          <a:p>
            <a:pPr algn="l"/>
            <a:r>
              <a:rPr sz="1600" b="1" i="0">
                <a:solidFill>
                  <a:srgbClr val="B64A4A"/>
                </a:solidFill>
                <a:latin typeface="Aptos"/>
                <a:ea typeface="Aptos"/>
                <a:cs typeface="Aptos"/>
              </a:rPr>
              <a:t>4  Infer</a:t>
            </a:r>
          </a:p>
        </p:txBody>
      </p:sp>
      <p:sp>
        <p:nvSpPr>
          <p:cNvPr id="24" name="TextBox 23"/>
          <p:cNvSpPr txBox="1"/>
          <p:nvPr/>
        </p:nvSpPr>
        <p:spPr>
          <a:xfrm>
            <a:off x="9309506" y="1645920"/>
            <a:ext cx="2084832" cy="112471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Eight paired t-tests,</a:t>
            </a:r>
          </a:p>
          <a:p>
            <a:pPr algn="l"/>
            <a:r>
              <a:rPr sz="1300" b="0" i="0">
                <a:solidFill>
                  <a:srgbClr val="233142"/>
                </a:solidFill>
                <a:latin typeface="Aptos"/>
                <a:ea typeface="Aptos"/>
                <a:cs typeface="Aptos"/>
              </a:rPr>
              <a:t>Holm–Bonferroni at α = 0.05.</a:t>
            </a:r>
          </a:p>
        </p:txBody>
      </p:sp>
      <p:sp>
        <p:nvSpPr>
          <p:cNvPr id="25" name="Rounded Rectangle 24"/>
          <p:cNvSpPr/>
          <p:nvPr/>
        </p:nvSpPr>
        <p:spPr>
          <a:xfrm>
            <a:off x="685800" y="3108960"/>
            <a:ext cx="10817352" cy="1600200"/>
          </a:xfrm>
          <a:prstGeom prst="roundRect">
            <a:avLst>
              <a:gd name="adj" fmla="val 9142"/>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3182112"/>
            <a:ext cx="2743200" cy="329184"/>
          </a:xfrm>
          <a:prstGeom prst="rect">
            <a:avLst/>
          </a:prstGeom>
          <a:noFill/>
        </p:spPr>
        <p:txBody>
          <a:bodyPr wrap="square" lIns="36576" rIns="36576" tIns="36576" bIns="36576" anchor="t">
            <a:noAutofit/>
          </a:bodyPr>
          <a:lstStyle/>
          <a:p>
            <a:pPr algn="l"/>
            <a:r>
              <a:rPr sz="1500" b="1" i="0">
                <a:solidFill>
                  <a:srgbClr val="233142"/>
                </a:solidFill>
                <a:latin typeface="Aptos"/>
                <a:ea typeface="Aptos"/>
                <a:cs typeface="Aptos"/>
              </a:rPr>
              <a:t>Compute</a:t>
            </a:r>
          </a:p>
        </p:txBody>
      </p:sp>
      <p:sp>
        <p:nvSpPr>
          <p:cNvPr id="27" name="TextBox 26"/>
          <p:cNvSpPr txBox="1"/>
          <p:nvPr/>
        </p:nvSpPr>
        <p:spPr>
          <a:xfrm>
            <a:off x="777240" y="3474720"/>
            <a:ext cx="2606040" cy="566928"/>
          </a:xfrm>
          <a:prstGeom prst="rect">
            <a:avLst/>
          </a:prstGeom>
          <a:noFill/>
        </p:spPr>
        <p:txBody>
          <a:bodyPr wrap="square" lIns="36576" rIns="36576" tIns="36576" bIns="36576" anchor="t">
            <a:noAutofit/>
          </a:bodyPr>
          <a:lstStyle/>
          <a:p>
            <a:pPr algn="ctr"/>
            <a:r>
              <a:rPr sz="2600" b="1" i="0">
                <a:solidFill>
                  <a:srgbClr val="233142"/>
                </a:solidFill>
                <a:latin typeface="Aptos"/>
                <a:ea typeface="Aptos"/>
                <a:cs typeface="Aptos"/>
              </a:rPr>
              <a:t>23,240</a:t>
            </a:r>
          </a:p>
        </p:txBody>
      </p:sp>
      <p:sp>
        <p:nvSpPr>
          <p:cNvPr id="28" name="TextBox 27"/>
          <p:cNvSpPr txBox="1"/>
          <p:nvPr/>
        </p:nvSpPr>
        <p:spPr>
          <a:xfrm>
            <a:off x="777240" y="4078224"/>
            <a:ext cx="2606040" cy="457200"/>
          </a:xfrm>
          <a:prstGeom prst="rect">
            <a:avLst/>
          </a:prstGeom>
          <a:noFill/>
        </p:spPr>
        <p:txBody>
          <a:bodyPr wrap="square" lIns="36576" rIns="36576" tIns="36576" bIns="36576" anchor="t">
            <a:noAutofit/>
          </a:bodyPr>
          <a:lstStyle/>
          <a:p>
            <a:pPr algn="ctr"/>
            <a:r>
              <a:rPr sz="1200" b="0" i="0">
                <a:solidFill>
                  <a:srgbClr val="5A6573"/>
                </a:solidFill>
                <a:latin typeface="Aptos"/>
                <a:ea typeface="Aptos"/>
                <a:cs typeface="Aptos"/>
              </a:rPr>
              <a:t>simulations</a:t>
            </a:r>
          </a:p>
        </p:txBody>
      </p:sp>
      <p:sp>
        <p:nvSpPr>
          <p:cNvPr id="29" name="TextBox 28"/>
          <p:cNvSpPr txBox="1"/>
          <p:nvPr/>
        </p:nvSpPr>
        <p:spPr>
          <a:xfrm>
            <a:off x="3474720" y="3474720"/>
            <a:ext cx="2606040" cy="566928"/>
          </a:xfrm>
          <a:prstGeom prst="rect">
            <a:avLst/>
          </a:prstGeom>
          <a:noFill/>
        </p:spPr>
        <p:txBody>
          <a:bodyPr wrap="square" lIns="36576" rIns="36576" tIns="36576" bIns="36576" anchor="t">
            <a:noAutofit/>
          </a:bodyPr>
          <a:lstStyle/>
          <a:p>
            <a:pPr algn="ctr"/>
            <a:r>
              <a:rPr sz="2600" b="1" i="0">
                <a:solidFill>
                  <a:srgbClr val="233142"/>
                </a:solidFill>
                <a:latin typeface="Aptos"/>
                <a:ea typeface="Aptos"/>
                <a:cs typeface="Aptos"/>
              </a:rPr>
              <a:t>64</a:t>
            </a:r>
          </a:p>
        </p:txBody>
      </p:sp>
      <p:sp>
        <p:nvSpPr>
          <p:cNvPr id="30" name="TextBox 29"/>
          <p:cNvSpPr txBox="1"/>
          <p:nvPr/>
        </p:nvSpPr>
        <p:spPr>
          <a:xfrm>
            <a:off x="3474720" y="4078224"/>
            <a:ext cx="2606040" cy="457200"/>
          </a:xfrm>
          <a:prstGeom prst="rect">
            <a:avLst/>
          </a:prstGeom>
          <a:noFill/>
        </p:spPr>
        <p:txBody>
          <a:bodyPr wrap="square" lIns="36576" rIns="36576" tIns="36576" bIns="36576" anchor="t">
            <a:noAutofit/>
          </a:bodyPr>
          <a:lstStyle/>
          <a:p>
            <a:pPr algn="ctr"/>
            <a:r>
              <a:rPr sz="1200" b="0" i="0">
                <a:solidFill>
                  <a:srgbClr val="5A6573"/>
                </a:solidFill>
                <a:latin typeface="Aptos"/>
                <a:ea typeface="Aptos"/>
                <a:cs typeface="Aptos"/>
              </a:rPr>
              <a:t>low-priority CPU processes</a:t>
            </a:r>
          </a:p>
          <a:p>
            <a:pPr algn="ctr"/>
            <a:r>
              <a:rPr sz="1200" b="0" i="0">
                <a:solidFill>
                  <a:srgbClr val="5A6573"/>
                </a:solidFill>
                <a:latin typeface="Aptos"/>
                <a:ea typeface="Aptos"/>
                <a:cs typeface="Aptos"/>
              </a:rPr>
              <a:t>on the H20 server</a:t>
            </a:r>
          </a:p>
        </p:txBody>
      </p:sp>
      <p:sp>
        <p:nvSpPr>
          <p:cNvPr id="31" name="TextBox 30"/>
          <p:cNvSpPr txBox="1"/>
          <p:nvPr/>
        </p:nvSpPr>
        <p:spPr>
          <a:xfrm>
            <a:off x="6172200" y="3474720"/>
            <a:ext cx="2606040" cy="566928"/>
          </a:xfrm>
          <a:prstGeom prst="rect">
            <a:avLst/>
          </a:prstGeom>
          <a:noFill/>
        </p:spPr>
        <p:txBody>
          <a:bodyPr wrap="square" lIns="36576" rIns="36576" tIns="36576" bIns="36576" anchor="t">
            <a:noAutofit/>
          </a:bodyPr>
          <a:lstStyle/>
          <a:p>
            <a:pPr algn="ctr"/>
            <a:r>
              <a:rPr sz="2600" b="1" i="0">
                <a:solidFill>
                  <a:srgbClr val="233142"/>
                </a:solidFill>
                <a:latin typeface="Aptos"/>
                <a:ea typeface="Aptos"/>
                <a:cs typeface="Aptos"/>
              </a:rPr>
              <a:t>≈6 min</a:t>
            </a:r>
          </a:p>
        </p:txBody>
      </p:sp>
      <p:sp>
        <p:nvSpPr>
          <p:cNvPr id="32" name="TextBox 31"/>
          <p:cNvSpPr txBox="1"/>
          <p:nvPr/>
        </p:nvSpPr>
        <p:spPr>
          <a:xfrm>
            <a:off x="6172200" y="4078224"/>
            <a:ext cx="2606040" cy="457200"/>
          </a:xfrm>
          <a:prstGeom prst="rect">
            <a:avLst/>
          </a:prstGeom>
          <a:noFill/>
        </p:spPr>
        <p:txBody>
          <a:bodyPr wrap="square" lIns="36576" rIns="36576" tIns="36576" bIns="36576" anchor="t">
            <a:noAutofit/>
          </a:bodyPr>
          <a:lstStyle/>
          <a:p>
            <a:pPr algn="ctr"/>
            <a:r>
              <a:rPr sz="1200" b="0" i="0">
                <a:solidFill>
                  <a:srgbClr val="5A6573"/>
                </a:solidFill>
                <a:latin typeface="Aptos"/>
                <a:ea typeface="Aptos"/>
                <a:cs typeface="Aptos"/>
              </a:rPr>
              <a:t>wall time; no GPU needed</a:t>
            </a:r>
          </a:p>
        </p:txBody>
      </p:sp>
      <p:sp>
        <p:nvSpPr>
          <p:cNvPr id="33" name="TextBox 32"/>
          <p:cNvSpPr txBox="1"/>
          <p:nvPr/>
        </p:nvSpPr>
        <p:spPr>
          <a:xfrm>
            <a:off x="8869680" y="3474720"/>
            <a:ext cx="2606040" cy="566928"/>
          </a:xfrm>
          <a:prstGeom prst="rect">
            <a:avLst/>
          </a:prstGeom>
          <a:noFill/>
        </p:spPr>
        <p:txBody>
          <a:bodyPr wrap="square" lIns="36576" rIns="36576" tIns="36576" bIns="36576" anchor="t">
            <a:noAutofit/>
          </a:bodyPr>
          <a:lstStyle/>
          <a:p>
            <a:pPr algn="ctr"/>
            <a:r>
              <a:rPr sz="2600" b="1" i="0">
                <a:solidFill>
                  <a:srgbClr val="233142"/>
                </a:solidFill>
                <a:latin typeface="Aptos"/>
                <a:ea typeface="Aptos"/>
                <a:cs typeface="Aptos"/>
              </a:rPr>
              <a:t>0</a:t>
            </a:r>
          </a:p>
        </p:txBody>
      </p:sp>
      <p:sp>
        <p:nvSpPr>
          <p:cNvPr id="34" name="TextBox 33"/>
          <p:cNvSpPr txBox="1"/>
          <p:nvPr/>
        </p:nvSpPr>
        <p:spPr>
          <a:xfrm>
            <a:off x="8869680" y="4078224"/>
            <a:ext cx="2606040" cy="457200"/>
          </a:xfrm>
          <a:prstGeom prst="rect">
            <a:avLst/>
          </a:prstGeom>
          <a:noFill/>
        </p:spPr>
        <p:txBody>
          <a:bodyPr wrap="square" lIns="36576" rIns="36576" tIns="36576" bIns="36576" anchor="t">
            <a:noAutofit/>
          </a:bodyPr>
          <a:lstStyle/>
          <a:p>
            <a:pPr algn="ctr"/>
            <a:r>
              <a:rPr sz="1200" b="0" i="0">
                <a:solidFill>
                  <a:srgbClr val="5A6573"/>
                </a:solidFill>
                <a:latin typeface="Aptos"/>
                <a:ea typeface="Aptos"/>
                <a:cs typeface="Aptos"/>
              </a:rPr>
              <a:t>scheduling failures</a:t>
            </a:r>
          </a:p>
        </p:txBody>
      </p:sp>
      <p:sp>
        <p:nvSpPr>
          <p:cNvPr id="35" name="TextBox 34"/>
          <p:cNvSpPr txBox="1"/>
          <p:nvPr/>
        </p:nvSpPr>
        <p:spPr>
          <a:xfrm>
            <a:off x="685800" y="5029200"/>
            <a:ext cx="10835640" cy="292608"/>
          </a:xfrm>
          <a:prstGeom prst="rect">
            <a:avLst/>
          </a:prstGeom>
          <a:noFill/>
        </p:spPr>
        <p:txBody>
          <a:bodyPr wrap="square" lIns="36576" rIns="36576" tIns="36576" bIns="36576" anchor="t">
            <a:noAutofit/>
          </a:bodyPr>
          <a:lstStyle/>
          <a:p>
            <a:pPr algn="ctr"/>
            <a:r>
              <a:rPr sz="1200" b="1" i="0">
                <a:solidFill>
                  <a:srgbClr val="5A6573"/>
                </a:solidFill>
                <a:latin typeface="Aptos"/>
                <a:ea typeface="Aptos"/>
                <a:cs typeface="Aptos"/>
              </a:rPr>
              <a:t>Also run: robustness seeds 2000–2049 (control and load × 2 added after review), τ scan on 200–219, and the report’s held-out seeds 20–39.</a:t>
            </a:r>
          </a:p>
        </p:txBody>
      </p:sp>
      <p:sp>
        <p:nvSpPr>
          <p:cNvPr id="36" name="TextBox 35"/>
          <p:cNvSpPr txBox="1"/>
          <p:nvPr/>
        </p:nvSpPr>
        <p:spPr>
          <a:xfrm>
            <a:off x="685800" y="5440680"/>
            <a:ext cx="10835640" cy="292608"/>
          </a:xfrm>
          <a:prstGeom prst="rect">
            <a:avLst/>
          </a:prstGeom>
          <a:noFill/>
        </p:spPr>
        <p:txBody>
          <a:bodyPr wrap="square" lIns="36576" rIns="36576" tIns="36576" bIns="36576" anchor="t">
            <a:noAutofit/>
          </a:bodyPr>
          <a:lstStyle/>
          <a:p>
            <a:pPr algn="ctr"/>
            <a:r>
              <a:rPr sz="1200" b="1" i="0">
                <a:solidFill>
                  <a:srgbClr val="5A6573"/>
                </a:solidFill>
                <a:latin typeface="Aptos"/>
                <a:ea typeface="Aptos"/>
                <a:cs typeface="Aptos"/>
              </a:rPr>
              <a:t>Only the eight registered tests are multiplicity-adjusted; everything else is descriptive.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502920" y="320040"/>
            <a:ext cx="502920" cy="256032"/>
          </a:xfrm>
          <a:prstGeom prst="rect">
            <a:avLst/>
          </a:prstGeom>
          <a:noFill/>
        </p:spPr>
        <p:txBody>
          <a:bodyPr wrap="square" lIns="36576" rIns="36576" tIns="36576" bIns="36576" anchor="ctr">
            <a:noAutofit/>
          </a:bodyPr>
          <a:lstStyle/>
          <a:p>
            <a:pPr algn="ctr"/>
            <a:r>
              <a:rPr sz="1200" b="1" i="0">
                <a:solidFill>
                  <a:srgbClr val="A85A14"/>
                </a:solidFill>
                <a:latin typeface="Aptos"/>
                <a:ea typeface="Aptos"/>
                <a:cs typeface="Aptos"/>
              </a:rPr>
              <a:t>15</a:t>
            </a:r>
          </a:p>
        </p:txBody>
      </p:sp>
      <p:sp>
        <p:nvSpPr>
          <p:cNvPr id="3" name="TextBox 2"/>
          <p:cNvSpPr txBox="1"/>
          <p:nvPr/>
        </p:nvSpPr>
        <p:spPr>
          <a:xfrm>
            <a:off x="1005840" y="256032"/>
            <a:ext cx="10561320" cy="466344"/>
          </a:xfrm>
          <a:prstGeom prst="rect">
            <a:avLst/>
          </a:prstGeom>
          <a:noFill/>
        </p:spPr>
        <p:txBody>
          <a:bodyPr wrap="square" lIns="36576" rIns="36576" tIns="36576" bIns="36576" anchor="t">
            <a:noAutofit/>
          </a:bodyPr>
          <a:lstStyle/>
          <a:p>
            <a:pPr algn="l"/>
            <a:r>
              <a:rPr sz="2400" b="1" i="0">
                <a:solidFill>
                  <a:srgbClr val="233142"/>
                </a:solidFill>
                <a:latin typeface="Aptos"/>
                <a:ea typeface="Aptos"/>
                <a:cs typeface="Aptos"/>
              </a:rPr>
              <a:t>Fusion removes LAVA’s low-accuracy penalty</a:t>
            </a:r>
          </a:p>
        </p:txBody>
      </p:sp>
      <p:sp>
        <p:nvSpPr>
          <p:cNvPr id="4" name="TextBox 3"/>
          <p:cNvSpPr txBox="1"/>
          <p:nvPr/>
        </p:nvSpPr>
        <p:spPr>
          <a:xfrm>
            <a:off x="594360" y="6528816"/>
            <a:ext cx="6190488" cy="192024"/>
          </a:xfrm>
          <a:prstGeom prst="rect">
            <a:avLst/>
          </a:prstGeom>
          <a:noFill/>
        </p:spPr>
        <p:txBody>
          <a:bodyPr wrap="square" lIns="36576" rIns="36576" tIns="36576" bIns="36576" anchor="t">
            <a:noAutofit/>
          </a:bodyPr>
          <a:lstStyle/>
          <a:p>
            <a:pPr algn="l"/>
            <a:r>
              <a:rPr sz="800" b="0" i="0">
                <a:solidFill>
                  <a:srgbClr val="6B7785"/>
                </a:solidFill>
                <a:latin typeface="Aptos"/>
                <a:ea typeface="Aptos"/>
                <a:cs typeface="Aptos"/>
              </a:rPr>
              <a:t>Independent reconstruction   29 October 2026</a:t>
            </a:r>
          </a:p>
        </p:txBody>
      </p:sp>
      <p:sp>
        <p:nvSpPr>
          <p:cNvPr id="5" name="TextBox 4"/>
          <p:cNvSpPr txBox="1"/>
          <p:nvPr/>
        </p:nvSpPr>
        <p:spPr>
          <a:xfrm>
            <a:off x="11109960" y="6510528"/>
            <a:ext cx="457200" cy="192024"/>
          </a:xfrm>
          <a:prstGeom prst="rect">
            <a:avLst/>
          </a:prstGeom>
          <a:noFill/>
        </p:spPr>
        <p:txBody>
          <a:bodyPr wrap="square" lIns="36576" rIns="36576" tIns="36576" bIns="36576" anchor="t">
            <a:noAutofit/>
          </a:bodyPr>
          <a:lstStyle/>
          <a:p>
            <a:pPr algn="r"/>
            <a:r>
              <a:rPr sz="800" b="0" i="0">
                <a:solidFill>
                  <a:srgbClr val="6B7785"/>
                </a:solidFill>
                <a:latin typeface="Aptos"/>
                <a:ea typeface="Aptos"/>
                <a:cs typeface="Aptos"/>
              </a:rPr>
              <a:t>15</a:t>
            </a:r>
          </a:p>
        </p:txBody>
      </p:sp>
      <p:graphicFrame>
        <p:nvGraphicFramePr>
          <p:cNvPr id="6" name="Chart 5"/>
          <p:cNvGraphicFramePr>
            <a:graphicFrameLocks noGrp="1"/>
          </p:cNvGraphicFramePr>
          <p:nvPr/>
        </p:nvGraphicFramePr>
        <p:xfrm>
          <a:off x="685800" y="1097280"/>
          <a:ext cx="7498079" cy="4434840"/>
        </p:xfrm>
        <a:graphic>
          <a:graphicData uri="http://schemas.openxmlformats.org/drawingml/2006/chart">
            <c:chart xmlns:c="http://schemas.openxmlformats.org/drawingml/2006/chart" r:id="rId3"/>
          </a:graphicData>
        </a:graphic>
      </p:graphicFrame>
      <p:sp>
        <p:nvSpPr>
          <p:cNvPr id="7" name="Rounded Rectangle 6"/>
          <p:cNvSpPr/>
          <p:nvPr/>
        </p:nvSpPr>
        <p:spPr>
          <a:xfrm>
            <a:off x="8458200" y="1143000"/>
            <a:ext cx="3044952" cy="1417320"/>
          </a:xfrm>
          <a:prstGeom prst="roundRect">
            <a:avLst>
              <a:gd name="adj" fmla="val 10322"/>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58200" y="1143000"/>
            <a:ext cx="64008" cy="1417320"/>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41080" y="1252728"/>
            <a:ext cx="2752344" cy="365760"/>
          </a:xfrm>
          <a:prstGeom prst="rect">
            <a:avLst/>
          </a:prstGeom>
          <a:noFill/>
        </p:spPr>
        <p:txBody>
          <a:bodyPr wrap="square" lIns="36576" rIns="36576" tIns="36576" bIns="36576" anchor="t">
            <a:noAutofit/>
          </a:bodyPr>
          <a:lstStyle/>
          <a:p>
            <a:pPr algn="l"/>
            <a:r>
              <a:rPr sz="1600" b="1" i="0">
                <a:solidFill>
                  <a:srgbClr val="2F5D8A"/>
                </a:solidFill>
                <a:latin typeface="Aptos"/>
                <a:ea typeface="Aptos"/>
                <a:cs typeface="Aptos"/>
              </a:rPr>
              <a:t>Registered: vs LAVA</a:t>
            </a:r>
          </a:p>
        </p:txBody>
      </p:sp>
      <p:sp>
        <p:nvSpPr>
          <p:cNvPr id="10" name="TextBox 9"/>
          <p:cNvSpPr txBox="1"/>
          <p:nvPr/>
        </p:nvSpPr>
        <p:spPr>
          <a:xfrm>
            <a:off x="8641080" y="1645920"/>
            <a:ext cx="2752344" cy="85039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+0.224, +0.147, +0.054, +0.088 pp at 25–85%; 3 of 4 hold.</a:t>
            </a:r>
          </a:p>
        </p:txBody>
      </p:sp>
      <p:sp>
        <p:nvSpPr>
          <p:cNvPr id="11" name="Rounded Rectangle 10"/>
          <p:cNvSpPr/>
          <p:nvPr/>
        </p:nvSpPr>
        <p:spPr>
          <a:xfrm>
            <a:off x="8458200" y="2724912"/>
            <a:ext cx="3044952" cy="1417320"/>
          </a:xfrm>
          <a:prstGeom prst="roundRect">
            <a:avLst>
              <a:gd name="adj" fmla="val 10322"/>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2724912"/>
            <a:ext cx="64008" cy="1417320"/>
          </a:xfrm>
          <a:prstGeom prst="rect">
            <a:avLst/>
          </a:prstGeom>
          <a:solidFill>
            <a:srgbClr val="3E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41080" y="2834640"/>
            <a:ext cx="2752344" cy="365760"/>
          </a:xfrm>
          <a:prstGeom prst="rect">
            <a:avLst/>
          </a:prstGeom>
          <a:noFill/>
        </p:spPr>
        <p:txBody>
          <a:bodyPr wrap="square" lIns="36576" rIns="36576" tIns="36576" bIns="36576" anchor="t">
            <a:noAutofit/>
          </a:bodyPr>
          <a:lstStyle/>
          <a:p>
            <a:pPr algn="l"/>
            <a:r>
              <a:rPr sz="1600" b="1" i="0">
                <a:solidFill>
                  <a:srgbClr val="3E7C59"/>
                </a:solidFill>
                <a:latin typeface="Aptos"/>
                <a:ea typeface="Aptos"/>
                <a:cs typeface="Aptos"/>
              </a:rPr>
              <a:t>Registered: vs Best-Fit</a:t>
            </a:r>
          </a:p>
        </p:txBody>
      </p:sp>
      <p:sp>
        <p:nvSpPr>
          <p:cNvPr id="14" name="TextBox 13"/>
          <p:cNvSpPr txBox="1"/>
          <p:nvPr/>
        </p:nvSpPr>
        <p:spPr>
          <a:xfrm>
            <a:off x="8641080" y="3227832"/>
            <a:ext cx="2752344" cy="85039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Holds at 50–85%; at 25%: +0.037 pp, not significant.</a:t>
            </a:r>
          </a:p>
        </p:txBody>
      </p:sp>
      <p:sp>
        <p:nvSpPr>
          <p:cNvPr id="15" name="Rounded Rectangle 14"/>
          <p:cNvSpPr/>
          <p:nvPr/>
        </p:nvSpPr>
        <p:spPr>
          <a:xfrm>
            <a:off x="8458200" y="4306824"/>
            <a:ext cx="3044952" cy="1225296"/>
          </a:xfrm>
          <a:prstGeom prst="roundRect">
            <a:avLst>
              <a:gd name="adj" fmla="val 11940"/>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58200" y="4306824"/>
            <a:ext cx="64008" cy="1225296"/>
          </a:xfrm>
          <a:prstGeom prst="rect">
            <a:avLst/>
          </a:prstGeom>
          <a:solidFill>
            <a:srgbClr val="D98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41080" y="4416552"/>
            <a:ext cx="2752344" cy="365760"/>
          </a:xfrm>
          <a:prstGeom prst="rect">
            <a:avLst/>
          </a:prstGeom>
          <a:noFill/>
        </p:spPr>
        <p:txBody>
          <a:bodyPr wrap="square" lIns="36576" rIns="36576" tIns="36576" bIns="36576" anchor="t">
            <a:noAutofit/>
          </a:bodyPr>
          <a:lstStyle/>
          <a:p>
            <a:pPr algn="l"/>
            <a:r>
              <a:rPr sz="1600" b="1" i="0">
                <a:solidFill>
                  <a:srgbClr val="A85A14"/>
                </a:solidFill>
                <a:latin typeface="Aptos"/>
                <a:ea typeface="Aptos"/>
                <a:cs typeface="Aptos"/>
              </a:rPr>
              <a:t>Oracle reference</a:t>
            </a:r>
          </a:p>
        </p:txBody>
      </p:sp>
      <p:sp>
        <p:nvSpPr>
          <p:cNvPr id="18" name="TextBox 17"/>
          <p:cNvSpPr txBox="1"/>
          <p:nvPr/>
        </p:nvSpPr>
        <p:spPr>
          <a:xfrm>
            <a:off x="8641080" y="4809744"/>
            <a:ext cx="2752344" cy="658368"/>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LAVA with true lifetimes: +0.552 pp</a:t>
            </a:r>
          </a:p>
        </p:txBody>
      </p:sp>
      <p:sp>
        <p:nvSpPr>
          <p:cNvPr id="19" name="TextBox 18"/>
          <p:cNvSpPr txBox="1"/>
          <p:nvPr/>
        </p:nvSpPr>
        <p:spPr>
          <a:xfrm>
            <a:off x="685800" y="5760720"/>
            <a:ext cx="10835640" cy="292608"/>
          </a:xfrm>
          <a:prstGeom prst="rect">
            <a:avLst/>
          </a:prstGeom>
          <a:noFill/>
        </p:spPr>
        <p:txBody>
          <a:bodyPr wrap="square" lIns="36576" rIns="36576" tIns="36576" bIns="36576" anchor="t">
            <a:noAutofit/>
          </a:bodyPr>
          <a:lstStyle/>
          <a:p>
            <a:pPr algn="ctr"/>
            <a:r>
              <a:rPr sz="1200" b="1" i="0">
                <a:solidFill>
                  <a:srgbClr val="5A6573"/>
                </a:solidFill>
                <a:latin typeface="Aptos"/>
                <a:ea typeface="Aptos"/>
                <a:cs typeface="Aptos"/>
              </a:rPr>
              <a:t>Whiskers: unadjusted 95% intervals (n = 100). LAVA-Bayes was not registered and is shown for reference.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502920" y="320040"/>
            <a:ext cx="502920" cy="256032"/>
          </a:xfrm>
          <a:prstGeom prst="rect">
            <a:avLst/>
          </a:prstGeom>
          <a:noFill/>
        </p:spPr>
        <p:txBody>
          <a:bodyPr wrap="square" lIns="36576" rIns="36576" tIns="36576" bIns="36576" anchor="ctr">
            <a:noAutofit/>
          </a:bodyPr>
          <a:lstStyle/>
          <a:p>
            <a:pPr algn="ctr"/>
            <a:r>
              <a:rPr sz="1200" b="1" i="0">
                <a:solidFill>
                  <a:srgbClr val="A85A14"/>
                </a:solidFill>
                <a:latin typeface="Aptos"/>
                <a:ea typeface="Aptos"/>
                <a:cs typeface="Aptos"/>
              </a:rPr>
              <a:t>16</a:t>
            </a:r>
          </a:p>
        </p:txBody>
      </p:sp>
      <p:sp>
        <p:nvSpPr>
          <p:cNvPr id="3" name="TextBox 2"/>
          <p:cNvSpPr txBox="1"/>
          <p:nvPr/>
        </p:nvSpPr>
        <p:spPr>
          <a:xfrm>
            <a:off x="1005840" y="256032"/>
            <a:ext cx="10561320" cy="466344"/>
          </a:xfrm>
          <a:prstGeom prst="rect">
            <a:avLst/>
          </a:prstGeom>
          <a:noFill/>
        </p:spPr>
        <p:txBody>
          <a:bodyPr wrap="square" lIns="36576" rIns="36576" tIns="36576" bIns="36576" anchor="t">
            <a:noAutofit/>
          </a:bodyPr>
          <a:lstStyle/>
          <a:p>
            <a:pPr algn="l"/>
            <a:r>
              <a:rPr sz="2400" b="1" i="0">
                <a:solidFill>
                  <a:srgbClr val="233142"/>
                </a:solidFill>
                <a:latin typeface="Aptos"/>
                <a:ea typeface="Aptos"/>
                <a:cs typeface="Aptos"/>
              </a:rPr>
              <a:t>Pre-registered results: 3 of 4 hold against LAVA</a:t>
            </a:r>
          </a:p>
        </p:txBody>
      </p:sp>
      <p:sp>
        <p:nvSpPr>
          <p:cNvPr id="4" name="TextBox 3"/>
          <p:cNvSpPr txBox="1"/>
          <p:nvPr/>
        </p:nvSpPr>
        <p:spPr>
          <a:xfrm>
            <a:off x="594360" y="6528816"/>
            <a:ext cx="6190488" cy="192024"/>
          </a:xfrm>
          <a:prstGeom prst="rect">
            <a:avLst/>
          </a:prstGeom>
          <a:noFill/>
        </p:spPr>
        <p:txBody>
          <a:bodyPr wrap="square" lIns="36576" rIns="36576" tIns="36576" bIns="36576" anchor="t">
            <a:noAutofit/>
          </a:bodyPr>
          <a:lstStyle/>
          <a:p>
            <a:pPr algn="l"/>
            <a:r>
              <a:rPr sz="800" b="0" i="0">
                <a:solidFill>
                  <a:srgbClr val="6B7785"/>
                </a:solidFill>
                <a:latin typeface="Aptos"/>
                <a:ea typeface="Aptos"/>
                <a:cs typeface="Aptos"/>
              </a:rPr>
              <a:t>Independent reconstruction   29 October 2026</a:t>
            </a:r>
          </a:p>
        </p:txBody>
      </p:sp>
      <p:sp>
        <p:nvSpPr>
          <p:cNvPr id="5" name="TextBox 4"/>
          <p:cNvSpPr txBox="1"/>
          <p:nvPr/>
        </p:nvSpPr>
        <p:spPr>
          <a:xfrm>
            <a:off x="11109960" y="6510528"/>
            <a:ext cx="457200" cy="192024"/>
          </a:xfrm>
          <a:prstGeom prst="rect">
            <a:avLst/>
          </a:prstGeom>
          <a:noFill/>
        </p:spPr>
        <p:txBody>
          <a:bodyPr wrap="square" lIns="36576" rIns="36576" tIns="36576" bIns="36576" anchor="t">
            <a:noAutofit/>
          </a:bodyPr>
          <a:lstStyle/>
          <a:p>
            <a:pPr algn="r"/>
            <a:r>
              <a:rPr sz="800" b="0" i="0">
                <a:solidFill>
                  <a:srgbClr val="6B7785"/>
                </a:solidFill>
                <a:latin typeface="Aptos"/>
                <a:ea typeface="Aptos"/>
                <a:cs typeface="Aptos"/>
              </a:rPr>
              <a:t>16</a:t>
            </a:r>
          </a:p>
        </p:txBody>
      </p:sp>
      <p:graphicFrame>
        <p:nvGraphicFramePr>
          <p:cNvPr id="6" name="Table 5"/>
          <p:cNvGraphicFramePr>
            <a:graphicFrameLocks noGrp="1"/>
          </p:cNvGraphicFramePr>
          <p:nvPr/>
        </p:nvGraphicFramePr>
        <p:xfrm>
          <a:off x="685800" y="1143000"/>
          <a:ext cx="10817352" cy="2286000"/>
        </p:xfrm>
        <a:graphic>
          <a:graphicData uri="http://schemas.openxmlformats.org/drawingml/2006/table">
            <a:tbl>
              <a:tblPr firstRow="1" bandRow="0">
                <a:tableStyleId>{5C22544A-7EE6-4342-B048-85BDC9FD1C3A}</a:tableStyleId>
              </a:tblPr>
              <a:tblGrid>
                <a:gridCol w="1271016"/>
                <a:gridCol w="2788920"/>
                <a:gridCol w="1051560"/>
                <a:gridCol w="914400"/>
                <a:gridCol w="2788920"/>
                <a:gridCol w="1051560"/>
                <a:gridCol w="950976"/>
              </a:tblGrid>
              <a:tr h="457200">
                <a:tc>
                  <a:txBody>
                    <a:bodyPr wrap="square"/>
                    <a:lstStyle/>
                    <a:p>
                      <a:pPr algn="l"/>
                      <a:r>
                        <a:rPr sz="1200" b="1" i="0">
                          <a:solidFill>
                            <a:srgbClr val="FFFFFF"/>
                          </a:solidFill>
                          <a:latin typeface="Aptos"/>
                          <a:ea typeface="Aptos"/>
                          <a:cs typeface="Aptos"/>
                        </a:rPr>
                        <a:t>Accuracy</a:t>
                      </a:r>
                    </a:p>
                  </a:txBody>
                  <a:tcPr marL="73152" marR="73152" marT="27432" marB="27432" anchor="ctr">
                    <a:solidFill>
                      <a:srgbClr val="233142"/>
                    </a:solidFill>
                  </a:tcPr>
                </a:tc>
                <a:tc>
                  <a:txBody>
                    <a:bodyPr wrap="square"/>
                    <a:lstStyle/>
                    <a:p>
                      <a:pPr algn="ctr"/>
                      <a:r>
                        <a:rPr sz="1200" b="1" i="0">
                          <a:solidFill>
                            <a:srgbClr val="FFFFFF"/>
                          </a:solidFill>
                          <a:latin typeface="Aptos"/>
                          <a:ea typeface="Aptos"/>
                          <a:cs typeface="Aptos"/>
                        </a:rPr>
                        <a:t>VM-CA-Bayes − LAVA</a:t>
                      </a:r>
                    </a:p>
                  </a:txBody>
                  <a:tcPr marL="73152" marR="73152" marT="27432" marB="27432" anchor="ctr">
                    <a:solidFill>
                      <a:srgbClr val="233142"/>
                    </a:solidFill>
                  </a:tcPr>
                </a:tc>
                <a:tc>
                  <a:txBody>
                    <a:bodyPr wrap="square"/>
                    <a:lstStyle/>
                    <a:p>
                      <a:pPr algn="ctr"/>
                      <a:r>
                        <a:rPr sz="1200" b="1" i="0">
                          <a:solidFill>
                            <a:srgbClr val="FFFFFF"/>
                          </a:solidFill>
                          <a:latin typeface="Aptos"/>
                          <a:ea typeface="Aptos"/>
                          <a:cs typeface="Aptos"/>
                        </a:rPr>
                        <a:t>Holm p</a:t>
                      </a:r>
                    </a:p>
                  </a:txBody>
                  <a:tcPr marL="73152" marR="73152" marT="27432" marB="27432" anchor="ctr">
                    <a:solidFill>
                      <a:srgbClr val="233142"/>
                    </a:solidFill>
                  </a:tcPr>
                </a:tc>
                <a:tc>
                  <a:txBody>
                    <a:bodyPr wrap="square"/>
                    <a:lstStyle/>
                    <a:p>
                      <a:pPr algn="ctr"/>
                      <a:r>
                        <a:rPr sz="1200" b="1" i="0">
                          <a:solidFill>
                            <a:srgbClr val="FFFFFF"/>
                          </a:solidFill>
                          <a:latin typeface="Aptos"/>
                          <a:ea typeface="Aptos"/>
                          <a:cs typeface="Aptos"/>
                        </a:rPr>
                        <a:t>Holds</a:t>
                      </a:r>
                    </a:p>
                  </a:txBody>
                  <a:tcPr marL="73152" marR="73152" marT="27432" marB="27432" anchor="ctr">
                    <a:solidFill>
                      <a:srgbClr val="233142"/>
                    </a:solidFill>
                  </a:tcPr>
                </a:tc>
                <a:tc>
                  <a:txBody>
                    <a:bodyPr wrap="square"/>
                    <a:lstStyle/>
                    <a:p>
                      <a:pPr algn="ctr"/>
                      <a:r>
                        <a:rPr sz="1200" b="1" i="0">
                          <a:solidFill>
                            <a:srgbClr val="FFFFFF"/>
                          </a:solidFill>
                          <a:latin typeface="Aptos"/>
                          <a:ea typeface="Aptos"/>
                          <a:cs typeface="Aptos"/>
                        </a:rPr>
                        <a:t>VM-CA-Bayes − Best-Fit</a:t>
                      </a:r>
                    </a:p>
                  </a:txBody>
                  <a:tcPr marL="73152" marR="73152" marT="27432" marB="27432" anchor="ctr">
                    <a:solidFill>
                      <a:srgbClr val="233142"/>
                    </a:solidFill>
                  </a:tcPr>
                </a:tc>
                <a:tc>
                  <a:txBody>
                    <a:bodyPr wrap="square"/>
                    <a:lstStyle/>
                    <a:p>
                      <a:pPr algn="ctr"/>
                      <a:r>
                        <a:rPr sz="1200" b="1" i="0">
                          <a:solidFill>
                            <a:srgbClr val="FFFFFF"/>
                          </a:solidFill>
                          <a:latin typeface="Aptos"/>
                          <a:ea typeface="Aptos"/>
                          <a:cs typeface="Aptos"/>
                        </a:rPr>
                        <a:t>Holm p</a:t>
                      </a:r>
                    </a:p>
                  </a:txBody>
                  <a:tcPr marL="73152" marR="73152" marT="27432" marB="27432" anchor="ctr">
                    <a:solidFill>
                      <a:srgbClr val="233142"/>
                    </a:solidFill>
                  </a:tcPr>
                </a:tc>
                <a:tc>
                  <a:txBody>
                    <a:bodyPr wrap="square"/>
                    <a:lstStyle/>
                    <a:p>
                      <a:pPr algn="ctr"/>
                      <a:r>
                        <a:rPr sz="1200" b="1" i="0">
                          <a:solidFill>
                            <a:srgbClr val="FFFFFF"/>
                          </a:solidFill>
                          <a:latin typeface="Aptos"/>
                          <a:ea typeface="Aptos"/>
                          <a:cs typeface="Aptos"/>
                        </a:rPr>
                        <a:t>Holds</a:t>
                      </a:r>
                    </a:p>
                  </a:txBody>
                  <a:tcPr marL="73152" marR="73152" marT="27432" marB="27432" anchor="ctr">
                    <a:solidFill>
                      <a:srgbClr val="233142"/>
                    </a:solidFill>
                  </a:tcPr>
                </a:tc>
              </a:tr>
              <a:tr h="457200">
                <a:tc>
                  <a:txBody>
                    <a:bodyPr wrap="square"/>
                    <a:lstStyle/>
                    <a:p>
                      <a:pPr algn="l"/>
                      <a:r>
                        <a:rPr sz="1300" b="1" i="0">
                          <a:solidFill>
                            <a:srgbClr val="233142"/>
                          </a:solidFill>
                          <a:latin typeface="Aptos"/>
                          <a:ea typeface="Aptos"/>
                          <a:cs typeface="Aptos"/>
                        </a:rPr>
                        <a:t>25%</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+0.224 [+0.174, +0.275]</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&lt;0.001</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yes</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+0.037 [−0.012, +0.086]</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0.14</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no</a:t>
                      </a:r>
                    </a:p>
                  </a:txBody>
                  <a:tcPr marL="73152" marR="73152" marT="27432" marB="27432" anchor="ctr">
                    <a:solidFill>
                      <a:srgbClr val="FFFFFF"/>
                    </a:solidFill>
                  </a:tcPr>
                </a:tc>
              </a:tr>
              <a:tr h="457200">
                <a:tc>
                  <a:txBody>
                    <a:bodyPr wrap="square"/>
                    <a:lstStyle/>
                    <a:p>
                      <a:pPr algn="l"/>
                      <a:r>
                        <a:rPr sz="1300" b="1" i="0">
                          <a:solidFill>
                            <a:srgbClr val="233142"/>
                          </a:solidFill>
                          <a:latin typeface="Aptos"/>
                          <a:ea typeface="Aptos"/>
                          <a:cs typeface="Aptos"/>
                        </a:rPr>
                        <a:t>50%</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+0.147 [+0.088, +0.205]</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&lt;0.001</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yes</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+0.122 [+0.064, +0.180]</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&lt;0.001</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yes</a:t>
                      </a:r>
                    </a:p>
                  </a:txBody>
                  <a:tcPr marL="73152" marR="73152" marT="27432" marB="27432" anchor="ctr">
                    <a:solidFill>
                      <a:srgbClr val="FFFFFF"/>
                    </a:solidFill>
                  </a:tcPr>
                </a:tc>
              </a:tr>
              <a:tr h="457200">
                <a:tc>
                  <a:txBody>
                    <a:bodyPr wrap="square"/>
                    <a:lstStyle/>
                    <a:p>
                      <a:pPr algn="l"/>
                      <a:r>
                        <a:rPr sz="1300" b="1" i="0">
                          <a:solidFill>
                            <a:srgbClr val="233142"/>
                          </a:solidFill>
                          <a:latin typeface="Aptos"/>
                          <a:ea typeface="Aptos"/>
                          <a:cs typeface="Aptos"/>
                        </a:rPr>
                        <a:t>75%</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+0.054 [−0.001, +0.109]</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0.11</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no</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+0.272 [+0.217, +0.327]</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&lt;0.001</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yes</a:t>
                      </a:r>
                    </a:p>
                  </a:txBody>
                  <a:tcPr marL="73152" marR="73152" marT="27432" marB="27432" anchor="ctr">
                    <a:solidFill>
                      <a:srgbClr val="FFFFFF"/>
                    </a:solidFill>
                  </a:tcPr>
                </a:tc>
              </a:tr>
              <a:tr h="457200">
                <a:tc>
                  <a:txBody>
                    <a:bodyPr wrap="square"/>
                    <a:lstStyle/>
                    <a:p>
                      <a:pPr algn="l"/>
                      <a:r>
                        <a:rPr sz="1300" b="1" i="0">
                          <a:solidFill>
                            <a:srgbClr val="233142"/>
                          </a:solidFill>
                          <a:latin typeface="Aptos"/>
                          <a:ea typeface="Aptos"/>
                          <a:cs typeface="Aptos"/>
                        </a:rPr>
                        <a:t>85%</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+0.088 [+0.037, +0.139]</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0.003</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yes</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+0.398 [+0.338, +0.457]</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&lt;0.001</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yes</a:t>
                      </a:r>
                    </a:p>
                  </a:txBody>
                  <a:tcPr marL="73152" marR="73152" marT="27432" marB="27432" anchor="ctr">
                    <a:solidFill>
                      <a:srgbClr val="FFFFFF"/>
                    </a:solidFill>
                  </a:tcPr>
                </a:tc>
              </a:tr>
            </a:tbl>
          </a:graphicData>
        </a:graphic>
      </p:graphicFrame>
      <p:sp>
        <p:nvSpPr>
          <p:cNvPr id="7" name="Rounded Rectangle 6"/>
          <p:cNvSpPr/>
          <p:nvPr/>
        </p:nvSpPr>
        <p:spPr>
          <a:xfrm>
            <a:off x="685800" y="3657600"/>
            <a:ext cx="5303520" cy="1234440"/>
          </a:xfrm>
          <a:prstGeom prst="roundRect">
            <a:avLst>
              <a:gd name="adj" fmla="val 11851"/>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3657600"/>
            <a:ext cx="64008" cy="1234440"/>
          </a:xfrm>
          <a:prstGeom prst="rect">
            <a:avLst/>
          </a:prstGeom>
          <a:solidFill>
            <a:srgbClr val="D98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767328"/>
            <a:ext cx="5010912" cy="365760"/>
          </a:xfrm>
          <a:prstGeom prst="rect">
            <a:avLst/>
          </a:prstGeom>
          <a:noFill/>
        </p:spPr>
        <p:txBody>
          <a:bodyPr wrap="square" lIns="36576" rIns="36576" tIns="36576" bIns="36576" anchor="t">
            <a:noAutofit/>
          </a:bodyPr>
          <a:lstStyle/>
          <a:p>
            <a:pPr algn="l"/>
            <a:r>
              <a:rPr sz="1600" b="1" i="0">
                <a:solidFill>
                  <a:srgbClr val="A85A14"/>
                </a:solidFill>
                <a:latin typeface="Aptos"/>
                <a:ea typeface="Aptos"/>
                <a:cs typeface="Aptos"/>
              </a:rPr>
              <a:t>Not supported vs LAVA at 75%</a:t>
            </a:r>
          </a:p>
        </p:txBody>
      </p:sp>
      <p:sp>
        <p:nvSpPr>
          <p:cNvPr id="10" name="TextBox 9"/>
          <p:cNvSpPr txBox="1"/>
          <p:nvPr/>
        </p:nvSpPr>
        <p:spPr>
          <a:xfrm>
            <a:off x="868680" y="4160520"/>
            <a:ext cx="5010912" cy="66751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+0.054 [−0.001, +0.109] pp: the interval includes zero (Holm p = 0.11).</a:t>
            </a:r>
          </a:p>
        </p:txBody>
      </p:sp>
      <p:sp>
        <p:nvSpPr>
          <p:cNvPr id="11" name="Rounded Rectangle 10"/>
          <p:cNvSpPr/>
          <p:nvPr/>
        </p:nvSpPr>
        <p:spPr>
          <a:xfrm>
            <a:off x="6199632" y="3657600"/>
            <a:ext cx="5303520" cy="1234440"/>
          </a:xfrm>
          <a:prstGeom prst="roundRect">
            <a:avLst>
              <a:gd name="adj" fmla="val 11851"/>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9632" y="3657600"/>
            <a:ext cx="64008" cy="1234440"/>
          </a:xfrm>
          <a:prstGeom prst="rect">
            <a:avLst/>
          </a:prstGeom>
          <a:solidFill>
            <a:srgbClr val="B6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3767328"/>
            <a:ext cx="5010912" cy="365760"/>
          </a:xfrm>
          <a:prstGeom prst="rect">
            <a:avLst/>
          </a:prstGeom>
          <a:noFill/>
        </p:spPr>
        <p:txBody>
          <a:bodyPr wrap="square" lIns="36576" rIns="36576" tIns="36576" bIns="36576" anchor="t">
            <a:noAutofit/>
          </a:bodyPr>
          <a:lstStyle/>
          <a:p>
            <a:pPr algn="l"/>
            <a:r>
              <a:rPr sz="1600" b="1" i="0">
                <a:solidFill>
                  <a:srgbClr val="B64A4A"/>
                </a:solidFill>
                <a:latin typeface="Aptos"/>
                <a:ea typeface="Aptos"/>
                <a:cs typeface="Aptos"/>
              </a:rPr>
              <a:t>Not supported vs Best-Fit at 25%</a:t>
            </a:r>
          </a:p>
        </p:txBody>
      </p:sp>
      <p:sp>
        <p:nvSpPr>
          <p:cNvPr id="14" name="TextBox 13"/>
          <p:cNvSpPr txBox="1"/>
          <p:nvPr/>
        </p:nvSpPr>
        <p:spPr>
          <a:xfrm>
            <a:off x="6382512" y="4160520"/>
            <a:ext cx="5010912" cy="66751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+0.037 [−0.012, +0.086] pp. Secondary, unadjusted: NILAS-Bayes +0.084 (p &lt; 0.001), LAVA-Bayes +0.055 (p = 0.03).</a:t>
            </a:r>
          </a:p>
        </p:txBody>
      </p:sp>
      <p:sp>
        <p:nvSpPr>
          <p:cNvPr id="15" name="TextBox 14"/>
          <p:cNvSpPr txBox="1"/>
          <p:nvPr/>
        </p:nvSpPr>
        <p:spPr>
          <a:xfrm>
            <a:off x="685800" y="5166360"/>
            <a:ext cx="10835640" cy="292608"/>
          </a:xfrm>
          <a:prstGeom prst="rect">
            <a:avLst/>
          </a:prstGeom>
          <a:noFill/>
        </p:spPr>
        <p:txBody>
          <a:bodyPr wrap="square" lIns="36576" rIns="36576" tIns="36576" bIns="36576" anchor="t">
            <a:noAutofit/>
          </a:bodyPr>
          <a:lstStyle/>
          <a:p>
            <a:pPr algn="ctr"/>
            <a:r>
              <a:rPr sz="1200" b="1" i="0">
                <a:solidFill>
                  <a:srgbClr val="5A6573"/>
                </a:solidFill>
                <a:latin typeface="Aptos"/>
                <a:ea typeface="Aptos"/>
                <a:cs typeface="Aptos"/>
              </a:rPr>
              <a:t>Decision rule fixed before testing: mean &gt; 0 and Holm-adjusted p &lt; 0.05. Intervals are unadjusted 95% CIs.</a:t>
            </a:r>
          </a:p>
        </p:txBody>
      </p:sp>
      <p:sp>
        <p:nvSpPr>
          <p:cNvPr id="16" name="TextBox 15"/>
          <p:cNvSpPr txBox="1"/>
          <p:nvPr/>
        </p:nvSpPr>
        <p:spPr>
          <a:xfrm>
            <a:off x="685800" y="5532120"/>
            <a:ext cx="10835640" cy="292608"/>
          </a:xfrm>
          <a:prstGeom prst="rect">
            <a:avLst/>
          </a:prstGeom>
          <a:noFill/>
        </p:spPr>
        <p:txBody>
          <a:bodyPr wrap="square" lIns="36576" rIns="36576" tIns="36576" bIns="36576" anchor="t">
            <a:noAutofit/>
          </a:bodyPr>
          <a:lstStyle/>
          <a:p>
            <a:pPr algn="ctr"/>
            <a:r>
              <a:rPr sz="1200" b="1" i="0">
                <a:solidFill>
                  <a:srgbClr val="5A6573"/>
                </a:solidFill>
                <a:latin typeface="Aptos"/>
                <a:ea typeface="Aptos"/>
                <a:cs typeface="Aptos"/>
              </a:rPr>
              <a:t>Plain LAVA would also pass the Best-Fit tests at 75% and 85%, so those two say little about fusion itself.</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502920" y="320040"/>
            <a:ext cx="502920" cy="256032"/>
          </a:xfrm>
          <a:prstGeom prst="rect">
            <a:avLst/>
          </a:prstGeom>
          <a:noFill/>
        </p:spPr>
        <p:txBody>
          <a:bodyPr wrap="square" lIns="36576" rIns="36576" tIns="36576" bIns="36576" anchor="ctr">
            <a:noAutofit/>
          </a:bodyPr>
          <a:lstStyle/>
          <a:p>
            <a:pPr algn="ctr"/>
            <a:r>
              <a:rPr sz="1200" b="1" i="0">
                <a:solidFill>
                  <a:srgbClr val="A85A14"/>
                </a:solidFill>
                <a:latin typeface="Aptos"/>
                <a:ea typeface="Aptos"/>
                <a:cs typeface="Aptos"/>
              </a:rPr>
              <a:t>17</a:t>
            </a:r>
          </a:p>
        </p:txBody>
      </p:sp>
      <p:sp>
        <p:nvSpPr>
          <p:cNvPr id="3" name="TextBox 2"/>
          <p:cNvSpPr txBox="1"/>
          <p:nvPr/>
        </p:nvSpPr>
        <p:spPr>
          <a:xfrm>
            <a:off x="1005840" y="256032"/>
            <a:ext cx="10561320" cy="466344"/>
          </a:xfrm>
          <a:prstGeom prst="rect">
            <a:avLst/>
          </a:prstGeom>
          <a:noFill/>
        </p:spPr>
        <p:txBody>
          <a:bodyPr wrap="square" lIns="36576" rIns="36576" tIns="36576" bIns="36576" anchor="t">
            <a:noAutofit/>
          </a:bodyPr>
          <a:lstStyle/>
          <a:p>
            <a:pPr algn="l"/>
            <a:r>
              <a:rPr sz="2400" b="1" i="0">
                <a:solidFill>
                  <a:srgbClr val="233142"/>
                </a:solidFill>
                <a:latin typeface="Aptos"/>
                <a:ea typeface="Aptos"/>
                <a:cs typeface="Aptos"/>
              </a:rPr>
              <a:t>Post hoc: the gain comes from the estimate, not the gate</a:t>
            </a:r>
          </a:p>
        </p:txBody>
      </p:sp>
      <p:sp>
        <p:nvSpPr>
          <p:cNvPr id="4" name="TextBox 3"/>
          <p:cNvSpPr txBox="1"/>
          <p:nvPr/>
        </p:nvSpPr>
        <p:spPr>
          <a:xfrm>
            <a:off x="594360" y="6528816"/>
            <a:ext cx="6190488" cy="192024"/>
          </a:xfrm>
          <a:prstGeom prst="rect">
            <a:avLst/>
          </a:prstGeom>
          <a:noFill/>
        </p:spPr>
        <p:txBody>
          <a:bodyPr wrap="square" lIns="36576" rIns="36576" tIns="36576" bIns="36576" anchor="t">
            <a:noAutofit/>
          </a:bodyPr>
          <a:lstStyle/>
          <a:p>
            <a:pPr algn="l"/>
            <a:r>
              <a:rPr sz="800" b="0" i="0">
                <a:solidFill>
                  <a:srgbClr val="6B7785"/>
                </a:solidFill>
                <a:latin typeface="Aptos"/>
                <a:ea typeface="Aptos"/>
                <a:cs typeface="Aptos"/>
              </a:rPr>
              <a:t>Independent reconstruction   29 October 2026</a:t>
            </a:r>
          </a:p>
        </p:txBody>
      </p:sp>
      <p:sp>
        <p:nvSpPr>
          <p:cNvPr id="5" name="TextBox 4"/>
          <p:cNvSpPr txBox="1"/>
          <p:nvPr/>
        </p:nvSpPr>
        <p:spPr>
          <a:xfrm>
            <a:off x="11109960" y="6510528"/>
            <a:ext cx="457200" cy="192024"/>
          </a:xfrm>
          <a:prstGeom prst="rect">
            <a:avLst/>
          </a:prstGeom>
          <a:noFill/>
        </p:spPr>
        <p:txBody>
          <a:bodyPr wrap="square" lIns="36576" rIns="36576" tIns="36576" bIns="36576" anchor="t">
            <a:noAutofit/>
          </a:bodyPr>
          <a:lstStyle/>
          <a:p>
            <a:pPr algn="r"/>
            <a:r>
              <a:rPr sz="800" b="0" i="0">
                <a:solidFill>
                  <a:srgbClr val="6B7785"/>
                </a:solidFill>
                <a:latin typeface="Aptos"/>
                <a:ea typeface="Aptos"/>
                <a:cs typeface="Aptos"/>
              </a:rPr>
              <a:t>17</a:t>
            </a:r>
          </a:p>
        </p:txBody>
      </p:sp>
      <p:graphicFrame>
        <p:nvGraphicFramePr>
          <p:cNvPr id="6" name="Chart 5"/>
          <p:cNvGraphicFramePr>
            <a:graphicFrameLocks noGrp="1"/>
          </p:cNvGraphicFramePr>
          <p:nvPr/>
        </p:nvGraphicFramePr>
        <p:xfrm>
          <a:off x="685800" y="1097280"/>
          <a:ext cx="6675120" cy="4434840"/>
        </p:xfrm>
        <a:graphic>
          <a:graphicData uri="http://schemas.openxmlformats.org/drawingml/2006/chart">
            <c:chart xmlns:c="http://schemas.openxmlformats.org/drawingml/2006/chart" r:id="rId3"/>
          </a:graphicData>
        </a:graphic>
      </p:graphicFrame>
      <p:sp>
        <p:nvSpPr>
          <p:cNvPr id="7" name="Rounded Rectangle 6"/>
          <p:cNvSpPr/>
          <p:nvPr/>
        </p:nvSpPr>
        <p:spPr>
          <a:xfrm>
            <a:off x="7589520" y="1143000"/>
            <a:ext cx="3913632" cy="1371600"/>
          </a:xfrm>
          <a:prstGeom prst="roundRect">
            <a:avLst>
              <a:gd name="adj" fmla="val 10666"/>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589520" y="1143000"/>
            <a:ext cx="64008" cy="1371600"/>
          </a:xfrm>
          <a:prstGeom prst="rect">
            <a:avLst/>
          </a:prstGeom>
          <a:solidFill>
            <a:srgbClr val="3E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0" y="1252728"/>
            <a:ext cx="3621024" cy="365760"/>
          </a:xfrm>
          <a:prstGeom prst="rect">
            <a:avLst/>
          </a:prstGeom>
          <a:noFill/>
        </p:spPr>
        <p:txBody>
          <a:bodyPr wrap="square" lIns="36576" rIns="36576" tIns="36576" bIns="36576" anchor="t">
            <a:noAutofit/>
          </a:bodyPr>
          <a:lstStyle/>
          <a:p>
            <a:pPr algn="l"/>
            <a:r>
              <a:rPr sz="1600" b="1" i="0">
                <a:solidFill>
                  <a:srgbClr val="3E7C59"/>
                </a:solidFill>
                <a:latin typeface="Aptos"/>
                <a:ea typeface="Aptos"/>
                <a:cs typeface="Aptos"/>
              </a:rPr>
              <a:t>Fusion vs its ingredients</a:t>
            </a:r>
          </a:p>
        </p:txBody>
      </p:sp>
      <p:sp>
        <p:nvSpPr>
          <p:cNvPr id="10" name="TextBox 9"/>
          <p:cNvSpPr txBox="1"/>
          <p:nvPr/>
        </p:nvSpPr>
        <p:spPr>
          <a:xfrm>
            <a:off x="7772400" y="1645920"/>
            <a:ext cx="3621024" cy="80467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+0.10 to +0.46 pp over the prior alone; +0.04 to +0.24 over noisy values alone (n.s. at 75%).</a:t>
            </a:r>
          </a:p>
        </p:txBody>
      </p:sp>
      <p:sp>
        <p:nvSpPr>
          <p:cNvPr id="11" name="Rounded Rectangle 10"/>
          <p:cNvSpPr/>
          <p:nvPr/>
        </p:nvSpPr>
        <p:spPr>
          <a:xfrm>
            <a:off x="7589520" y="2697480"/>
            <a:ext cx="3913632" cy="1371600"/>
          </a:xfrm>
          <a:prstGeom prst="roundRect">
            <a:avLst>
              <a:gd name="adj" fmla="val 10666"/>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589520" y="2697480"/>
            <a:ext cx="64008" cy="1371600"/>
          </a:xfrm>
          <a:prstGeom prst="rect">
            <a:avLst/>
          </a:prstGeom>
          <a:solidFill>
            <a:srgbClr val="D98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2807208"/>
            <a:ext cx="3621024" cy="365760"/>
          </a:xfrm>
          <a:prstGeom prst="rect">
            <a:avLst/>
          </a:prstGeom>
          <a:noFill/>
        </p:spPr>
        <p:txBody>
          <a:bodyPr wrap="square" lIns="36576" rIns="36576" tIns="36576" bIns="36576" anchor="t">
            <a:noAutofit/>
          </a:bodyPr>
          <a:lstStyle/>
          <a:p>
            <a:pPr algn="l"/>
            <a:r>
              <a:rPr sz="1600" b="1" i="0">
                <a:solidFill>
                  <a:srgbClr val="A85A14"/>
                </a:solidFill>
                <a:latin typeface="Aptos"/>
                <a:ea typeface="Aptos"/>
                <a:cs typeface="Aptos"/>
              </a:rPr>
              <a:t>Gate on top</a:t>
            </a:r>
          </a:p>
        </p:txBody>
      </p:sp>
      <p:sp>
        <p:nvSpPr>
          <p:cNvPr id="14" name="TextBox 13"/>
          <p:cNvSpPr txBox="1"/>
          <p:nvPr/>
        </p:nvSpPr>
        <p:spPr>
          <a:xfrm>
            <a:off x="7772400" y="3200400"/>
            <a:ext cx="3621024" cy="804672"/>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−0.02 to +0.01 pp; every 95% interval includes zero (half-width ≈ 0.05). The development-seed gain did not replicate.</a:t>
            </a:r>
          </a:p>
        </p:txBody>
      </p:sp>
      <p:sp>
        <p:nvSpPr>
          <p:cNvPr id="15" name="Rounded Rectangle 14"/>
          <p:cNvSpPr/>
          <p:nvPr/>
        </p:nvSpPr>
        <p:spPr>
          <a:xfrm>
            <a:off x="7589520" y="4251960"/>
            <a:ext cx="3913632" cy="1280160"/>
          </a:xfrm>
          <a:prstGeom prst="roundRect">
            <a:avLst>
              <a:gd name="adj" fmla="val 11428"/>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589520" y="4251960"/>
            <a:ext cx="64008" cy="1280160"/>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4361688"/>
            <a:ext cx="3621024" cy="365760"/>
          </a:xfrm>
          <a:prstGeom prst="rect">
            <a:avLst/>
          </a:prstGeom>
          <a:noFill/>
        </p:spPr>
        <p:txBody>
          <a:bodyPr wrap="square" lIns="36576" rIns="36576" tIns="36576" bIns="36576" anchor="t">
            <a:noAutofit/>
          </a:bodyPr>
          <a:lstStyle/>
          <a:p>
            <a:pPr algn="l"/>
            <a:r>
              <a:rPr sz="1600" b="1" i="0">
                <a:solidFill>
                  <a:srgbClr val="2F5D8A"/>
                </a:solidFill>
                <a:latin typeface="Aptos"/>
                <a:ea typeface="Aptos"/>
                <a:cs typeface="Aptos"/>
              </a:rPr>
              <a:t>Weakly selective gate</a:t>
            </a:r>
          </a:p>
        </p:txBody>
      </p:sp>
      <p:sp>
        <p:nvSpPr>
          <p:cNvPr id="18" name="TextBox 17"/>
          <p:cNvSpPr txBox="1"/>
          <p:nvPr/>
        </p:nvSpPr>
        <p:spPr>
          <a:xfrm>
            <a:off x="7772400" y="4754880"/>
            <a:ext cx="3621024" cy="713231"/>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Routes 82–87% of correct and 73–75% of wrong predictions to LAVA.</a:t>
            </a:r>
          </a:p>
        </p:txBody>
      </p:sp>
      <p:sp>
        <p:nvSpPr>
          <p:cNvPr id="19" name="TextBox 18"/>
          <p:cNvSpPr txBox="1"/>
          <p:nvPr/>
        </p:nvSpPr>
        <p:spPr>
          <a:xfrm>
            <a:off x="685800" y="5779008"/>
            <a:ext cx="10835640" cy="292608"/>
          </a:xfrm>
          <a:prstGeom prst="rect">
            <a:avLst/>
          </a:prstGeom>
          <a:noFill/>
        </p:spPr>
        <p:txBody>
          <a:bodyPr wrap="square" lIns="36576" rIns="36576" tIns="36576" bIns="36576" anchor="t">
            <a:noAutofit/>
          </a:bodyPr>
          <a:lstStyle/>
          <a:p>
            <a:pPr algn="ctr"/>
            <a:r>
              <a:rPr sz="1200" b="1" i="0">
                <a:solidFill>
                  <a:srgbClr val="5A6573"/>
                </a:solidFill>
                <a:latin typeface="Aptos"/>
                <a:ea typeface="Aptos"/>
                <a:cs typeface="Aptos"/>
              </a:rPr>
              <a:t>Post hoc, not registered; fresh seeds (n = 100). “Prior alone” = the same seeds under the default predictor.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502920" y="320040"/>
            <a:ext cx="502920" cy="256032"/>
          </a:xfrm>
          <a:prstGeom prst="rect">
            <a:avLst/>
          </a:prstGeom>
          <a:noFill/>
        </p:spPr>
        <p:txBody>
          <a:bodyPr wrap="square" lIns="36576" rIns="36576" tIns="36576" bIns="36576" anchor="ctr">
            <a:noAutofit/>
          </a:bodyPr>
          <a:lstStyle/>
          <a:p>
            <a:pPr algn="ctr"/>
            <a:r>
              <a:rPr sz="1200" b="1" i="0">
                <a:solidFill>
                  <a:srgbClr val="A85A14"/>
                </a:solidFill>
                <a:latin typeface="Aptos"/>
                <a:ea typeface="Aptos"/>
                <a:cs typeface="Aptos"/>
              </a:rPr>
              <a:t>18</a:t>
            </a:r>
          </a:p>
        </p:txBody>
      </p:sp>
      <p:sp>
        <p:nvSpPr>
          <p:cNvPr id="3" name="TextBox 2"/>
          <p:cNvSpPr txBox="1"/>
          <p:nvPr/>
        </p:nvSpPr>
        <p:spPr>
          <a:xfrm>
            <a:off x="1005840" y="256032"/>
            <a:ext cx="10561320" cy="466344"/>
          </a:xfrm>
          <a:prstGeom prst="rect">
            <a:avLst/>
          </a:prstGeom>
          <a:noFill/>
        </p:spPr>
        <p:txBody>
          <a:bodyPr wrap="square" lIns="36576" rIns="36576" tIns="36576" bIns="36576" anchor="t">
            <a:noAutofit/>
          </a:bodyPr>
          <a:lstStyle/>
          <a:p>
            <a:pPr algn="l"/>
            <a:r>
              <a:rPr sz="2400" b="1" i="0">
                <a:solidFill>
                  <a:srgbClr val="233142"/>
                </a:solidFill>
                <a:latin typeface="Aptos"/>
                <a:ea typeface="Aptos"/>
                <a:cs typeface="Aptos"/>
              </a:rPr>
              <a:t>Robustness and the failure mode</a:t>
            </a:r>
          </a:p>
        </p:txBody>
      </p:sp>
      <p:sp>
        <p:nvSpPr>
          <p:cNvPr id="4" name="TextBox 3"/>
          <p:cNvSpPr txBox="1"/>
          <p:nvPr/>
        </p:nvSpPr>
        <p:spPr>
          <a:xfrm>
            <a:off x="594360" y="6528816"/>
            <a:ext cx="6190488" cy="192024"/>
          </a:xfrm>
          <a:prstGeom prst="rect">
            <a:avLst/>
          </a:prstGeom>
          <a:noFill/>
        </p:spPr>
        <p:txBody>
          <a:bodyPr wrap="square" lIns="36576" rIns="36576" tIns="36576" bIns="36576" anchor="t">
            <a:noAutofit/>
          </a:bodyPr>
          <a:lstStyle/>
          <a:p>
            <a:pPr algn="l"/>
            <a:r>
              <a:rPr sz="800" b="0" i="0">
                <a:solidFill>
                  <a:srgbClr val="6B7785"/>
                </a:solidFill>
                <a:latin typeface="Aptos"/>
                <a:ea typeface="Aptos"/>
                <a:cs typeface="Aptos"/>
              </a:rPr>
              <a:t>Independent reconstruction   29 October 2026</a:t>
            </a:r>
          </a:p>
        </p:txBody>
      </p:sp>
      <p:sp>
        <p:nvSpPr>
          <p:cNvPr id="5" name="TextBox 4"/>
          <p:cNvSpPr txBox="1"/>
          <p:nvPr/>
        </p:nvSpPr>
        <p:spPr>
          <a:xfrm>
            <a:off x="11109960" y="6510528"/>
            <a:ext cx="457200" cy="192024"/>
          </a:xfrm>
          <a:prstGeom prst="rect">
            <a:avLst/>
          </a:prstGeom>
          <a:noFill/>
        </p:spPr>
        <p:txBody>
          <a:bodyPr wrap="square" lIns="36576" rIns="36576" tIns="36576" bIns="36576" anchor="t">
            <a:noAutofit/>
          </a:bodyPr>
          <a:lstStyle/>
          <a:p>
            <a:pPr algn="r"/>
            <a:r>
              <a:rPr sz="800" b="0" i="0">
                <a:solidFill>
                  <a:srgbClr val="6B7785"/>
                </a:solidFill>
                <a:latin typeface="Aptos"/>
                <a:ea typeface="Aptos"/>
                <a:cs typeface="Aptos"/>
              </a:rPr>
              <a:t>18</a:t>
            </a:r>
          </a:p>
        </p:txBody>
      </p:sp>
      <p:graphicFrame>
        <p:nvGraphicFramePr>
          <p:cNvPr id="6" name="Table 5"/>
          <p:cNvGraphicFramePr>
            <a:graphicFrameLocks noGrp="1"/>
          </p:cNvGraphicFramePr>
          <p:nvPr/>
        </p:nvGraphicFramePr>
        <p:xfrm>
          <a:off x="685800" y="1097280"/>
          <a:ext cx="7635240" cy="4114800"/>
        </p:xfrm>
        <a:graphic>
          <a:graphicData uri="http://schemas.openxmlformats.org/drawingml/2006/table">
            <a:tbl>
              <a:tblPr firstRow="1" bandRow="0">
                <a:tableStyleId>{5C22544A-7EE6-4342-B048-85BDC9FD1C3A}</a:tableStyleId>
              </a:tblPr>
              <a:tblGrid>
                <a:gridCol w="3429000"/>
                <a:gridCol w="1051560"/>
                <a:gridCol w="1051560"/>
                <a:gridCol w="1051560"/>
                <a:gridCol w="1051560"/>
              </a:tblGrid>
              <a:tr h="457200">
                <a:tc>
                  <a:txBody>
                    <a:bodyPr wrap="square"/>
                    <a:lstStyle/>
                    <a:p>
                      <a:pPr algn="l"/>
                      <a:r>
                        <a:rPr sz="1200" b="1" i="0">
                          <a:solidFill>
                            <a:srgbClr val="FFFFFF"/>
                          </a:solidFill>
                          <a:latin typeface="Aptos"/>
                          <a:ea typeface="Aptos"/>
                          <a:cs typeface="Aptos"/>
                        </a:rPr>
                        <a:t>VM-CA-Bayes − LAVA (pp)</a:t>
                      </a:r>
                    </a:p>
                  </a:txBody>
                  <a:tcPr marL="73152" marR="73152" marT="27432" marB="27432" anchor="ctr">
                    <a:solidFill>
                      <a:srgbClr val="233142"/>
                    </a:solidFill>
                  </a:tcPr>
                </a:tc>
                <a:tc>
                  <a:txBody>
                    <a:bodyPr wrap="square"/>
                    <a:lstStyle/>
                    <a:p>
                      <a:pPr algn="ctr"/>
                      <a:r>
                        <a:rPr sz="1200" b="1" i="0">
                          <a:solidFill>
                            <a:srgbClr val="FFFFFF"/>
                          </a:solidFill>
                          <a:latin typeface="Aptos"/>
                          <a:ea typeface="Aptos"/>
                          <a:cs typeface="Aptos"/>
                        </a:rPr>
                        <a:t>25%</a:t>
                      </a:r>
                    </a:p>
                  </a:txBody>
                  <a:tcPr marL="73152" marR="73152" marT="27432" marB="27432" anchor="ctr">
                    <a:solidFill>
                      <a:srgbClr val="233142"/>
                    </a:solidFill>
                  </a:tcPr>
                </a:tc>
                <a:tc>
                  <a:txBody>
                    <a:bodyPr wrap="square"/>
                    <a:lstStyle/>
                    <a:p>
                      <a:pPr algn="ctr"/>
                      <a:r>
                        <a:rPr sz="1200" b="1" i="0">
                          <a:solidFill>
                            <a:srgbClr val="FFFFFF"/>
                          </a:solidFill>
                          <a:latin typeface="Aptos"/>
                          <a:ea typeface="Aptos"/>
                          <a:cs typeface="Aptos"/>
                        </a:rPr>
                        <a:t>50%</a:t>
                      </a:r>
                    </a:p>
                  </a:txBody>
                  <a:tcPr marL="73152" marR="73152" marT="27432" marB="27432" anchor="ctr">
                    <a:solidFill>
                      <a:srgbClr val="233142"/>
                    </a:solidFill>
                  </a:tcPr>
                </a:tc>
                <a:tc>
                  <a:txBody>
                    <a:bodyPr wrap="square"/>
                    <a:lstStyle/>
                    <a:p>
                      <a:pPr algn="ctr"/>
                      <a:r>
                        <a:rPr sz="1200" b="1" i="0">
                          <a:solidFill>
                            <a:srgbClr val="FFFFFF"/>
                          </a:solidFill>
                          <a:latin typeface="Aptos"/>
                          <a:ea typeface="Aptos"/>
                          <a:cs typeface="Aptos"/>
                        </a:rPr>
                        <a:t>75%</a:t>
                      </a:r>
                    </a:p>
                  </a:txBody>
                  <a:tcPr marL="73152" marR="73152" marT="27432" marB="27432" anchor="ctr">
                    <a:solidFill>
                      <a:srgbClr val="233142"/>
                    </a:solidFill>
                  </a:tcPr>
                </a:tc>
                <a:tc>
                  <a:txBody>
                    <a:bodyPr wrap="square"/>
                    <a:lstStyle/>
                    <a:p>
                      <a:pPr algn="ctr"/>
                      <a:r>
                        <a:rPr sz="1200" b="1" i="0">
                          <a:solidFill>
                            <a:srgbClr val="FFFFFF"/>
                          </a:solidFill>
                          <a:latin typeface="Aptos"/>
                          <a:ea typeface="Aptos"/>
                          <a:cs typeface="Aptos"/>
                        </a:rPr>
                        <a:t>85%</a:t>
                      </a:r>
                    </a:p>
                  </a:txBody>
                  <a:tcPr marL="73152" marR="73152" marT="27432" marB="27432" anchor="ctr">
                    <a:solidFill>
                      <a:srgbClr val="233142"/>
                    </a:solidFill>
                  </a:tcPr>
                </a:tc>
              </a:tr>
              <a:tr h="457200">
                <a:tc>
                  <a:txBody>
                    <a:bodyPr wrap="square"/>
                    <a:lstStyle/>
                    <a:p>
                      <a:pPr algn="l"/>
                      <a:r>
                        <a:rPr sz="1300" b="1" i="0">
                          <a:solidFill>
                            <a:srgbClr val="233142"/>
                          </a:solidFill>
                          <a:latin typeface="Aptos"/>
                          <a:ea typeface="Aptos"/>
                          <a:cs typeface="Aptos"/>
                        </a:rPr>
                        <a:t>Protocol, same seeds</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+0.225</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+0.185</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+0.113</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+0.127</a:t>
                      </a:r>
                    </a:p>
                  </a:txBody>
                  <a:tcPr marL="73152" marR="73152" marT="27432" marB="27432" anchor="ctr">
                    <a:solidFill>
                      <a:srgbClr val="BFE3C9"/>
                    </a:solidFill>
                  </a:tcPr>
                </a:tc>
              </a:tr>
              <a:tr h="457200">
                <a:tc>
                  <a:txBody>
                    <a:bodyPr wrap="square"/>
                    <a:lstStyle/>
                    <a:p>
                      <a:pPr algn="l"/>
                      <a:r>
                        <a:rPr sz="1300" b="1" i="0">
                          <a:solidFill>
                            <a:srgbClr val="233142"/>
                          </a:solidFill>
                          <a:latin typeface="Aptos"/>
                          <a:ea typeface="Aptos"/>
                          <a:cs typeface="Aptos"/>
                        </a:rPr>
                        <a:t>Incorrect bucket σ = 1</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+0.024</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+0.102</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+0.025</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+0.093</a:t>
                      </a:r>
                    </a:p>
                  </a:txBody>
                  <a:tcPr marL="73152" marR="73152" marT="27432" marB="27432" anchor="ctr">
                    <a:solidFill>
                      <a:srgbClr val="BFE3C9"/>
                    </a:solidFill>
                  </a:tcPr>
                </a:tc>
              </a:tr>
              <a:tr h="457200">
                <a:tc>
                  <a:txBody>
                    <a:bodyPr wrap="square"/>
                    <a:lstStyle/>
                    <a:p>
                      <a:pPr algn="l"/>
                      <a:r>
                        <a:rPr sz="1300" b="1" i="0">
                          <a:solidFill>
                            <a:srgbClr val="233142"/>
                          </a:solidFill>
                          <a:latin typeface="Aptos"/>
                          <a:ea typeface="Aptos"/>
                          <a:cs typeface="Aptos"/>
                        </a:rPr>
                        <a:t>Incorrect bucket σ = 0.5</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+0.070</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+0.062</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+0.037</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+0.092</a:t>
                      </a:r>
                    </a:p>
                  </a:txBody>
                  <a:tcPr marL="73152" marR="73152" marT="27432" marB="27432" anchor="ctr">
                    <a:solidFill>
                      <a:srgbClr val="BFE3C9"/>
                    </a:solidFill>
                  </a:tcPr>
                </a:tc>
              </a:tr>
              <a:tr h="457200">
                <a:tc>
                  <a:txBody>
                    <a:bodyPr wrap="square"/>
                    <a:lstStyle/>
                    <a:p>
                      <a:pPr algn="l"/>
                      <a:r>
                        <a:rPr sz="1300" b="1" i="0">
                          <a:solidFill>
                            <a:srgbClr val="233142"/>
                          </a:solidFill>
                          <a:latin typeface="Aptos"/>
                          <a:ea typeface="Aptos"/>
                          <a:cs typeface="Aptos"/>
                        </a:rPr>
                        <a:t>Fusion assumes σ = 3 (true 1)</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+0.083</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+0.074</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+0.002</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+0.066</a:t>
                      </a:r>
                    </a:p>
                  </a:txBody>
                  <a:tcPr marL="73152" marR="73152" marT="27432" marB="27432" anchor="ctr">
                    <a:solidFill>
                      <a:srgbClr val="FFFFFF"/>
                    </a:solidFill>
                  </a:tcPr>
                </a:tc>
              </a:tr>
              <a:tr h="457200">
                <a:tc>
                  <a:txBody>
                    <a:bodyPr wrap="square"/>
                    <a:lstStyle/>
                    <a:p>
                      <a:pPr algn="l"/>
                      <a:r>
                        <a:rPr sz="1300" b="1" i="0">
                          <a:solidFill>
                            <a:srgbClr val="233142"/>
                          </a:solidFill>
                          <a:latin typeface="Aptos"/>
                          <a:ea typeface="Aptos"/>
                          <a:cs typeface="Aptos"/>
                        </a:rPr>
                        <a:t>Fusion assumes σ = 1 (true 3)</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+0.168</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+0.173</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+0.109</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+0.069</a:t>
                      </a:r>
                    </a:p>
                  </a:txBody>
                  <a:tcPr marL="73152" marR="73152" marT="27432" marB="27432" anchor="ctr">
                    <a:solidFill>
                      <a:srgbClr val="FFFFFF"/>
                    </a:solidFill>
                  </a:tcPr>
                </a:tc>
              </a:tr>
              <a:tr h="457200">
                <a:tc>
                  <a:txBody>
                    <a:bodyPr wrap="square"/>
                    <a:lstStyle/>
                    <a:p>
                      <a:pPr algn="l"/>
                      <a:r>
                        <a:rPr sz="1300" b="1" i="0">
                          <a:solidFill>
                            <a:srgbClr val="233142"/>
                          </a:solidFill>
                          <a:latin typeface="Aptos"/>
                          <a:ea typeface="Aptos"/>
                          <a:cs typeface="Aptos"/>
                        </a:rPr>
                        <a:t>Prior means × 0.5</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+0.267</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+0.135</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−0.033</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−0.116</a:t>
                      </a:r>
                    </a:p>
                  </a:txBody>
                  <a:tcPr marL="73152" marR="73152" marT="27432" marB="27432" anchor="ctr">
                    <a:solidFill>
                      <a:srgbClr val="F2C4C1"/>
                    </a:solidFill>
                  </a:tcPr>
                </a:tc>
              </a:tr>
              <a:tr h="457200">
                <a:tc>
                  <a:txBody>
                    <a:bodyPr wrap="square"/>
                    <a:lstStyle/>
                    <a:p>
                      <a:pPr algn="l"/>
                      <a:r>
                        <a:rPr sz="1300" b="1" i="0">
                          <a:solidFill>
                            <a:srgbClr val="233142"/>
                          </a:solidFill>
                          <a:latin typeface="Aptos"/>
                          <a:ea typeface="Aptos"/>
                          <a:cs typeface="Aptos"/>
                        </a:rPr>
                        <a:t>Prior means × 2</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+0.223</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+0.215</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+0.149</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+0.112</a:t>
                      </a:r>
                    </a:p>
                  </a:txBody>
                  <a:tcPr marL="73152" marR="73152" marT="27432" marB="27432" anchor="ctr">
                    <a:solidFill>
                      <a:srgbClr val="BFE3C9"/>
                    </a:solidFill>
                  </a:tcPr>
                </a:tc>
              </a:tr>
              <a:tr h="457200">
                <a:tc>
                  <a:txBody>
                    <a:bodyPr wrap="square"/>
                    <a:lstStyle/>
                    <a:p>
                      <a:pPr algn="l"/>
                      <a:r>
                        <a:rPr sz="1300" b="1" i="0">
                          <a:solidFill>
                            <a:srgbClr val="233142"/>
                          </a:solidFill>
                          <a:latin typeface="Aptos"/>
                          <a:ea typeface="Aptos"/>
                          <a:cs typeface="Aptos"/>
                        </a:rPr>
                        <a:t>Arrival rate × 2</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+0.476</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+0.271</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+0.177</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+0.101</a:t>
                      </a:r>
                    </a:p>
                  </a:txBody>
                  <a:tcPr marL="73152" marR="73152" marT="27432" marB="27432" anchor="ctr">
                    <a:solidFill>
                      <a:srgbClr val="FFFFFF"/>
                    </a:solidFill>
                  </a:tcPr>
                </a:tc>
              </a:tr>
            </a:tbl>
          </a:graphicData>
        </a:graphic>
      </p:graphicFrame>
      <p:sp>
        <p:nvSpPr>
          <p:cNvPr id="7" name="Rounded Rectangle 6"/>
          <p:cNvSpPr/>
          <p:nvPr/>
        </p:nvSpPr>
        <p:spPr>
          <a:xfrm>
            <a:off x="8641080" y="1097280"/>
            <a:ext cx="2862072" cy="1371600"/>
          </a:xfrm>
          <a:prstGeom prst="roundRect">
            <a:avLst>
              <a:gd name="adj" fmla="val 10666"/>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641080" y="1097280"/>
            <a:ext cx="64008" cy="1371600"/>
          </a:xfrm>
          <a:prstGeom prst="rect">
            <a:avLst/>
          </a:prstGeom>
          <a:solidFill>
            <a:srgbClr val="B6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23959" y="1207007"/>
            <a:ext cx="2569464" cy="365760"/>
          </a:xfrm>
          <a:prstGeom prst="rect">
            <a:avLst/>
          </a:prstGeom>
          <a:noFill/>
        </p:spPr>
        <p:txBody>
          <a:bodyPr wrap="square" lIns="36576" rIns="36576" tIns="36576" bIns="36576" anchor="t">
            <a:noAutofit/>
          </a:bodyPr>
          <a:lstStyle/>
          <a:p>
            <a:pPr algn="l"/>
            <a:r>
              <a:rPr sz="1600" b="1" i="0">
                <a:solidFill>
                  <a:srgbClr val="B64A4A"/>
                </a:solidFill>
                <a:latin typeface="Aptos"/>
                <a:ea typeface="Aptos"/>
                <a:cs typeface="Aptos"/>
              </a:rPr>
              <a:t>Failure mode: short prior</a:t>
            </a:r>
          </a:p>
        </p:txBody>
      </p:sp>
      <p:sp>
        <p:nvSpPr>
          <p:cNvPr id="10" name="TextBox 9"/>
          <p:cNvSpPr txBox="1"/>
          <p:nvPr/>
        </p:nvSpPr>
        <p:spPr>
          <a:xfrm>
            <a:off x="8823959" y="1600200"/>
            <a:ext cx="2569464" cy="804672"/>
          </a:xfrm>
          <a:prstGeom prst="rect">
            <a:avLst/>
          </a:prstGeom>
          <a:noFill/>
        </p:spPr>
        <p:txBody>
          <a:bodyPr wrap="square" lIns="36576" rIns="36576" tIns="36576" bIns="36576" anchor="t">
            <a:noAutofit/>
          </a:bodyPr>
          <a:lstStyle/>
          <a:p>
            <a:pPr algn="l"/>
            <a:r>
              <a:rPr sz="1250" b="0" i="0">
                <a:solidFill>
                  <a:srgbClr val="233142"/>
                </a:solidFill>
                <a:latin typeface="Aptos"/>
                <a:ea typeface="Aptos"/>
                <a:cs typeface="Aptos"/>
              </a:rPr>
              <a:t>Prior means × 0.5 at 85% is the only significantly negative cell (−0.116 pp; 1 of 32).</a:t>
            </a:r>
          </a:p>
        </p:txBody>
      </p:sp>
      <p:sp>
        <p:nvSpPr>
          <p:cNvPr id="11" name="Rounded Rectangle 10"/>
          <p:cNvSpPr/>
          <p:nvPr/>
        </p:nvSpPr>
        <p:spPr>
          <a:xfrm>
            <a:off x="8641080" y="2624328"/>
            <a:ext cx="2862072" cy="1371600"/>
          </a:xfrm>
          <a:prstGeom prst="roundRect">
            <a:avLst>
              <a:gd name="adj" fmla="val 10666"/>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41080" y="2624328"/>
            <a:ext cx="64008" cy="1371600"/>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23959" y="2734056"/>
            <a:ext cx="2569464" cy="365760"/>
          </a:xfrm>
          <a:prstGeom prst="rect">
            <a:avLst/>
          </a:prstGeom>
          <a:noFill/>
        </p:spPr>
        <p:txBody>
          <a:bodyPr wrap="square" lIns="36576" rIns="36576" tIns="36576" bIns="36576" anchor="t">
            <a:noAutofit/>
          </a:bodyPr>
          <a:lstStyle/>
          <a:p>
            <a:pPr algn="l"/>
            <a:r>
              <a:rPr sz="1600" b="1" i="0">
                <a:solidFill>
                  <a:srgbClr val="2F5D8A"/>
                </a:solidFill>
                <a:latin typeface="Aptos"/>
                <a:ea typeface="Aptos"/>
                <a:cs typeface="Aptos"/>
              </a:rPr>
              <a:t>Load × 2 (16 VMs/h)</a:t>
            </a:r>
          </a:p>
        </p:txBody>
      </p:sp>
      <p:sp>
        <p:nvSpPr>
          <p:cNvPr id="14" name="TextBox 13"/>
          <p:cNvSpPr txBox="1"/>
          <p:nvPr/>
        </p:nvSpPr>
        <p:spPr>
          <a:xfrm>
            <a:off x="8823959" y="3127248"/>
            <a:ext cx="2569464" cy="804672"/>
          </a:xfrm>
          <a:prstGeom prst="rect">
            <a:avLst/>
          </a:prstGeom>
          <a:noFill/>
        </p:spPr>
        <p:txBody>
          <a:bodyPr wrap="square" lIns="36576" rIns="36576" tIns="36576" bIns="36576" anchor="t">
            <a:noAutofit/>
          </a:bodyPr>
          <a:lstStyle/>
          <a:p>
            <a:pPr algn="l"/>
            <a:r>
              <a:rPr sz="1250" b="0" i="0">
                <a:solidFill>
                  <a:srgbClr val="233142"/>
                </a:solidFill>
                <a:latin typeface="Aptos"/>
                <a:ea typeface="Aptos"/>
                <a:cs typeface="Aptos"/>
              </a:rPr>
              <a:t>Gain over LAVA rises to +0.476, +0.271, +0.177 pp at 25%, 50% and 75%.</a:t>
            </a:r>
          </a:p>
        </p:txBody>
      </p:sp>
      <p:sp>
        <p:nvSpPr>
          <p:cNvPr id="15" name="Rounded Rectangle 14"/>
          <p:cNvSpPr/>
          <p:nvPr/>
        </p:nvSpPr>
        <p:spPr>
          <a:xfrm>
            <a:off x="8641080" y="4151376"/>
            <a:ext cx="2862072" cy="1371600"/>
          </a:xfrm>
          <a:prstGeom prst="roundRect">
            <a:avLst>
              <a:gd name="adj" fmla="val 10666"/>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641080" y="4151376"/>
            <a:ext cx="64008" cy="1371600"/>
          </a:xfrm>
          <a:prstGeom prst="rect">
            <a:avLst/>
          </a:prstGeom>
          <a:solidFill>
            <a:srgbClr val="D98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23959" y="4261104"/>
            <a:ext cx="2569464" cy="365760"/>
          </a:xfrm>
          <a:prstGeom prst="rect">
            <a:avLst/>
          </a:prstGeom>
          <a:noFill/>
        </p:spPr>
        <p:txBody>
          <a:bodyPr wrap="square" lIns="36576" rIns="36576" tIns="36576" bIns="36576" anchor="t">
            <a:noAutofit/>
          </a:bodyPr>
          <a:lstStyle/>
          <a:p>
            <a:pPr algn="l"/>
            <a:r>
              <a:rPr sz="1600" b="1" i="0">
                <a:solidFill>
                  <a:srgbClr val="A85A14"/>
                </a:solidFill>
                <a:latin typeface="Aptos"/>
                <a:ea typeface="Aptos"/>
                <a:cs typeface="Aptos"/>
              </a:rPr>
              <a:t>Threshold τ</a:t>
            </a:r>
          </a:p>
        </p:txBody>
      </p:sp>
      <p:sp>
        <p:nvSpPr>
          <p:cNvPr id="18" name="TextBox 17"/>
          <p:cNvSpPr txBox="1"/>
          <p:nvPr/>
        </p:nvSpPr>
        <p:spPr>
          <a:xfrm>
            <a:off x="8823959" y="4654296"/>
            <a:ext cx="2569464" cy="804672"/>
          </a:xfrm>
          <a:prstGeom prst="rect">
            <a:avLst/>
          </a:prstGeom>
          <a:noFill/>
        </p:spPr>
        <p:txBody>
          <a:bodyPr wrap="square" lIns="36576" rIns="36576" tIns="36576" bIns="36576" anchor="t">
            <a:noAutofit/>
          </a:bodyPr>
          <a:lstStyle/>
          <a:p>
            <a:pPr algn="l"/>
            <a:r>
              <a:rPr sz="1250" b="0" i="0">
                <a:solidFill>
                  <a:srgbClr val="233142"/>
                </a:solidFill>
                <a:latin typeface="Aptos"/>
                <a:ea typeface="Aptos"/>
                <a:cs typeface="Aptos"/>
              </a:rPr>
              <a:t>0.1–0.5: positive mean at every accuracy; τ ≥ 0.7 loses the gain at 50–85% (backup slide).</a:t>
            </a:r>
          </a:p>
        </p:txBody>
      </p:sp>
      <p:sp>
        <p:nvSpPr>
          <p:cNvPr id="19" name="TextBox 18"/>
          <p:cNvSpPr txBox="1"/>
          <p:nvPr/>
        </p:nvSpPr>
        <p:spPr>
          <a:xfrm>
            <a:off x="685800" y="5669280"/>
            <a:ext cx="10835640" cy="292608"/>
          </a:xfrm>
          <a:prstGeom prst="rect">
            <a:avLst/>
          </a:prstGeom>
          <a:noFill/>
        </p:spPr>
        <p:txBody>
          <a:bodyPr wrap="square" lIns="36576" rIns="36576" tIns="36576" bIns="36576" anchor="t">
            <a:noAutofit/>
          </a:bodyPr>
          <a:lstStyle/>
          <a:p>
            <a:pPr algn="ctr"/>
            <a:r>
              <a:rPr sz="1200" b="1" i="0">
                <a:solidFill>
                  <a:srgbClr val="5A6573"/>
                </a:solidFill>
                <a:latin typeface="Aptos"/>
                <a:ea typeface="Aptos"/>
                <a:cs typeface="Aptos"/>
              </a:rPr>
              <a:t>Seeds 2000–2049 (n = 50), descriptive. Green / red: 95% interval above / below zero.</a:t>
            </a:r>
          </a:p>
        </p:txBody>
      </p:sp>
      <p:sp>
        <p:nvSpPr>
          <p:cNvPr id="20" name="TextBox 19"/>
          <p:cNvSpPr txBox="1"/>
          <p:nvPr/>
        </p:nvSpPr>
        <p:spPr>
          <a:xfrm>
            <a:off x="685800" y="5989320"/>
            <a:ext cx="10835640" cy="292608"/>
          </a:xfrm>
          <a:prstGeom prst="rect">
            <a:avLst/>
          </a:prstGeom>
          <a:noFill/>
        </p:spPr>
        <p:txBody>
          <a:bodyPr wrap="square" lIns="36576" rIns="36576" tIns="36576" bIns="36576" anchor="t">
            <a:noAutofit/>
          </a:bodyPr>
          <a:lstStyle/>
          <a:p>
            <a:pPr algn="ctr"/>
            <a:r>
              <a:rPr sz="1200" b="1" i="0">
                <a:solidFill>
                  <a:srgbClr val="5A6573"/>
                </a:solidFill>
                <a:latin typeface="Aptos"/>
                <a:ea typeface="Aptos"/>
                <a:cs typeface="Aptos"/>
              </a:rPr>
              <a:t>Same-seed control and load × 2 were added after review; the registered 90-host variant only rescales the 180-host run and is omitted.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502920" y="320040"/>
            <a:ext cx="502920" cy="256032"/>
          </a:xfrm>
          <a:prstGeom prst="rect">
            <a:avLst/>
          </a:prstGeom>
          <a:noFill/>
        </p:spPr>
        <p:txBody>
          <a:bodyPr wrap="square" lIns="36576" rIns="36576" tIns="36576" bIns="36576" anchor="ctr">
            <a:noAutofit/>
          </a:bodyPr>
          <a:lstStyle/>
          <a:p>
            <a:pPr algn="ctr"/>
            <a:r>
              <a:rPr sz="1200" b="1" i="0">
                <a:solidFill>
                  <a:srgbClr val="A85A14"/>
                </a:solidFill>
                <a:latin typeface="Aptos"/>
                <a:ea typeface="Aptos"/>
                <a:cs typeface="Aptos"/>
              </a:rPr>
              <a:t>19</a:t>
            </a:r>
          </a:p>
        </p:txBody>
      </p:sp>
      <p:sp>
        <p:nvSpPr>
          <p:cNvPr id="3" name="TextBox 2"/>
          <p:cNvSpPr txBox="1"/>
          <p:nvPr/>
        </p:nvSpPr>
        <p:spPr>
          <a:xfrm>
            <a:off x="1005840" y="256032"/>
            <a:ext cx="10561320" cy="466344"/>
          </a:xfrm>
          <a:prstGeom prst="rect">
            <a:avLst/>
          </a:prstGeom>
          <a:noFill/>
        </p:spPr>
        <p:txBody>
          <a:bodyPr wrap="square" lIns="36576" rIns="36576" tIns="36576" bIns="36576" anchor="t">
            <a:noAutofit/>
          </a:bodyPr>
          <a:lstStyle/>
          <a:p>
            <a:pPr algn="l"/>
            <a:r>
              <a:rPr sz="2400" b="1" i="0">
                <a:solidFill>
                  <a:srgbClr val="233142"/>
                </a:solidFill>
                <a:latin typeface="Aptos"/>
                <a:ea typeface="Aptos"/>
                <a:cs typeface="Aptos"/>
              </a:rPr>
              <a:t>Findings and limits</a:t>
            </a:r>
          </a:p>
        </p:txBody>
      </p:sp>
      <p:sp>
        <p:nvSpPr>
          <p:cNvPr id="4" name="TextBox 3"/>
          <p:cNvSpPr txBox="1"/>
          <p:nvPr/>
        </p:nvSpPr>
        <p:spPr>
          <a:xfrm>
            <a:off x="594360" y="6528816"/>
            <a:ext cx="6190488" cy="192024"/>
          </a:xfrm>
          <a:prstGeom prst="rect">
            <a:avLst/>
          </a:prstGeom>
          <a:noFill/>
        </p:spPr>
        <p:txBody>
          <a:bodyPr wrap="square" lIns="36576" rIns="36576" tIns="36576" bIns="36576" anchor="t">
            <a:noAutofit/>
          </a:bodyPr>
          <a:lstStyle/>
          <a:p>
            <a:pPr algn="l"/>
            <a:r>
              <a:rPr sz="800" b="0" i="0">
                <a:solidFill>
                  <a:srgbClr val="6B7785"/>
                </a:solidFill>
                <a:latin typeface="Aptos"/>
                <a:ea typeface="Aptos"/>
                <a:cs typeface="Aptos"/>
              </a:rPr>
              <a:t>Independent reconstruction   29 October 2026</a:t>
            </a:r>
          </a:p>
        </p:txBody>
      </p:sp>
      <p:sp>
        <p:nvSpPr>
          <p:cNvPr id="5" name="TextBox 4"/>
          <p:cNvSpPr txBox="1"/>
          <p:nvPr/>
        </p:nvSpPr>
        <p:spPr>
          <a:xfrm>
            <a:off x="11109960" y="6510528"/>
            <a:ext cx="457200" cy="192024"/>
          </a:xfrm>
          <a:prstGeom prst="rect">
            <a:avLst/>
          </a:prstGeom>
          <a:noFill/>
        </p:spPr>
        <p:txBody>
          <a:bodyPr wrap="square" lIns="36576" rIns="36576" tIns="36576" bIns="36576" anchor="t">
            <a:noAutofit/>
          </a:bodyPr>
          <a:lstStyle/>
          <a:p>
            <a:pPr algn="r"/>
            <a:r>
              <a:rPr sz="800" b="0" i="0">
                <a:solidFill>
                  <a:srgbClr val="6B7785"/>
                </a:solidFill>
                <a:latin typeface="Aptos"/>
                <a:ea typeface="Aptos"/>
                <a:cs typeface="Aptos"/>
              </a:rPr>
              <a:t>19</a:t>
            </a:r>
          </a:p>
        </p:txBody>
      </p:sp>
      <p:sp>
        <p:nvSpPr>
          <p:cNvPr id="6" name="TextBox 5"/>
          <p:cNvSpPr txBox="1"/>
          <p:nvPr/>
        </p:nvSpPr>
        <p:spPr>
          <a:xfrm>
            <a:off x="685800" y="1051560"/>
            <a:ext cx="6309360" cy="411480"/>
          </a:xfrm>
          <a:prstGeom prst="rect">
            <a:avLst/>
          </a:prstGeom>
          <a:noFill/>
        </p:spPr>
        <p:txBody>
          <a:bodyPr wrap="square" lIns="36576" rIns="36576" tIns="36576" bIns="36576" anchor="t">
            <a:noAutofit/>
          </a:bodyPr>
          <a:lstStyle/>
          <a:p>
            <a:pPr algn="l"/>
            <a:r>
              <a:rPr sz="2000" b="1" i="0">
                <a:solidFill>
                  <a:srgbClr val="2F5D8A"/>
                </a:solidFill>
                <a:latin typeface="Aptos"/>
                <a:ea typeface="Aptos"/>
                <a:cs typeface="Aptos"/>
              </a:rPr>
              <a:t>What we found</a:t>
            </a:r>
          </a:p>
        </p:txBody>
      </p:sp>
      <p:sp>
        <p:nvSpPr>
          <p:cNvPr id="7" name="Rounded Rectangle 6"/>
          <p:cNvSpPr/>
          <p:nvPr/>
        </p:nvSpPr>
        <p:spPr>
          <a:xfrm>
            <a:off x="685800" y="1554480"/>
            <a:ext cx="6309360" cy="1161288"/>
          </a:xfrm>
          <a:prstGeom prst="roundRect">
            <a:avLst>
              <a:gd name="adj" fmla="val 12598"/>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554480"/>
            <a:ext cx="64008" cy="1161288"/>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7"/>
            <a:ext cx="6016752" cy="365760"/>
          </a:xfrm>
          <a:prstGeom prst="rect">
            <a:avLst/>
          </a:prstGeom>
          <a:noFill/>
        </p:spPr>
        <p:txBody>
          <a:bodyPr wrap="square" lIns="36576" rIns="36576" tIns="36576" bIns="36576" anchor="t">
            <a:noAutofit/>
          </a:bodyPr>
          <a:lstStyle/>
          <a:p>
            <a:pPr algn="l"/>
            <a:r>
              <a:rPr sz="1600" b="1" i="0">
                <a:solidFill>
                  <a:srgbClr val="2F5D8A"/>
                </a:solidFill>
                <a:latin typeface="Aptos"/>
                <a:ea typeface="Aptos"/>
                <a:cs typeface="Aptos"/>
              </a:rPr>
              <a:t>RQ1: prediction quality is first-order</a:t>
            </a:r>
          </a:p>
        </p:txBody>
      </p:sp>
      <p:sp>
        <p:nvSpPr>
          <p:cNvPr id="10" name="TextBox 9"/>
          <p:cNvSpPr txBox="1"/>
          <p:nvPr/>
        </p:nvSpPr>
        <p:spPr>
          <a:xfrm>
            <a:off x="868680" y="2057400"/>
            <a:ext cx="6016752" cy="594360"/>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LAVA moves from −0.187 to +0.507 pp between 25% and 100% accuracy.</a:t>
            </a:r>
          </a:p>
        </p:txBody>
      </p:sp>
      <p:sp>
        <p:nvSpPr>
          <p:cNvPr id="11" name="Rounded Rectangle 10"/>
          <p:cNvSpPr/>
          <p:nvPr/>
        </p:nvSpPr>
        <p:spPr>
          <a:xfrm>
            <a:off x="685800" y="2852928"/>
            <a:ext cx="6309360" cy="1161288"/>
          </a:xfrm>
          <a:prstGeom prst="roundRect">
            <a:avLst>
              <a:gd name="adj" fmla="val 12598"/>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2852928"/>
            <a:ext cx="64008" cy="1161288"/>
          </a:xfrm>
          <a:prstGeom prst="rect">
            <a:avLst/>
          </a:prstGeom>
          <a:solidFill>
            <a:srgbClr val="D98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962656"/>
            <a:ext cx="6016752" cy="365760"/>
          </a:xfrm>
          <a:prstGeom prst="rect">
            <a:avLst/>
          </a:prstGeom>
          <a:noFill/>
        </p:spPr>
        <p:txBody>
          <a:bodyPr wrap="square" lIns="36576" rIns="36576" tIns="36576" bIns="36576" anchor="t">
            <a:noAutofit/>
          </a:bodyPr>
          <a:lstStyle/>
          <a:p>
            <a:pPr algn="l"/>
            <a:r>
              <a:rPr sz="1600" b="1" i="0">
                <a:solidFill>
                  <a:srgbClr val="A85A14"/>
                </a:solidFill>
                <a:latin typeface="Aptos"/>
                <a:ea typeface="Aptos"/>
                <a:cs typeface="Aptos"/>
              </a:rPr>
              <a:t>RQ2: a diagnostic negative result</a:t>
            </a:r>
          </a:p>
        </p:txBody>
      </p:sp>
      <p:sp>
        <p:nvSpPr>
          <p:cNvPr id="14" name="TextBox 13"/>
          <p:cNvSpPr txBox="1"/>
          <p:nvPr/>
        </p:nvSpPr>
        <p:spPr>
          <a:xfrm>
            <a:off x="868680" y="3355848"/>
            <a:ext cx="6016752" cy="594360"/>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Inverted confidence, a blind gate and the cost of isolation each contribute to the missing gain.</a:t>
            </a:r>
          </a:p>
        </p:txBody>
      </p:sp>
      <p:sp>
        <p:nvSpPr>
          <p:cNvPr id="15" name="Rounded Rectangle 14"/>
          <p:cNvSpPr/>
          <p:nvPr/>
        </p:nvSpPr>
        <p:spPr>
          <a:xfrm>
            <a:off x="685800" y="4151376"/>
            <a:ext cx="6309360" cy="1161288"/>
          </a:xfrm>
          <a:prstGeom prst="roundRect">
            <a:avLst>
              <a:gd name="adj" fmla="val 12598"/>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4151376"/>
            <a:ext cx="64008" cy="1161288"/>
          </a:xfrm>
          <a:prstGeom prst="rect">
            <a:avLst/>
          </a:prstGeom>
          <a:solidFill>
            <a:srgbClr val="3E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261104"/>
            <a:ext cx="6016752" cy="365760"/>
          </a:xfrm>
          <a:prstGeom prst="rect">
            <a:avLst/>
          </a:prstGeom>
          <a:noFill/>
        </p:spPr>
        <p:txBody>
          <a:bodyPr wrap="square" lIns="36576" rIns="36576" tIns="36576" bIns="36576" anchor="t">
            <a:noAutofit/>
          </a:bodyPr>
          <a:lstStyle/>
          <a:p>
            <a:pPr algn="l"/>
            <a:r>
              <a:rPr sz="1600" b="1" i="0">
                <a:solidFill>
                  <a:srgbClr val="3E7C59"/>
                </a:solidFill>
                <a:latin typeface="Aptos"/>
                <a:ea typeface="Aptos"/>
                <a:cs typeface="Aptos"/>
              </a:rPr>
              <a:t>RQ3: prior fusion works</a:t>
            </a:r>
          </a:p>
        </p:txBody>
      </p:sp>
      <p:sp>
        <p:nvSpPr>
          <p:cNvPr id="18" name="TextBox 17"/>
          <p:cNvSpPr txBox="1"/>
          <p:nvPr/>
        </p:nvSpPr>
        <p:spPr>
          <a:xfrm>
            <a:off x="868680" y="4654296"/>
            <a:ext cx="6016752" cy="594360"/>
          </a:xfrm>
          <a:prstGeom prst="rect">
            <a:avLst/>
          </a:prstGeom>
          <a:noFill/>
        </p:spPr>
        <p:txBody>
          <a:bodyPr wrap="square" lIns="36576" rIns="36576" tIns="36576" bIns="36576" anchor="t">
            <a:noAutofit/>
          </a:bodyPr>
          <a:lstStyle/>
          <a:p>
            <a:pPr algn="l"/>
            <a:r>
              <a:rPr sz="1300" b="0" i="0">
                <a:solidFill>
                  <a:srgbClr val="233142"/>
                </a:solidFill>
                <a:latin typeface="Aptos"/>
                <a:ea typeface="Aptos"/>
                <a:cs typeface="Aptos"/>
              </a:rPr>
              <a:t>Beats LAVA in 3 of 4 registered tests; post hoc, the estimate rather than the gate appears to carry the gain.</a:t>
            </a:r>
          </a:p>
        </p:txBody>
      </p:sp>
      <p:sp>
        <p:nvSpPr>
          <p:cNvPr id="19" name="Rounded Rectangle 18"/>
          <p:cNvSpPr/>
          <p:nvPr/>
        </p:nvSpPr>
        <p:spPr>
          <a:xfrm>
            <a:off x="7269480" y="1051560"/>
            <a:ext cx="4233672" cy="4133087"/>
          </a:xfrm>
          <a:prstGeom prst="roundRect">
            <a:avLst>
              <a:gd name="adj" fmla="val 3539"/>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1143000"/>
            <a:ext cx="3931920" cy="384048"/>
          </a:xfrm>
          <a:prstGeom prst="rect">
            <a:avLst/>
          </a:prstGeom>
          <a:noFill/>
        </p:spPr>
        <p:txBody>
          <a:bodyPr wrap="square" lIns="36576" rIns="36576" tIns="36576" bIns="36576" anchor="t">
            <a:noAutofit/>
          </a:bodyPr>
          <a:lstStyle/>
          <a:p>
            <a:pPr algn="l"/>
            <a:r>
              <a:rPr sz="2000" b="1" i="0">
                <a:solidFill>
                  <a:srgbClr val="B64A4A"/>
                </a:solidFill>
                <a:latin typeface="Aptos"/>
                <a:ea typeface="Aptos"/>
                <a:cs typeface="Aptos"/>
              </a:rPr>
              <a:t>Limits</a:t>
            </a:r>
          </a:p>
        </p:txBody>
      </p:sp>
      <p:sp>
        <p:nvSpPr>
          <p:cNvPr id="21" name="TextBox 20"/>
          <p:cNvSpPr txBox="1"/>
          <p:nvPr/>
        </p:nvSpPr>
        <p:spPr>
          <a:xfrm>
            <a:off x="7452360" y="1645920"/>
            <a:ext cx="3931920" cy="3474720"/>
          </a:xfrm>
          <a:prstGeom prst="rect">
            <a:avLst/>
          </a:prstGeom>
          <a:noFill/>
        </p:spPr>
        <p:txBody>
          <a:bodyPr wrap="square" lIns="36576" rIns="36576" tIns="36576" bIns="36576" anchor="t">
            <a:noAutofit/>
          </a:bodyPr>
          <a:lstStyle/>
          <a:p>
            <a:pPr algn="l"/>
            <a:r>
              <a:rPr sz="1400" b="1" i="0">
                <a:solidFill>
                  <a:srgbClr val="233142"/>
                </a:solidFill>
                <a:latin typeface="Aptos"/>
                <a:ea typeface="Aptos"/>
                <a:cs typeface="Aptos"/>
              </a:rPr>
              <a:t>Synthetic workload: </a:t>
            </a:r>
            <a:r>
              <a:rPr sz="1400" b="0" i="0">
                <a:solidFill>
                  <a:srgbClr val="233142"/>
                </a:solidFill>
                <a:latin typeface="Aptos"/>
                <a:ea typeface="Aptos"/>
                <a:cs typeface="Aptos"/>
              </a:rPr>
              <a:t>about 20% offered load; the drain tail is about two thirds of the metric.</a:t>
            </a:r>
          </a:p>
          <a:p>
            <a:pPr algn="l">
              <a:spcBef>
                <a:spcPts val="1400"/>
              </a:spcBef>
            </a:pPr>
            <a:r>
              <a:rPr sz="1400" b="1" i="0">
                <a:solidFill>
                  <a:srgbClr val="233142"/>
                </a:solidFill>
                <a:latin typeface="Aptos"/>
                <a:ea typeface="Aptos"/>
                <a:cs typeface="Aptos"/>
              </a:rPr>
              <a:t>Calibrated prior: </a:t>
            </a:r>
            <a:r>
              <a:rPr sz="1400" b="0" i="0">
                <a:solidFill>
                  <a:srgbClr val="233142"/>
                </a:solidFill>
                <a:latin typeface="Aptos"/>
                <a:ea typeface="Aptos"/>
                <a:cs typeface="Aptos"/>
              </a:rPr>
              <a:t>the generating distribution; halved means fail at 85%.</a:t>
            </a:r>
          </a:p>
          <a:p>
            <a:pPr algn="l">
              <a:spcBef>
                <a:spcPts val="1400"/>
              </a:spcBef>
            </a:pPr>
            <a:r>
              <a:rPr sz="1400" b="1" i="0">
                <a:solidFill>
                  <a:srgbClr val="233142"/>
                </a:solidFill>
                <a:latin typeface="Aptos"/>
                <a:ea typeface="Aptos"/>
                <a:cs typeface="Aptos"/>
              </a:rPr>
              <a:t>Reconstruction: </a:t>
            </a:r>
            <a:r>
              <a:rPr sz="1400" b="0" i="0">
                <a:solidFill>
                  <a:srgbClr val="233142"/>
                </a:solidFill>
                <a:latin typeface="Aptos"/>
                <a:ea typeface="Aptos"/>
                <a:cs typeface="Aptos"/>
              </a:rPr>
              <a:t>NILAS beats LAVA at most accuracies here; original code and traces were lost.</a:t>
            </a:r>
          </a:p>
          <a:p>
            <a:pPr algn="l">
              <a:spcBef>
                <a:spcPts val="1400"/>
              </a:spcBef>
            </a:pPr>
            <a:r>
              <a:rPr sz="1400" b="1" i="0">
                <a:solidFill>
                  <a:srgbClr val="233142"/>
                </a:solidFill>
                <a:latin typeface="Aptos"/>
                <a:ea typeface="Aptos"/>
                <a:cs typeface="Aptos"/>
              </a:rPr>
              <a:t>Statistics: </a:t>
            </a:r>
            <a:r>
              <a:rPr sz="1400" b="0" i="0">
                <a:solidFill>
                  <a:srgbClr val="233142"/>
                </a:solidFill>
                <a:latin typeface="Aptos"/>
                <a:ea typeface="Aptos"/>
                <a:cs typeface="Aptos"/>
              </a:rPr>
              <a:t>registration is self-timestamped; robustness cells are descriptive.</a:t>
            </a:r>
          </a:p>
        </p:txBody>
      </p:sp>
      <p:sp>
        <p:nvSpPr>
          <p:cNvPr id="22" name="TextBox 21"/>
          <p:cNvSpPr txBox="1"/>
          <p:nvPr/>
        </p:nvSpPr>
        <p:spPr>
          <a:xfrm>
            <a:off x="685800" y="5486400"/>
            <a:ext cx="10835640" cy="384048"/>
          </a:xfrm>
          <a:prstGeom prst="rect">
            <a:avLst/>
          </a:prstGeom>
          <a:noFill/>
        </p:spPr>
        <p:txBody>
          <a:bodyPr wrap="square" lIns="36576" rIns="36576" tIns="36576" bIns="36576" anchor="t">
            <a:noAutofit/>
          </a:bodyPr>
          <a:lstStyle/>
          <a:p>
            <a:pPr algn="ctr"/>
            <a:r>
              <a:rPr sz="1600" b="1" i="0">
                <a:solidFill>
                  <a:srgbClr val="233142"/>
                </a:solidFill>
                <a:latin typeface="Aptos"/>
                <a:ea typeface="Aptos"/>
                <a:cs typeface="Aptos"/>
              </a:rPr>
              <a:t>Lesson: uncertainty helped inside the lifetime estimate, not as a policy switch.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502920" y="320040"/>
            <a:ext cx="502920" cy="256032"/>
          </a:xfrm>
          <a:prstGeom prst="rect">
            <a:avLst/>
          </a:prstGeom>
          <a:noFill/>
        </p:spPr>
        <p:txBody>
          <a:bodyPr wrap="square" lIns="36576" rIns="36576" tIns="36576" bIns="36576" anchor="ctr">
            <a:noAutofit/>
          </a:bodyPr>
          <a:lstStyle/>
          <a:p>
            <a:pPr algn="ctr"/>
            <a:r>
              <a:rPr sz="1200" b="1" i="0">
                <a:solidFill>
                  <a:srgbClr val="A85A14"/>
                </a:solidFill>
                <a:latin typeface="Aptos"/>
                <a:ea typeface="Aptos"/>
                <a:cs typeface="Aptos"/>
              </a:rPr>
              <a:t>20</a:t>
            </a:r>
          </a:p>
        </p:txBody>
      </p:sp>
      <p:sp>
        <p:nvSpPr>
          <p:cNvPr id="3" name="TextBox 2"/>
          <p:cNvSpPr txBox="1"/>
          <p:nvPr/>
        </p:nvSpPr>
        <p:spPr>
          <a:xfrm>
            <a:off x="1005840" y="256032"/>
            <a:ext cx="10561320" cy="466344"/>
          </a:xfrm>
          <a:prstGeom prst="rect">
            <a:avLst/>
          </a:prstGeom>
          <a:noFill/>
        </p:spPr>
        <p:txBody>
          <a:bodyPr wrap="square" lIns="36576" rIns="36576" tIns="36576" bIns="36576" anchor="t">
            <a:noAutofit/>
          </a:bodyPr>
          <a:lstStyle/>
          <a:p>
            <a:pPr algn="l"/>
            <a:r>
              <a:rPr sz="2400" b="1" i="0">
                <a:solidFill>
                  <a:srgbClr val="233142"/>
                </a:solidFill>
                <a:latin typeface="Aptos"/>
                <a:ea typeface="Aptos"/>
                <a:cs typeface="Aptos"/>
              </a:rPr>
              <a:t>Thank you</a:t>
            </a:r>
          </a:p>
        </p:txBody>
      </p:sp>
      <p:sp>
        <p:nvSpPr>
          <p:cNvPr id="4" name="TextBox 3"/>
          <p:cNvSpPr txBox="1"/>
          <p:nvPr/>
        </p:nvSpPr>
        <p:spPr>
          <a:xfrm>
            <a:off x="594360" y="6528816"/>
            <a:ext cx="6190488" cy="192024"/>
          </a:xfrm>
          <a:prstGeom prst="rect">
            <a:avLst/>
          </a:prstGeom>
          <a:noFill/>
        </p:spPr>
        <p:txBody>
          <a:bodyPr wrap="square" lIns="36576" rIns="36576" tIns="36576" bIns="36576" anchor="t">
            <a:noAutofit/>
          </a:bodyPr>
          <a:lstStyle/>
          <a:p>
            <a:pPr algn="l"/>
            <a:r>
              <a:rPr sz="800" b="0" i="0">
                <a:solidFill>
                  <a:srgbClr val="6B7785"/>
                </a:solidFill>
                <a:latin typeface="Aptos"/>
                <a:ea typeface="Aptos"/>
                <a:cs typeface="Aptos"/>
              </a:rPr>
              <a:t>Independent reconstruction   29 October 2026</a:t>
            </a:r>
          </a:p>
        </p:txBody>
      </p:sp>
      <p:sp>
        <p:nvSpPr>
          <p:cNvPr id="5" name="TextBox 4"/>
          <p:cNvSpPr txBox="1"/>
          <p:nvPr/>
        </p:nvSpPr>
        <p:spPr>
          <a:xfrm>
            <a:off x="11109960" y="6510528"/>
            <a:ext cx="457200" cy="192024"/>
          </a:xfrm>
          <a:prstGeom prst="rect">
            <a:avLst/>
          </a:prstGeom>
          <a:noFill/>
        </p:spPr>
        <p:txBody>
          <a:bodyPr wrap="square" lIns="36576" rIns="36576" tIns="36576" bIns="36576" anchor="t">
            <a:noAutofit/>
          </a:bodyPr>
          <a:lstStyle/>
          <a:p>
            <a:pPr algn="r"/>
            <a:r>
              <a:rPr sz="800" b="0" i="0">
                <a:solidFill>
                  <a:srgbClr val="6B7785"/>
                </a:solidFill>
                <a:latin typeface="Aptos"/>
                <a:ea typeface="Aptos"/>
                <a:cs typeface="Aptos"/>
              </a:rPr>
              <a:t>20</a:t>
            </a:r>
          </a:p>
        </p:txBody>
      </p:sp>
      <p:sp>
        <p:nvSpPr>
          <p:cNvPr id="6" name="TextBox 5"/>
          <p:cNvSpPr txBox="1"/>
          <p:nvPr/>
        </p:nvSpPr>
        <p:spPr>
          <a:xfrm>
            <a:off x="685800" y="1463040"/>
            <a:ext cx="10817352" cy="822960"/>
          </a:xfrm>
          <a:prstGeom prst="rect">
            <a:avLst/>
          </a:prstGeom>
          <a:noFill/>
        </p:spPr>
        <p:txBody>
          <a:bodyPr wrap="square" lIns="36576" rIns="36576" tIns="36576" bIns="36576" anchor="t">
            <a:noAutofit/>
          </a:bodyPr>
          <a:lstStyle/>
          <a:p>
            <a:pPr algn="ctr"/>
            <a:r>
              <a:rPr sz="4000" b="1" i="0">
                <a:solidFill>
                  <a:srgbClr val="233142"/>
                </a:solidFill>
                <a:latin typeface="Aptos"/>
                <a:ea typeface="Aptos"/>
                <a:cs typeface="Aptos"/>
              </a:rPr>
              <a:t>Questions?</a:t>
            </a:r>
          </a:p>
        </p:txBody>
      </p:sp>
      <p:sp>
        <p:nvSpPr>
          <p:cNvPr id="7" name="Rounded Rectangle 6"/>
          <p:cNvSpPr/>
          <p:nvPr/>
        </p:nvSpPr>
        <p:spPr>
          <a:xfrm>
            <a:off x="685800" y="2743200"/>
            <a:ext cx="3474720" cy="1325880"/>
          </a:xfrm>
          <a:prstGeom prst="roundRect">
            <a:avLst>
              <a:gd name="adj" fmla="val 11034"/>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926080"/>
            <a:ext cx="3291840" cy="566928"/>
          </a:xfrm>
          <a:prstGeom prst="rect">
            <a:avLst/>
          </a:prstGeom>
          <a:noFill/>
        </p:spPr>
        <p:txBody>
          <a:bodyPr wrap="square" lIns="36576" rIns="36576" tIns="36576" bIns="36576" anchor="t">
            <a:noAutofit/>
          </a:bodyPr>
          <a:lstStyle/>
          <a:p>
            <a:pPr algn="ctr"/>
            <a:r>
              <a:rPr sz="2600" b="1" i="0">
                <a:solidFill>
                  <a:srgbClr val="2F5D8A"/>
                </a:solidFill>
                <a:latin typeface="Aptos"/>
                <a:ea typeface="Aptos"/>
                <a:cs typeface="Aptos"/>
              </a:rPr>
              <a:t>−0.19 → +0.51 pp</a:t>
            </a:r>
          </a:p>
        </p:txBody>
      </p:sp>
      <p:sp>
        <p:nvSpPr>
          <p:cNvPr id="9" name="TextBox 8"/>
          <p:cNvSpPr txBox="1"/>
          <p:nvPr/>
        </p:nvSpPr>
        <p:spPr>
          <a:xfrm>
            <a:off x="777240" y="3529584"/>
            <a:ext cx="3291840" cy="457200"/>
          </a:xfrm>
          <a:prstGeom prst="rect">
            <a:avLst/>
          </a:prstGeom>
          <a:noFill/>
        </p:spPr>
        <p:txBody>
          <a:bodyPr wrap="square" lIns="36576" rIns="36576" tIns="36576" bIns="36576" anchor="t">
            <a:noAutofit/>
          </a:bodyPr>
          <a:lstStyle/>
          <a:p>
            <a:pPr algn="ctr"/>
            <a:r>
              <a:rPr sz="1200" b="0" i="0">
                <a:solidFill>
                  <a:srgbClr val="5A6573"/>
                </a:solidFill>
                <a:latin typeface="Aptos"/>
                <a:ea typeface="Aptos"/>
                <a:cs typeface="Aptos"/>
              </a:rPr>
              <a:t>RQ1: LAVA vs Best-Fit, 25% → 100% accuracy</a:t>
            </a:r>
          </a:p>
        </p:txBody>
      </p:sp>
      <p:sp>
        <p:nvSpPr>
          <p:cNvPr id="10" name="Rounded Rectangle 9"/>
          <p:cNvSpPr/>
          <p:nvPr/>
        </p:nvSpPr>
        <p:spPr>
          <a:xfrm>
            <a:off x="4343400" y="2743200"/>
            <a:ext cx="3474720" cy="1325880"/>
          </a:xfrm>
          <a:prstGeom prst="roundRect">
            <a:avLst>
              <a:gd name="adj" fmla="val 11034"/>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2926080"/>
            <a:ext cx="3291840" cy="566928"/>
          </a:xfrm>
          <a:prstGeom prst="rect">
            <a:avLst/>
          </a:prstGeom>
          <a:noFill/>
        </p:spPr>
        <p:txBody>
          <a:bodyPr wrap="square" lIns="36576" rIns="36576" tIns="36576" bIns="36576" anchor="t">
            <a:noAutofit/>
          </a:bodyPr>
          <a:lstStyle/>
          <a:p>
            <a:pPr algn="ctr"/>
            <a:r>
              <a:rPr sz="2600" b="1" i="0">
                <a:solidFill>
                  <a:srgbClr val="A85A14"/>
                </a:solidFill>
                <a:latin typeface="Aptos"/>
                <a:ea typeface="Aptos"/>
                <a:cs typeface="Aptos"/>
              </a:rPr>
              <a:t>−0.090 pp</a:t>
            </a:r>
          </a:p>
        </p:txBody>
      </p:sp>
      <p:sp>
        <p:nvSpPr>
          <p:cNvPr id="12" name="TextBox 11"/>
          <p:cNvSpPr txBox="1"/>
          <p:nvPr/>
        </p:nvSpPr>
        <p:spPr>
          <a:xfrm>
            <a:off x="4434840" y="3529584"/>
            <a:ext cx="3291840" cy="457200"/>
          </a:xfrm>
          <a:prstGeom prst="rect">
            <a:avLst/>
          </a:prstGeom>
          <a:noFill/>
        </p:spPr>
        <p:txBody>
          <a:bodyPr wrap="square" lIns="36576" rIns="36576" tIns="36576" bIns="36576" anchor="t">
            <a:noAutofit/>
          </a:bodyPr>
          <a:lstStyle/>
          <a:p>
            <a:pPr algn="ctr"/>
            <a:r>
              <a:rPr sz="1200" b="0" i="0">
                <a:solidFill>
                  <a:srgbClr val="5A6573"/>
                </a:solidFill>
                <a:latin typeface="Aptos"/>
                <a:ea typeface="Aptos"/>
                <a:cs typeface="Aptos"/>
              </a:rPr>
              <a:t>RQ2: Host-Level CA vs Best-Fit</a:t>
            </a:r>
          </a:p>
        </p:txBody>
      </p:sp>
      <p:sp>
        <p:nvSpPr>
          <p:cNvPr id="13" name="Rounded Rectangle 12"/>
          <p:cNvSpPr/>
          <p:nvPr/>
        </p:nvSpPr>
        <p:spPr>
          <a:xfrm>
            <a:off x="8001000" y="2743200"/>
            <a:ext cx="3474720" cy="1325880"/>
          </a:xfrm>
          <a:prstGeom prst="roundRect">
            <a:avLst>
              <a:gd name="adj" fmla="val 11034"/>
            </a:avLst>
          </a:prstGeom>
          <a:solidFill>
            <a:srgbClr val="FFFFFF"/>
          </a:solidFill>
          <a:ln w="10160">
            <a:solidFill>
              <a:srgbClr val="E7E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2926080"/>
            <a:ext cx="3291840" cy="566928"/>
          </a:xfrm>
          <a:prstGeom prst="rect">
            <a:avLst/>
          </a:prstGeom>
          <a:noFill/>
        </p:spPr>
        <p:txBody>
          <a:bodyPr wrap="square" lIns="36576" rIns="36576" tIns="36576" bIns="36576" anchor="t">
            <a:noAutofit/>
          </a:bodyPr>
          <a:lstStyle/>
          <a:p>
            <a:pPr algn="ctr"/>
            <a:r>
              <a:rPr sz="2600" b="1" i="0">
                <a:solidFill>
                  <a:srgbClr val="3E7C59"/>
                </a:solidFill>
                <a:latin typeface="Aptos"/>
                <a:ea typeface="Aptos"/>
                <a:cs typeface="Aptos"/>
              </a:rPr>
              <a:t>3 of 4</a:t>
            </a:r>
          </a:p>
        </p:txBody>
      </p:sp>
      <p:sp>
        <p:nvSpPr>
          <p:cNvPr id="15" name="TextBox 14"/>
          <p:cNvSpPr txBox="1"/>
          <p:nvPr/>
        </p:nvSpPr>
        <p:spPr>
          <a:xfrm>
            <a:off x="8092440" y="3529584"/>
            <a:ext cx="3291840" cy="457200"/>
          </a:xfrm>
          <a:prstGeom prst="rect">
            <a:avLst/>
          </a:prstGeom>
          <a:noFill/>
        </p:spPr>
        <p:txBody>
          <a:bodyPr wrap="square" lIns="36576" rIns="36576" tIns="36576" bIns="36576" anchor="t">
            <a:noAutofit/>
          </a:bodyPr>
          <a:lstStyle/>
          <a:p>
            <a:pPr algn="ctr"/>
            <a:r>
              <a:rPr sz="1200" b="0" i="0">
                <a:solidFill>
                  <a:srgbClr val="5A6573"/>
                </a:solidFill>
                <a:latin typeface="Aptos"/>
                <a:ea typeface="Aptos"/>
                <a:cs typeface="Aptos"/>
              </a:rPr>
              <a:t>RQ3: registered wins against LAVA</a:t>
            </a:r>
          </a:p>
        </p:txBody>
      </p:sp>
      <p:sp>
        <p:nvSpPr>
          <p:cNvPr id="16" name="TextBox 15"/>
          <p:cNvSpPr txBox="1"/>
          <p:nvPr/>
        </p:nvSpPr>
        <p:spPr>
          <a:xfrm>
            <a:off x="685800" y="4526280"/>
            <a:ext cx="10835640" cy="292608"/>
          </a:xfrm>
          <a:prstGeom prst="rect">
            <a:avLst/>
          </a:prstGeom>
          <a:noFill/>
        </p:spPr>
        <p:txBody>
          <a:bodyPr wrap="square" lIns="36576" rIns="36576" tIns="36576" bIns="36576" anchor="t">
            <a:noAutofit/>
          </a:bodyPr>
          <a:lstStyle/>
          <a:p>
            <a:pPr algn="ctr"/>
            <a:r>
              <a:rPr sz="1200" b="1" i="0">
                <a:solidFill>
                  <a:srgbClr val="5A6573"/>
                </a:solidFill>
                <a:latin typeface="Aptos"/>
                <a:ea typeface="Aptos"/>
                <a:cs typeface="Aptos"/>
              </a:rPr>
              <a:t>Report: Revisiting_Lifetime_Aware_VM_Allocation_Report_v3.pdf · Artifact: lava_reproduction/ (code, raw results, registration).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502920" y="320040"/>
            <a:ext cx="502920" cy="256032"/>
          </a:xfrm>
          <a:prstGeom prst="rect">
            <a:avLst/>
          </a:prstGeom>
          <a:noFill/>
        </p:spPr>
        <p:txBody>
          <a:bodyPr wrap="square" lIns="36576" rIns="36576" tIns="36576" bIns="36576" anchor="ctr">
            <a:noAutofit/>
          </a:bodyPr>
          <a:lstStyle/>
          <a:p>
            <a:pPr algn="ctr"/>
            <a:r>
              <a:rPr sz="1200" b="1" i="0">
                <a:solidFill>
                  <a:srgbClr val="A85A14"/>
                </a:solidFill>
                <a:latin typeface="Aptos"/>
                <a:ea typeface="Aptos"/>
                <a:cs typeface="Aptos"/>
              </a:rPr>
              <a:t>21</a:t>
            </a:r>
          </a:p>
        </p:txBody>
      </p:sp>
      <p:sp>
        <p:nvSpPr>
          <p:cNvPr id="3" name="TextBox 2"/>
          <p:cNvSpPr txBox="1"/>
          <p:nvPr/>
        </p:nvSpPr>
        <p:spPr>
          <a:xfrm>
            <a:off x="1005840" y="256032"/>
            <a:ext cx="10561320" cy="466344"/>
          </a:xfrm>
          <a:prstGeom prst="rect">
            <a:avLst/>
          </a:prstGeom>
          <a:noFill/>
        </p:spPr>
        <p:txBody>
          <a:bodyPr wrap="square" lIns="36576" rIns="36576" tIns="36576" bIns="36576" anchor="t">
            <a:noAutofit/>
          </a:bodyPr>
          <a:lstStyle/>
          <a:p>
            <a:pPr algn="l"/>
            <a:r>
              <a:rPr sz="2400" b="1" i="0">
                <a:solidFill>
                  <a:srgbClr val="233142"/>
                </a:solidFill>
                <a:latin typeface="Aptos"/>
                <a:ea typeface="Aptos"/>
                <a:cs typeface="Aptos"/>
              </a:rPr>
              <a:t>Backup: threshold sensitivity</a:t>
            </a:r>
          </a:p>
        </p:txBody>
      </p:sp>
      <p:sp>
        <p:nvSpPr>
          <p:cNvPr id="4" name="TextBox 3"/>
          <p:cNvSpPr txBox="1"/>
          <p:nvPr/>
        </p:nvSpPr>
        <p:spPr>
          <a:xfrm>
            <a:off x="594360" y="6528816"/>
            <a:ext cx="6190488" cy="192024"/>
          </a:xfrm>
          <a:prstGeom prst="rect">
            <a:avLst/>
          </a:prstGeom>
          <a:noFill/>
        </p:spPr>
        <p:txBody>
          <a:bodyPr wrap="square" lIns="36576" rIns="36576" tIns="36576" bIns="36576" anchor="t">
            <a:noAutofit/>
          </a:bodyPr>
          <a:lstStyle/>
          <a:p>
            <a:pPr algn="l"/>
            <a:r>
              <a:rPr sz="800" b="0" i="0">
                <a:solidFill>
                  <a:srgbClr val="6B7785"/>
                </a:solidFill>
                <a:latin typeface="Aptos"/>
                <a:ea typeface="Aptos"/>
                <a:cs typeface="Aptos"/>
              </a:rPr>
              <a:t>Independent reconstruction   29 October 2026</a:t>
            </a:r>
          </a:p>
        </p:txBody>
      </p:sp>
      <p:sp>
        <p:nvSpPr>
          <p:cNvPr id="5" name="TextBox 4"/>
          <p:cNvSpPr txBox="1"/>
          <p:nvPr/>
        </p:nvSpPr>
        <p:spPr>
          <a:xfrm>
            <a:off x="11109960" y="6510528"/>
            <a:ext cx="457200" cy="192024"/>
          </a:xfrm>
          <a:prstGeom prst="rect">
            <a:avLst/>
          </a:prstGeom>
          <a:noFill/>
        </p:spPr>
        <p:txBody>
          <a:bodyPr wrap="square" lIns="36576" rIns="36576" tIns="36576" bIns="36576" anchor="t">
            <a:noAutofit/>
          </a:bodyPr>
          <a:lstStyle/>
          <a:p>
            <a:pPr algn="r"/>
            <a:r>
              <a:rPr sz="800" b="0" i="0">
                <a:solidFill>
                  <a:srgbClr val="6B7785"/>
                </a:solidFill>
                <a:latin typeface="Aptos"/>
                <a:ea typeface="Aptos"/>
                <a:cs typeface="Aptos"/>
              </a:rPr>
              <a:t>21</a:t>
            </a:r>
          </a:p>
        </p:txBody>
      </p:sp>
      <p:graphicFrame>
        <p:nvGraphicFramePr>
          <p:cNvPr id="6" name="Table 5"/>
          <p:cNvGraphicFramePr>
            <a:graphicFrameLocks noGrp="1"/>
          </p:cNvGraphicFramePr>
          <p:nvPr/>
        </p:nvGraphicFramePr>
        <p:xfrm>
          <a:off x="685800" y="1143000"/>
          <a:ext cx="10789920" cy="3657600"/>
        </p:xfrm>
        <a:graphic>
          <a:graphicData uri="http://schemas.openxmlformats.org/drawingml/2006/table">
            <a:tbl>
              <a:tblPr firstRow="1" bandRow="0">
                <a:tableStyleId>{5C22544A-7EE6-4342-B048-85BDC9FD1C3A}</a:tableStyleId>
              </a:tblPr>
              <a:tblGrid>
                <a:gridCol w="1097280"/>
                <a:gridCol w="2423160"/>
                <a:gridCol w="2423160"/>
                <a:gridCol w="2423160"/>
                <a:gridCol w="2423160"/>
              </a:tblGrid>
              <a:tr h="457200">
                <a:tc>
                  <a:txBody>
                    <a:bodyPr wrap="square"/>
                    <a:lstStyle/>
                    <a:p>
                      <a:pPr algn="ctr"/>
                      <a:r>
                        <a:rPr sz="1200" b="1" i="0">
                          <a:solidFill>
                            <a:srgbClr val="FFFFFF"/>
                          </a:solidFill>
                          <a:latin typeface="Aptos"/>
                          <a:ea typeface="Aptos"/>
                          <a:cs typeface="Aptos"/>
                        </a:rPr>
                        <a:t>τ</a:t>
                      </a:r>
                    </a:p>
                  </a:txBody>
                  <a:tcPr marL="73152" marR="73152" marT="27432" marB="27432" anchor="ctr">
                    <a:solidFill>
                      <a:srgbClr val="233142"/>
                    </a:solidFill>
                  </a:tcPr>
                </a:tc>
                <a:tc>
                  <a:txBody>
                    <a:bodyPr wrap="square"/>
                    <a:lstStyle/>
                    <a:p>
                      <a:pPr algn="ctr"/>
                      <a:r>
                        <a:rPr sz="1200" b="1" i="0">
                          <a:solidFill>
                            <a:srgbClr val="FFFFFF"/>
                          </a:solidFill>
                          <a:latin typeface="Aptos"/>
                          <a:ea typeface="Aptos"/>
                          <a:cs typeface="Aptos"/>
                        </a:rPr>
                        <a:t>25%</a:t>
                      </a:r>
                    </a:p>
                  </a:txBody>
                  <a:tcPr marL="73152" marR="73152" marT="27432" marB="27432" anchor="ctr">
                    <a:solidFill>
                      <a:srgbClr val="233142"/>
                    </a:solidFill>
                  </a:tcPr>
                </a:tc>
                <a:tc>
                  <a:txBody>
                    <a:bodyPr wrap="square"/>
                    <a:lstStyle/>
                    <a:p>
                      <a:pPr algn="ctr"/>
                      <a:r>
                        <a:rPr sz="1200" b="1" i="0">
                          <a:solidFill>
                            <a:srgbClr val="FFFFFF"/>
                          </a:solidFill>
                          <a:latin typeface="Aptos"/>
                          <a:ea typeface="Aptos"/>
                          <a:cs typeface="Aptos"/>
                        </a:rPr>
                        <a:t>50%</a:t>
                      </a:r>
                    </a:p>
                  </a:txBody>
                  <a:tcPr marL="73152" marR="73152" marT="27432" marB="27432" anchor="ctr">
                    <a:solidFill>
                      <a:srgbClr val="233142"/>
                    </a:solidFill>
                  </a:tcPr>
                </a:tc>
                <a:tc>
                  <a:txBody>
                    <a:bodyPr wrap="square"/>
                    <a:lstStyle/>
                    <a:p>
                      <a:pPr algn="ctr"/>
                      <a:r>
                        <a:rPr sz="1200" b="1" i="0">
                          <a:solidFill>
                            <a:srgbClr val="FFFFFF"/>
                          </a:solidFill>
                          <a:latin typeface="Aptos"/>
                          <a:ea typeface="Aptos"/>
                          <a:cs typeface="Aptos"/>
                        </a:rPr>
                        <a:t>75%</a:t>
                      </a:r>
                    </a:p>
                  </a:txBody>
                  <a:tcPr marL="73152" marR="73152" marT="27432" marB="27432" anchor="ctr">
                    <a:solidFill>
                      <a:srgbClr val="233142"/>
                    </a:solidFill>
                  </a:tcPr>
                </a:tc>
                <a:tc>
                  <a:txBody>
                    <a:bodyPr wrap="square"/>
                    <a:lstStyle/>
                    <a:p>
                      <a:pPr algn="ctr"/>
                      <a:r>
                        <a:rPr sz="1200" b="1" i="0">
                          <a:solidFill>
                            <a:srgbClr val="FFFFFF"/>
                          </a:solidFill>
                          <a:latin typeface="Aptos"/>
                          <a:ea typeface="Aptos"/>
                          <a:cs typeface="Aptos"/>
                        </a:rPr>
                        <a:t>85%</a:t>
                      </a:r>
                    </a:p>
                  </a:txBody>
                  <a:tcPr marL="73152" marR="73152" marT="27432" marB="27432" anchor="ctr">
                    <a:solidFill>
                      <a:srgbClr val="233142"/>
                    </a:solidFill>
                  </a:tcPr>
                </a:tc>
              </a:tr>
              <a:tr h="457200">
                <a:tc>
                  <a:txBody>
                    <a:bodyPr wrap="square"/>
                    <a:lstStyle/>
                    <a:p>
                      <a:pPr algn="ctr"/>
                      <a:r>
                        <a:rPr sz="1300" b="1" i="0">
                          <a:solidFill>
                            <a:srgbClr val="233142"/>
                          </a:solidFill>
                          <a:latin typeface="Aptos"/>
                          <a:ea typeface="Aptos"/>
                          <a:cs typeface="Aptos"/>
                        </a:rPr>
                        <a:t>0.1</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+0.208 [+0.079, +0.338]</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+0.139 [+0.023, +0.256]</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+0.109 [−0.024, +0.241]</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+0.139 [+0.021, +0.258]</a:t>
                      </a:r>
                    </a:p>
                  </a:txBody>
                  <a:tcPr marL="73152" marR="73152" marT="27432" marB="27432" anchor="ctr">
                    <a:solidFill>
                      <a:srgbClr val="BFE3C9"/>
                    </a:solidFill>
                  </a:tcPr>
                </a:tc>
              </a:tr>
              <a:tr h="457200">
                <a:tc>
                  <a:txBody>
                    <a:bodyPr wrap="square"/>
                    <a:lstStyle/>
                    <a:p>
                      <a:pPr algn="ctr"/>
                      <a:r>
                        <a:rPr sz="1300" b="1" i="0">
                          <a:solidFill>
                            <a:srgbClr val="233142"/>
                          </a:solidFill>
                          <a:latin typeface="Aptos"/>
                          <a:ea typeface="Aptos"/>
                          <a:cs typeface="Aptos"/>
                        </a:rPr>
                        <a:t>0.2</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+0.268 [+0.185, +0.352]</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+0.112 [+0.002, +0.222]</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+0.135 [+0.002, +0.268]</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+0.109 [+0.023, +0.194]</a:t>
                      </a:r>
                    </a:p>
                  </a:txBody>
                  <a:tcPr marL="73152" marR="73152" marT="27432" marB="27432" anchor="ctr">
                    <a:solidFill>
                      <a:srgbClr val="BFE3C9"/>
                    </a:solidFill>
                  </a:tcPr>
                </a:tc>
              </a:tr>
              <a:tr h="457200">
                <a:tc>
                  <a:txBody>
                    <a:bodyPr wrap="square"/>
                    <a:lstStyle/>
                    <a:p>
                      <a:pPr algn="ctr"/>
                      <a:r>
                        <a:rPr sz="1300" b="1" i="0">
                          <a:solidFill>
                            <a:srgbClr val="233142"/>
                          </a:solidFill>
                          <a:latin typeface="Aptos"/>
                          <a:ea typeface="Aptos"/>
                          <a:cs typeface="Aptos"/>
                        </a:rPr>
                        <a:t>0.3</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+0.274 [+0.156, +0.392]</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+0.192 [+0.072, +0.312]</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+0.130 [−0.021, +0.281]</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+0.157 [+0.063, +0.252]</a:t>
                      </a:r>
                    </a:p>
                  </a:txBody>
                  <a:tcPr marL="73152" marR="73152" marT="27432" marB="27432" anchor="ctr">
                    <a:solidFill>
                      <a:srgbClr val="BFE3C9"/>
                    </a:solidFill>
                  </a:tcPr>
                </a:tc>
              </a:tr>
              <a:tr h="457200">
                <a:tc>
                  <a:txBody>
                    <a:bodyPr wrap="square"/>
                    <a:lstStyle/>
                    <a:p>
                      <a:pPr algn="ctr"/>
                      <a:r>
                        <a:rPr sz="1300" b="1" i="0">
                          <a:solidFill>
                            <a:srgbClr val="233142"/>
                          </a:solidFill>
                          <a:latin typeface="Aptos"/>
                          <a:ea typeface="Aptos"/>
                          <a:cs typeface="Aptos"/>
                        </a:rPr>
                        <a:t>0.5</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+0.172 [+0.093, +0.252]</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+0.074 [−0.041, +0.189]</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+0.039 [−0.076, +0.154]</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+0.142 [+0.002, +0.281]</a:t>
                      </a:r>
                    </a:p>
                  </a:txBody>
                  <a:tcPr marL="73152" marR="73152" marT="27432" marB="27432" anchor="ctr">
                    <a:solidFill>
                      <a:srgbClr val="BFE3C9"/>
                    </a:solidFill>
                  </a:tcPr>
                </a:tc>
              </a:tr>
              <a:tr h="457200">
                <a:tc>
                  <a:txBody>
                    <a:bodyPr wrap="square"/>
                    <a:lstStyle/>
                    <a:p>
                      <a:pPr algn="ctr"/>
                      <a:r>
                        <a:rPr sz="1300" b="1" i="0">
                          <a:solidFill>
                            <a:srgbClr val="233142"/>
                          </a:solidFill>
                          <a:latin typeface="Aptos"/>
                          <a:ea typeface="Aptos"/>
                          <a:cs typeface="Aptos"/>
                        </a:rPr>
                        <a:t>0.7</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+0.197 [+0.086, +0.308]</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−0.037 [−0.165, +0.090]</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−0.125 [−0.240, −0.011]</a:t>
                      </a:r>
                    </a:p>
                  </a:txBody>
                  <a:tcPr marL="73152" marR="73152" marT="27432" marB="27432" anchor="ctr">
                    <a:solidFill>
                      <a:srgbClr val="F2C4C1"/>
                    </a:solidFill>
                  </a:tcPr>
                </a:tc>
                <a:tc>
                  <a:txBody>
                    <a:bodyPr wrap="square"/>
                    <a:lstStyle/>
                    <a:p>
                      <a:pPr algn="ctr"/>
                      <a:r>
                        <a:rPr sz="1300" b="0" i="0">
                          <a:solidFill>
                            <a:srgbClr val="233142"/>
                          </a:solidFill>
                          <a:latin typeface="Aptos"/>
                          <a:ea typeface="Aptos"/>
                          <a:cs typeface="Aptos"/>
                        </a:rPr>
                        <a:t>−0.090 [−0.196, +0.016]</a:t>
                      </a:r>
                    </a:p>
                  </a:txBody>
                  <a:tcPr marL="73152" marR="73152" marT="27432" marB="27432" anchor="ctr">
                    <a:solidFill>
                      <a:srgbClr val="FFFFFF"/>
                    </a:solidFill>
                  </a:tcPr>
                </a:tc>
              </a:tr>
              <a:tr h="457200">
                <a:tc>
                  <a:txBody>
                    <a:bodyPr wrap="square"/>
                    <a:lstStyle/>
                    <a:p>
                      <a:pPr algn="ctr"/>
                      <a:r>
                        <a:rPr sz="1300" b="1" i="0">
                          <a:solidFill>
                            <a:srgbClr val="233142"/>
                          </a:solidFill>
                          <a:latin typeface="Aptos"/>
                          <a:ea typeface="Aptos"/>
                          <a:cs typeface="Aptos"/>
                        </a:rPr>
                        <a:t>0.8</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+0.124 [+0.040, +0.208]</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−0.005 [−0.106, +0.096]</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−0.113 [−0.256, +0.029]</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−0.148 [−0.234, −0.062]</a:t>
                      </a:r>
                    </a:p>
                  </a:txBody>
                  <a:tcPr marL="73152" marR="73152" marT="27432" marB="27432" anchor="ctr">
                    <a:solidFill>
                      <a:srgbClr val="F2C4C1"/>
                    </a:solidFill>
                  </a:tcPr>
                </a:tc>
              </a:tr>
              <a:tr h="457200">
                <a:tc>
                  <a:txBody>
                    <a:bodyPr wrap="square"/>
                    <a:lstStyle/>
                    <a:p>
                      <a:pPr algn="ctr"/>
                      <a:r>
                        <a:rPr sz="1300" b="1" i="0">
                          <a:solidFill>
                            <a:srgbClr val="233142"/>
                          </a:solidFill>
                          <a:latin typeface="Aptos"/>
                          <a:ea typeface="Aptos"/>
                          <a:cs typeface="Aptos"/>
                        </a:rPr>
                        <a:t>0.9</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+0.180 [+0.074, +0.287]</a:t>
                      </a:r>
                    </a:p>
                  </a:txBody>
                  <a:tcPr marL="73152" marR="73152" marT="27432" marB="27432" anchor="ctr">
                    <a:solidFill>
                      <a:srgbClr val="BFE3C9"/>
                    </a:solidFill>
                  </a:tcPr>
                </a:tc>
                <a:tc>
                  <a:txBody>
                    <a:bodyPr wrap="square"/>
                    <a:lstStyle/>
                    <a:p>
                      <a:pPr algn="ctr"/>
                      <a:r>
                        <a:rPr sz="1300" b="0" i="0">
                          <a:solidFill>
                            <a:srgbClr val="233142"/>
                          </a:solidFill>
                          <a:latin typeface="Aptos"/>
                          <a:ea typeface="Aptos"/>
                          <a:cs typeface="Aptos"/>
                        </a:rPr>
                        <a:t>−0.023 [−0.130, +0.084]</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−0.094 [−0.228, +0.040]</a:t>
                      </a:r>
                    </a:p>
                  </a:txBody>
                  <a:tcPr marL="73152" marR="73152" marT="27432" marB="27432" anchor="ctr">
                    <a:solidFill>
                      <a:srgbClr val="FFFFFF"/>
                    </a:solidFill>
                  </a:tcPr>
                </a:tc>
                <a:tc>
                  <a:txBody>
                    <a:bodyPr wrap="square"/>
                    <a:lstStyle/>
                    <a:p>
                      <a:pPr algn="ctr"/>
                      <a:r>
                        <a:rPr sz="1300" b="0" i="0">
                          <a:solidFill>
                            <a:srgbClr val="233142"/>
                          </a:solidFill>
                          <a:latin typeface="Aptos"/>
                          <a:ea typeface="Aptos"/>
                          <a:cs typeface="Aptos"/>
                        </a:rPr>
                        <a:t>−0.104 [−0.198, −0.011]</a:t>
                      </a:r>
                    </a:p>
                  </a:txBody>
                  <a:tcPr marL="73152" marR="73152" marT="27432" marB="27432" anchor="ctr">
                    <a:solidFill>
                      <a:srgbClr val="F2C4C1"/>
                    </a:solidFill>
                  </a:tcPr>
                </a:tc>
              </a:tr>
            </a:tbl>
          </a:graphicData>
        </a:graphic>
      </p:graphicFrame>
      <p:sp>
        <p:nvSpPr>
          <p:cNvPr id="7" name="TextBox 6"/>
          <p:cNvSpPr txBox="1"/>
          <p:nvPr/>
        </p:nvSpPr>
        <p:spPr>
          <a:xfrm>
            <a:off x="685800" y="5166360"/>
            <a:ext cx="10835640" cy="292608"/>
          </a:xfrm>
          <a:prstGeom prst="rect">
            <a:avLst/>
          </a:prstGeom>
          <a:noFill/>
        </p:spPr>
        <p:txBody>
          <a:bodyPr wrap="square" lIns="36576" rIns="36576" tIns="36576" bIns="36576" anchor="t">
            <a:noAutofit/>
          </a:bodyPr>
          <a:lstStyle/>
          <a:p>
            <a:pPr algn="ctr"/>
            <a:r>
              <a:rPr sz="1200" b="1" i="0">
                <a:solidFill>
                  <a:srgbClr val="5A6573"/>
                </a:solidFill>
                <a:latin typeface="Aptos"/>
                <a:ea typeface="Aptos"/>
                <a:cs typeface="Aptos"/>
              </a:rPr>
              <a:t>VM-CA-Bayes minus LAVA (pp), seeds 200–219 (n = 20), descriptive; τ = 0.3 was frozen from the report, not chosen here.</a:t>
            </a:r>
          </a:p>
        </p:txBody>
      </p:sp>
      <p:sp>
        <p:nvSpPr>
          <p:cNvPr id="8" name="TextBox 7"/>
          <p:cNvSpPr txBox="1"/>
          <p:nvPr/>
        </p:nvSpPr>
        <p:spPr>
          <a:xfrm>
            <a:off x="685800" y="5577840"/>
            <a:ext cx="10835640" cy="292608"/>
          </a:xfrm>
          <a:prstGeom prst="rect">
            <a:avLst/>
          </a:prstGeom>
          <a:noFill/>
        </p:spPr>
        <p:txBody>
          <a:bodyPr wrap="square" lIns="36576" rIns="36576" tIns="36576" bIns="36576" anchor="t">
            <a:noAutofit/>
          </a:bodyPr>
          <a:lstStyle/>
          <a:p>
            <a:pPr algn="ctr"/>
            <a:r>
              <a:rPr sz="1200" b="1" i="0">
                <a:solidFill>
                  <a:srgbClr val="5A6573"/>
                </a:solidFill>
                <a:latin typeface="Aptos"/>
                <a:ea typeface="Aptos"/>
                <a:cs typeface="Aptos"/>
              </a:rPr>
              <a:t>At τ ≥ 0.7 the gate still sends 64–80% of arrivals to LAVA at 75–85% accuracy (81–85% at τ = 0.3).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502920" y="320040"/>
            <a:ext cx="502920" cy="256032"/>
          </a:xfrm>
          <a:prstGeom prst="rect">
            <a:avLst/>
          </a:prstGeom>
          <a:noFill/>
        </p:spPr>
        <p:txBody>
          <a:bodyPr wrap="square" lIns="36576" rIns="36576" tIns="36576" bIns="36576" anchor="ctr">
            <a:noAutofit/>
          </a:bodyPr>
          <a:lstStyle/>
          <a:p>
            <a:pPr algn="ctr"/>
            <a:r>
              <a:rPr sz="1200" b="1" i="0">
                <a:solidFill>
                  <a:srgbClr val="A85A14"/>
                </a:solidFill>
                <a:latin typeface="Aptos"/>
                <a:ea typeface="Aptos"/>
                <a:cs typeface="Aptos"/>
              </a:rPr>
              <a:t>22</a:t>
            </a:r>
          </a:p>
        </p:txBody>
      </p:sp>
      <p:sp>
        <p:nvSpPr>
          <p:cNvPr id="3" name="TextBox 2"/>
          <p:cNvSpPr txBox="1"/>
          <p:nvPr/>
        </p:nvSpPr>
        <p:spPr>
          <a:xfrm>
            <a:off x="1005840" y="256032"/>
            <a:ext cx="10561320" cy="466344"/>
          </a:xfrm>
          <a:prstGeom prst="rect">
            <a:avLst/>
          </a:prstGeom>
          <a:noFill/>
        </p:spPr>
        <p:txBody>
          <a:bodyPr wrap="square" lIns="36576" rIns="36576" tIns="36576" bIns="36576" anchor="t">
            <a:noAutofit/>
          </a:bodyPr>
          <a:lstStyle/>
          <a:p>
            <a:pPr algn="l"/>
            <a:r>
              <a:rPr sz="2400" b="1" i="0">
                <a:solidFill>
                  <a:srgbClr val="233142"/>
                </a:solidFill>
                <a:latin typeface="Aptos"/>
                <a:ea typeface="Aptos"/>
                <a:cs typeface="Aptos"/>
              </a:rPr>
              <a:t>Backup: all policies versus Best-Fit (fresh seeds)</a:t>
            </a:r>
          </a:p>
        </p:txBody>
      </p:sp>
      <p:sp>
        <p:nvSpPr>
          <p:cNvPr id="4" name="TextBox 3"/>
          <p:cNvSpPr txBox="1"/>
          <p:nvPr/>
        </p:nvSpPr>
        <p:spPr>
          <a:xfrm>
            <a:off x="594360" y="6528816"/>
            <a:ext cx="6190488" cy="192024"/>
          </a:xfrm>
          <a:prstGeom prst="rect">
            <a:avLst/>
          </a:prstGeom>
          <a:noFill/>
        </p:spPr>
        <p:txBody>
          <a:bodyPr wrap="square" lIns="36576" rIns="36576" tIns="36576" bIns="36576" anchor="t">
            <a:noAutofit/>
          </a:bodyPr>
          <a:lstStyle/>
          <a:p>
            <a:pPr algn="l"/>
            <a:r>
              <a:rPr sz="800" b="0" i="0">
                <a:solidFill>
                  <a:srgbClr val="6B7785"/>
                </a:solidFill>
                <a:latin typeface="Aptos"/>
                <a:ea typeface="Aptos"/>
                <a:cs typeface="Aptos"/>
              </a:rPr>
              <a:t>Independent reconstruction   29 October 2026</a:t>
            </a:r>
          </a:p>
        </p:txBody>
      </p:sp>
      <p:sp>
        <p:nvSpPr>
          <p:cNvPr id="5" name="TextBox 4"/>
          <p:cNvSpPr txBox="1"/>
          <p:nvPr/>
        </p:nvSpPr>
        <p:spPr>
          <a:xfrm>
            <a:off x="11109960" y="6510528"/>
            <a:ext cx="457200" cy="192024"/>
          </a:xfrm>
          <a:prstGeom prst="rect">
            <a:avLst/>
          </a:prstGeom>
          <a:noFill/>
        </p:spPr>
        <p:txBody>
          <a:bodyPr wrap="square" lIns="36576" rIns="36576" tIns="36576" bIns="36576" anchor="t">
            <a:noAutofit/>
          </a:bodyPr>
          <a:lstStyle/>
          <a:p>
            <a:pPr algn="r"/>
            <a:r>
              <a:rPr sz="800" b="0" i="0">
                <a:solidFill>
                  <a:srgbClr val="6B7785"/>
                </a:solidFill>
                <a:latin typeface="Aptos"/>
                <a:ea typeface="Aptos"/>
                <a:cs typeface="Aptos"/>
              </a:rPr>
              <a:t>22</a:t>
            </a:r>
          </a:p>
        </p:txBody>
      </p:sp>
      <p:graphicFrame>
        <p:nvGraphicFramePr>
          <p:cNvPr id="6" name="Table 5"/>
          <p:cNvGraphicFramePr>
            <a:graphicFrameLocks noGrp="1"/>
          </p:cNvGraphicFramePr>
          <p:nvPr/>
        </p:nvGraphicFramePr>
        <p:xfrm>
          <a:off x="685800" y="1143000"/>
          <a:ext cx="10817352" cy="3657600"/>
        </p:xfrm>
        <a:graphic>
          <a:graphicData uri="http://schemas.openxmlformats.org/drawingml/2006/table">
            <a:tbl>
              <a:tblPr firstRow="1" bandRow="0">
                <a:tableStyleId>{5C22544A-7EE6-4342-B048-85BDC9FD1C3A}</a:tableStyleId>
              </a:tblPr>
              <a:tblGrid>
                <a:gridCol w="1417320"/>
                <a:gridCol w="1175004"/>
                <a:gridCol w="1175004"/>
                <a:gridCol w="1175004"/>
                <a:gridCol w="1175004"/>
                <a:gridCol w="1175004"/>
                <a:gridCol w="1175004"/>
                <a:gridCol w="1175004"/>
                <a:gridCol w="1175004"/>
              </a:tblGrid>
              <a:tr h="457200">
                <a:tc>
                  <a:txBody>
                    <a:bodyPr wrap="square"/>
                    <a:lstStyle/>
                    <a:p>
                      <a:pPr algn="l"/>
                      <a:r>
                        <a:rPr sz="1150" b="1" i="0">
                          <a:solidFill>
                            <a:srgbClr val="FFFFFF"/>
                          </a:solidFill>
                          <a:latin typeface="Aptos"/>
                          <a:ea typeface="Aptos"/>
                          <a:cs typeface="Aptos"/>
                        </a:rPr>
                        <a:t>Setting</a:t>
                      </a:r>
                    </a:p>
                  </a:txBody>
                  <a:tcPr marL="73152" marR="73152" marT="27432" marB="27432" anchor="ctr">
                    <a:solidFill>
                      <a:srgbClr val="233142"/>
                    </a:solidFill>
                  </a:tcPr>
                </a:tc>
                <a:tc>
                  <a:txBody>
                    <a:bodyPr wrap="square"/>
                    <a:lstStyle/>
                    <a:p>
                      <a:pPr algn="ctr"/>
                      <a:r>
                        <a:rPr sz="1150" b="1" i="0">
                          <a:solidFill>
                            <a:srgbClr val="FFFFFF"/>
                          </a:solidFill>
                          <a:latin typeface="Aptos"/>
                          <a:ea typeface="Aptos"/>
                          <a:cs typeface="Aptos"/>
                        </a:rPr>
                        <a:t>LAVA</a:t>
                      </a:r>
                    </a:p>
                  </a:txBody>
                  <a:tcPr marL="73152" marR="73152" marT="27432" marB="27432" anchor="ctr">
                    <a:solidFill>
                      <a:srgbClr val="233142"/>
                    </a:solidFill>
                  </a:tcPr>
                </a:tc>
                <a:tc>
                  <a:txBody>
                    <a:bodyPr wrap="square"/>
                    <a:lstStyle/>
                    <a:p>
                      <a:pPr algn="ctr"/>
                      <a:r>
                        <a:rPr sz="1150" b="1" i="0">
                          <a:solidFill>
                            <a:srgbClr val="FFFFFF"/>
                          </a:solidFill>
                          <a:latin typeface="Aptos"/>
                          <a:ea typeface="Aptos"/>
                          <a:cs typeface="Aptos"/>
                        </a:rPr>
                        <a:t>NILAS</a:t>
                      </a:r>
                    </a:p>
                  </a:txBody>
                  <a:tcPr marL="73152" marR="73152" marT="27432" marB="27432" anchor="ctr">
                    <a:solidFill>
                      <a:srgbClr val="233142"/>
                    </a:solidFill>
                  </a:tcPr>
                </a:tc>
                <a:tc>
                  <a:txBody>
                    <a:bodyPr wrap="square"/>
                    <a:lstStyle/>
                    <a:p>
                      <a:pPr algn="ctr"/>
                      <a:r>
                        <a:rPr sz="1150" b="1" i="0">
                          <a:solidFill>
                            <a:srgbClr val="FFFFFF"/>
                          </a:solidFill>
                          <a:latin typeface="Aptos"/>
                          <a:ea typeface="Aptos"/>
                          <a:cs typeface="Aptos"/>
                        </a:rPr>
                        <a:t>VM-CA</a:t>
                      </a:r>
                    </a:p>
                  </a:txBody>
                  <a:tcPr marL="73152" marR="73152" marT="27432" marB="27432" anchor="ctr">
                    <a:solidFill>
                      <a:srgbClr val="233142"/>
                    </a:solidFill>
                  </a:tcPr>
                </a:tc>
                <a:tc>
                  <a:txBody>
                    <a:bodyPr wrap="square"/>
                    <a:lstStyle/>
                    <a:p>
                      <a:pPr algn="ctr"/>
                      <a:r>
                        <a:rPr sz="1150" b="1" i="0">
                          <a:solidFill>
                            <a:srgbClr val="FFFFFF"/>
                          </a:solidFill>
                          <a:latin typeface="Aptos"/>
                          <a:ea typeface="Aptos"/>
                          <a:cs typeface="Aptos"/>
                        </a:rPr>
                        <a:t>Host-CA</a:t>
                      </a:r>
                    </a:p>
                  </a:txBody>
                  <a:tcPr marL="73152" marR="73152" marT="27432" marB="27432" anchor="ctr">
                    <a:solidFill>
                      <a:srgbClr val="233142"/>
                    </a:solidFill>
                  </a:tcPr>
                </a:tc>
                <a:tc>
                  <a:txBody>
                    <a:bodyPr wrap="square"/>
                    <a:lstStyle/>
                    <a:p>
                      <a:pPr algn="ctr"/>
                      <a:r>
                        <a:rPr sz="1150" b="1" i="0">
                          <a:solidFill>
                            <a:srgbClr val="FFFFFF"/>
                          </a:solidFill>
                          <a:latin typeface="Aptos"/>
                          <a:ea typeface="Aptos"/>
                          <a:cs typeface="Aptos"/>
                        </a:rPr>
                        <a:t>LAVA-B</a:t>
                      </a:r>
                    </a:p>
                  </a:txBody>
                  <a:tcPr marL="73152" marR="73152" marT="27432" marB="27432" anchor="ctr">
                    <a:solidFill>
                      <a:srgbClr val="233142"/>
                    </a:solidFill>
                  </a:tcPr>
                </a:tc>
                <a:tc>
                  <a:txBody>
                    <a:bodyPr wrap="square"/>
                    <a:lstStyle/>
                    <a:p>
                      <a:pPr algn="ctr"/>
                      <a:r>
                        <a:rPr sz="1150" b="1" i="0">
                          <a:solidFill>
                            <a:srgbClr val="FFFFFF"/>
                          </a:solidFill>
                          <a:latin typeface="Aptos"/>
                          <a:ea typeface="Aptos"/>
                          <a:cs typeface="Aptos"/>
                        </a:rPr>
                        <a:t>NILAS-B</a:t>
                      </a:r>
                    </a:p>
                  </a:txBody>
                  <a:tcPr marL="73152" marR="73152" marT="27432" marB="27432" anchor="ctr">
                    <a:solidFill>
                      <a:srgbClr val="233142"/>
                    </a:solidFill>
                  </a:tcPr>
                </a:tc>
                <a:tc>
                  <a:txBody>
                    <a:bodyPr wrap="square"/>
                    <a:lstStyle/>
                    <a:p>
                      <a:pPr algn="ctr"/>
                      <a:r>
                        <a:rPr sz="1150" b="1" i="0">
                          <a:solidFill>
                            <a:srgbClr val="FFFFFF"/>
                          </a:solidFill>
                          <a:latin typeface="Aptos"/>
                          <a:ea typeface="Aptos"/>
                          <a:cs typeface="Aptos"/>
                        </a:rPr>
                        <a:t>VM-CA-B</a:t>
                      </a:r>
                    </a:p>
                  </a:txBody>
                  <a:tcPr marL="73152" marR="73152" marT="27432" marB="27432" anchor="ctr">
                    <a:solidFill>
                      <a:srgbClr val="233142"/>
                    </a:solidFill>
                  </a:tcPr>
                </a:tc>
                <a:tc>
                  <a:txBody>
                    <a:bodyPr wrap="square"/>
                    <a:lstStyle/>
                    <a:p>
                      <a:pPr algn="ctr"/>
                      <a:r>
                        <a:rPr sz="1150" b="1" i="0">
                          <a:solidFill>
                            <a:srgbClr val="FFFFFF"/>
                          </a:solidFill>
                          <a:latin typeface="Aptos"/>
                          <a:ea typeface="Aptos"/>
                          <a:cs typeface="Aptos"/>
                        </a:rPr>
                        <a:t>Host-CA-B</a:t>
                      </a:r>
                    </a:p>
                  </a:txBody>
                  <a:tcPr marL="73152" marR="73152" marT="27432" marB="27432" anchor="ctr">
                    <a:solidFill>
                      <a:srgbClr val="233142"/>
                    </a:solidFill>
                  </a:tcPr>
                </a:tc>
              </a:tr>
              <a:tr h="457200">
                <a:tc>
                  <a:txBody>
                    <a:bodyPr wrap="square"/>
                    <a:lstStyle/>
                    <a:p>
                      <a:pPr algn="l"/>
                      <a:r>
                        <a:rPr sz="1200" b="1" i="0">
                          <a:solidFill>
                            <a:srgbClr val="233142"/>
                          </a:solidFill>
                          <a:latin typeface="Aptos"/>
                          <a:ea typeface="Aptos"/>
                          <a:cs typeface="Aptos"/>
                        </a:rPr>
                        <a:t>25%</a:t>
                      </a:r>
                    </a:p>
                  </a:txBody>
                  <a:tcPr marL="73152" marR="73152" marT="27432" marB="27432" anchor="ctr">
                    <a:solidFill>
                      <a:srgbClr val="FFFFFF"/>
                    </a:solidFill>
                  </a:tcPr>
                </a:tc>
                <a:tc>
                  <a:txBody>
                    <a:bodyPr wrap="square"/>
                    <a:lstStyle/>
                    <a:p>
                      <a:pPr algn="ctr"/>
                      <a:r>
                        <a:rPr sz="1200" b="0" i="0">
                          <a:solidFill>
                            <a:srgbClr val="233142"/>
                          </a:solidFill>
                          <a:latin typeface="Aptos"/>
                          <a:ea typeface="Aptos"/>
                          <a:cs typeface="Aptos"/>
                        </a:rPr>
                        <a:t>−0.187</a:t>
                      </a:r>
                    </a:p>
                  </a:txBody>
                  <a:tcPr marL="73152" marR="73152" marT="27432" marB="27432" anchor="ctr">
                    <a:solidFill>
                      <a:srgbClr val="F2C4C1"/>
                    </a:solidFill>
                  </a:tcPr>
                </a:tc>
                <a:tc>
                  <a:txBody>
                    <a:bodyPr wrap="square"/>
                    <a:lstStyle/>
                    <a:p>
                      <a:pPr algn="ctr"/>
                      <a:r>
                        <a:rPr sz="1200" b="0" i="0">
                          <a:solidFill>
                            <a:srgbClr val="233142"/>
                          </a:solidFill>
                          <a:latin typeface="Aptos"/>
                          <a:ea typeface="Aptos"/>
                          <a:cs typeface="Aptos"/>
                        </a:rPr>
                        <a:t>−0.055</a:t>
                      </a:r>
                    </a:p>
                  </a:txBody>
                  <a:tcPr marL="73152" marR="73152" marT="27432" marB="27432" anchor="ctr">
                    <a:solidFill>
                      <a:srgbClr val="F2C4C1"/>
                    </a:solidFill>
                  </a:tcPr>
                </a:tc>
                <a:tc>
                  <a:txBody>
                    <a:bodyPr wrap="square"/>
                    <a:lstStyle/>
                    <a:p>
                      <a:pPr algn="ctr"/>
                      <a:r>
                        <a:rPr sz="1200" b="0" i="0">
                          <a:solidFill>
                            <a:srgbClr val="233142"/>
                          </a:solidFill>
                          <a:latin typeface="Aptos"/>
                          <a:ea typeface="Aptos"/>
                          <a:cs typeface="Aptos"/>
                        </a:rPr>
                        <a:t>−0.178</a:t>
                      </a:r>
                    </a:p>
                  </a:txBody>
                  <a:tcPr marL="73152" marR="73152" marT="27432" marB="27432" anchor="ctr">
                    <a:solidFill>
                      <a:srgbClr val="F2C4C1"/>
                    </a:solidFill>
                  </a:tcPr>
                </a:tc>
                <a:tc>
                  <a:txBody>
                    <a:bodyPr wrap="square"/>
                    <a:lstStyle/>
                    <a:p>
                      <a:pPr algn="ctr"/>
                      <a:r>
                        <a:rPr sz="1200" b="0" i="0">
                          <a:solidFill>
                            <a:srgbClr val="233142"/>
                          </a:solidFill>
                          <a:latin typeface="Aptos"/>
                          <a:ea typeface="Aptos"/>
                          <a:cs typeface="Aptos"/>
                        </a:rPr>
                        <a:t>−0.180</a:t>
                      </a:r>
                    </a:p>
                  </a:txBody>
                  <a:tcPr marL="73152" marR="73152" marT="27432" marB="27432" anchor="ctr">
                    <a:solidFill>
                      <a:srgbClr val="F2C4C1"/>
                    </a:solidFill>
                  </a:tcPr>
                </a:tc>
                <a:tc>
                  <a:txBody>
                    <a:bodyPr wrap="square"/>
                    <a:lstStyle/>
                    <a:p>
                      <a:pPr algn="ctr"/>
                      <a:r>
                        <a:rPr sz="1200" b="0" i="0">
                          <a:solidFill>
                            <a:srgbClr val="233142"/>
                          </a:solidFill>
                          <a:latin typeface="Aptos"/>
                          <a:ea typeface="Aptos"/>
                          <a:cs typeface="Aptos"/>
                        </a:rPr>
                        <a:t>+0.055</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+0.084</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+0.037</a:t>
                      </a:r>
                    </a:p>
                  </a:txBody>
                  <a:tcPr marL="73152" marR="73152" marT="27432" marB="27432" anchor="ctr">
                    <a:solidFill>
                      <a:srgbClr val="FFFFFF"/>
                    </a:solidFill>
                  </a:tcPr>
                </a:tc>
                <a:tc>
                  <a:txBody>
                    <a:bodyPr wrap="square"/>
                    <a:lstStyle/>
                    <a:p>
                      <a:pPr algn="ctr"/>
                      <a:r>
                        <a:rPr sz="1200" b="0" i="0">
                          <a:solidFill>
                            <a:srgbClr val="233142"/>
                          </a:solidFill>
                          <a:latin typeface="Aptos"/>
                          <a:ea typeface="Aptos"/>
                          <a:cs typeface="Aptos"/>
                        </a:rPr>
                        <a:t>−0.271</a:t>
                      </a:r>
                    </a:p>
                  </a:txBody>
                  <a:tcPr marL="73152" marR="73152" marT="27432" marB="27432" anchor="ctr">
                    <a:solidFill>
                      <a:srgbClr val="F2C4C1"/>
                    </a:solidFill>
                  </a:tcPr>
                </a:tc>
              </a:tr>
              <a:tr h="457200">
                <a:tc>
                  <a:txBody>
                    <a:bodyPr wrap="square"/>
                    <a:lstStyle/>
                    <a:p>
                      <a:pPr algn="l"/>
                      <a:r>
                        <a:rPr sz="1200" b="1" i="0">
                          <a:solidFill>
                            <a:srgbClr val="233142"/>
                          </a:solidFill>
                          <a:latin typeface="Aptos"/>
                          <a:ea typeface="Aptos"/>
                          <a:cs typeface="Aptos"/>
                        </a:rPr>
                        <a:t>50%</a:t>
                      </a:r>
                    </a:p>
                  </a:txBody>
                  <a:tcPr marL="73152" marR="73152" marT="27432" marB="27432" anchor="ctr">
                    <a:solidFill>
                      <a:srgbClr val="FFFFFF"/>
                    </a:solidFill>
                  </a:tcPr>
                </a:tc>
                <a:tc>
                  <a:txBody>
                    <a:bodyPr wrap="square"/>
                    <a:lstStyle/>
                    <a:p>
                      <a:pPr algn="ctr"/>
                      <a:r>
                        <a:rPr sz="1200" b="0" i="0">
                          <a:solidFill>
                            <a:srgbClr val="233142"/>
                          </a:solidFill>
                          <a:latin typeface="Aptos"/>
                          <a:ea typeface="Aptos"/>
                          <a:cs typeface="Aptos"/>
                        </a:rPr>
                        <a:t>−0.025</a:t>
                      </a:r>
                    </a:p>
                  </a:txBody>
                  <a:tcPr marL="73152" marR="73152" marT="27432" marB="27432" anchor="ctr">
                    <a:solidFill>
                      <a:srgbClr val="FFFFFF"/>
                    </a:solidFill>
                  </a:tcPr>
                </a:tc>
                <a:tc>
                  <a:txBody>
                    <a:bodyPr wrap="square"/>
                    <a:lstStyle/>
                    <a:p>
                      <a:pPr algn="ctr"/>
                      <a:r>
                        <a:rPr sz="1200" b="0" i="0">
                          <a:solidFill>
                            <a:srgbClr val="233142"/>
                          </a:solidFill>
                          <a:latin typeface="Aptos"/>
                          <a:ea typeface="Aptos"/>
                          <a:cs typeface="Aptos"/>
                        </a:rPr>
                        <a:t>+0.076</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−0.025</a:t>
                      </a:r>
                    </a:p>
                  </a:txBody>
                  <a:tcPr marL="73152" marR="73152" marT="27432" marB="27432" anchor="ctr">
                    <a:solidFill>
                      <a:srgbClr val="FFFFFF"/>
                    </a:solidFill>
                  </a:tcPr>
                </a:tc>
                <a:tc>
                  <a:txBody>
                    <a:bodyPr wrap="square"/>
                    <a:lstStyle/>
                    <a:p>
                      <a:pPr algn="ctr"/>
                      <a:r>
                        <a:rPr sz="1200" b="0" i="0">
                          <a:solidFill>
                            <a:srgbClr val="233142"/>
                          </a:solidFill>
                          <a:latin typeface="Aptos"/>
                          <a:ea typeface="Aptos"/>
                          <a:cs typeface="Aptos"/>
                        </a:rPr>
                        <a:t>−0.025</a:t>
                      </a:r>
                    </a:p>
                  </a:txBody>
                  <a:tcPr marL="73152" marR="73152" marT="27432" marB="27432" anchor="ctr">
                    <a:solidFill>
                      <a:srgbClr val="FFFFFF"/>
                    </a:solidFill>
                  </a:tcPr>
                </a:tc>
                <a:tc>
                  <a:txBody>
                    <a:bodyPr wrap="square"/>
                    <a:lstStyle/>
                    <a:p>
                      <a:pPr algn="ctr"/>
                      <a:r>
                        <a:rPr sz="1200" b="0" i="0">
                          <a:solidFill>
                            <a:srgbClr val="233142"/>
                          </a:solidFill>
                          <a:latin typeface="Aptos"/>
                          <a:ea typeface="Aptos"/>
                          <a:cs typeface="Aptos"/>
                        </a:rPr>
                        <a:t>+0.118</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+0.135</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+0.122</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−0.162</a:t>
                      </a:r>
                    </a:p>
                  </a:txBody>
                  <a:tcPr marL="73152" marR="73152" marT="27432" marB="27432" anchor="ctr">
                    <a:solidFill>
                      <a:srgbClr val="F2C4C1"/>
                    </a:solidFill>
                  </a:tcPr>
                </a:tc>
              </a:tr>
              <a:tr h="457200">
                <a:tc>
                  <a:txBody>
                    <a:bodyPr wrap="square"/>
                    <a:lstStyle/>
                    <a:p>
                      <a:pPr algn="l"/>
                      <a:r>
                        <a:rPr sz="1200" b="1" i="0">
                          <a:solidFill>
                            <a:srgbClr val="233142"/>
                          </a:solidFill>
                          <a:latin typeface="Aptos"/>
                          <a:ea typeface="Aptos"/>
                          <a:cs typeface="Aptos"/>
                        </a:rPr>
                        <a:t>75%</a:t>
                      </a:r>
                    </a:p>
                  </a:txBody>
                  <a:tcPr marL="73152" marR="73152" marT="27432" marB="27432" anchor="ctr">
                    <a:solidFill>
                      <a:srgbClr val="FFFFFF"/>
                    </a:solidFill>
                  </a:tcPr>
                </a:tc>
                <a:tc>
                  <a:txBody>
                    <a:bodyPr wrap="square"/>
                    <a:lstStyle/>
                    <a:p>
                      <a:pPr algn="ctr"/>
                      <a:r>
                        <a:rPr sz="1200" b="0" i="0">
                          <a:solidFill>
                            <a:srgbClr val="233142"/>
                          </a:solidFill>
                          <a:latin typeface="Aptos"/>
                          <a:ea typeface="Aptos"/>
                          <a:cs typeface="Aptos"/>
                        </a:rPr>
                        <a:t>+0.218</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+0.218</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+0.218</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+0.218</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+0.261</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+0.324</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+0.272</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+0.030</a:t>
                      </a:r>
                    </a:p>
                  </a:txBody>
                  <a:tcPr marL="73152" marR="73152" marT="27432" marB="27432" anchor="ctr">
                    <a:solidFill>
                      <a:srgbClr val="FFFFFF"/>
                    </a:solidFill>
                  </a:tcPr>
                </a:tc>
              </a:tr>
              <a:tr h="457200">
                <a:tc>
                  <a:txBody>
                    <a:bodyPr wrap="square"/>
                    <a:lstStyle/>
                    <a:p>
                      <a:pPr algn="l"/>
                      <a:r>
                        <a:rPr sz="1200" b="1" i="0">
                          <a:solidFill>
                            <a:srgbClr val="233142"/>
                          </a:solidFill>
                          <a:latin typeface="Aptos"/>
                          <a:ea typeface="Aptos"/>
                          <a:cs typeface="Aptos"/>
                        </a:rPr>
                        <a:t>85%</a:t>
                      </a:r>
                    </a:p>
                  </a:txBody>
                  <a:tcPr marL="73152" marR="73152" marT="27432" marB="27432" anchor="ctr">
                    <a:solidFill>
                      <a:srgbClr val="FFFFFF"/>
                    </a:solidFill>
                  </a:tcPr>
                </a:tc>
                <a:tc>
                  <a:txBody>
                    <a:bodyPr wrap="square"/>
                    <a:lstStyle/>
                    <a:p>
                      <a:pPr algn="ctr"/>
                      <a:r>
                        <a:rPr sz="1200" b="0" i="0">
                          <a:solidFill>
                            <a:srgbClr val="233142"/>
                          </a:solidFill>
                          <a:latin typeface="Aptos"/>
                          <a:ea typeface="Aptos"/>
                          <a:cs typeface="Aptos"/>
                        </a:rPr>
                        <a:t>+0.309</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+0.349</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+0.309</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+0.309</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+0.414</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+0.386</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+0.398</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+0.199</a:t>
                      </a:r>
                    </a:p>
                  </a:txBody>
                  <a:tcPr marL="73152" marR="73152" marT="27432" marB="27432" anchor="ctr">
                    <a:solidFill>
                      <a:srgbClr val="BFE3C9"/>
                    </a:solidFill>
                  </a:tcPr>
                </a:tc>
              </a:tr>
              <a:tr h="457200">
                <a:tc>
                  <a:txBody>
                    <a:bodyPr wrap="square"/>
                    <a:lstStyle/>
                    <a:p>
                      <a:pPr algn="l"/>
                      <a:r>
                        <a:rPr sz="1200" b="1" i="0">
                          <a:solidFill>
                            <a:srgbClr val="233142"/>
                          </a:solidFill>
                          <a:latin typeface="Aptos"/>
                          <a:ea typeface="Aptos"/>
                          <a:cs typeface="Aptos"/>
                        </a:rPr>
                        <a:t>100%</a:t>
                      </a:r>
                    </a:p>
                  </a:txBody>
                  <a:tcPr marL="73152" marR="73152" marT="27432" marB="27432" anchor="ctr">
                    <a:solidFill>
                      <a:srgbClr val="FFFFFF"/>
                    </a:solidFill>
                  </a:tcPr>
                </a:tc>
                <a:tc>
                  <a:txBody>
                    <a:bodyPr wrap="square"/>
                    <a:lstStyle/>
                    <a:p>
                      <a:pPr algn="ctr"/>
                      <a:r>
                        <a:rPr sz="1200" b="0" i="0">
                          <a:solidFill>
                            <a:srgbClr val="233142"/>
                          </a:solidFill>
                          <a:latin typeface="Aptos"/>
                          <a:ea typeface="Aptos"/>
                          <a:cs typeface="Aptos"/>
                        </a:rPr>
                        <a:t>+0.507</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+0.476</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+0.507</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+0.507</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+0.551</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+0.599</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+0.551</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+0.551</a:t>
                      </a:r>
                    </a:p>
                  </a:txBody>
                  <a:tcPr marL="73152" marR="73152" marT="27432" marB="27432" anchor="ctr">
                    <a:solidFill>
                      <a:srgbClr val="BFE3C9"/>
                    </a:solidFill>
                  </a:tcPr>
                </a:tc>
              </a:tr>
              <a:tr h="457200">
                <a:tc>
                  <a:txBody>
                    <a:bodyPr wrap="square"/>
                    <a:lstStyle/>
                    <a:p>
                      <a:pPr algn="l"/>
                      <a:r>
                        <a:rPr sz="1200" b="1" i="0">
                          <a:solidFill>
                            <a:srgbClr val="233142"/>
                          </a:solidFill>
                          <a:latin typeface="Aptos"/>
                          <a:ea typeface="Aptos"/>
                          <a:cs typeface="Aptos"/>
                        </a:rPr>
                        <a:t>Default</a:t>
                      </a:r>
                    </a:p>
                  </a:txBody>
                  <a:tcPr marL="73152" marR="73152" marT="27432" marB="27432" anchor="ctr">
                    <a:solidFill>
                      <a:srgbClr val="FFFFFF"/>
                    </a:solidFill>
                  </a:tcPr>
                </a:tc>
                <a:tc>
                  <a:txBody>
                    <a:bodyPr wrap="square"/>
                    <a:lstStyle/>
                    <a:p>
                      <a:pPr algn="ctr"/>
                      <a:r>
                        <a:rPr sz="1200" b="0" i="0">
                          <a:solidFill>
                            <a:srgbClr val="233142"/>
                          </a:solidFill>
                          <a:latin typeface="Aptos"/>
                          <a:ea typeface="Aptos"/>
                          <a:cs typeface="Aptos"/>
                        </a:rPr>
                        <a:t>−0.043</a:t>
                      </a:r>
                    </a:p>
                  </a:txBody>
                  <a:tcPr marL="73152" marR="73152" marT="27432" marB="27432" anchor="ctr">
                    <a:solidFill>
                      <a:srgbClr val="FFFFFF"/>
                    </a:solidFill>
                  </a:tcPr>
                </a:tc>
                <a:tc>
                  <a:txBody>
                    <a:bodyPr wrap="square"/>
                    <a:lstStyle/>
                    <a:p>
                      <a:pPr algn="ctr"/>
                      <a:r>
                        <a:rPr sz="1200" b="0" i="0">
                          <a:solidFill>
                            <a:srgbClr val="233142"/>
                          </a:solidFill>
                          <a:latin typeface="Aptos"/>
                          <a:ea typeface="Aptos"/>
                          <a:cs typeface="Aptos"/>
                        </a:rPr>
                        <a:t>+0.049</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−0.015</a:t>
                      </a:r>
                    </a:p>
                  </a:txBody>
                  <a:tcPr marL="73152" marR="73152" marT="27432" marB="27432" anchor="ctr">
                    <a:solidFill>
                      <a:srgbClr val="FFFFFF"/>
                    </a:solidFill>
                  </a:tcPr>
                </a:tc>
                <a:tc>
                  <a:txBody>
                    <a:bodyPr wrap="square"/>
                    <a:lstStyle/>
                    <a:p>
                      <a:pPr algn="ctr"/>
                      <a:r>
                        <a:rPr sz="1200" b="0" i="0">
                          <a:solidFill>
                            <a:srgbClr val="233142"/>
                          </a:solidFill>
                          <a:latin typeface="Aptos"/>
                          <a:ea typeface="Aptos"/>
                          <a:cs typeface="Aptos"/>
                        </a:rPr>
                        <a:t>−0.090</a:t>
                      </a:r>
                    </a:p>
                  </a:txBody>
                  <a:tcPr marL="73152" marR="73152" marT="27432" marB="27432" anchor="ctr">
                    <a:solidFill>
                      <a:srgbClr val="F2C4C1"/>
                    </a:solidFill>
                  </a:tcPr>
                </a:tc>
                <a:tc>
                  <a:txBody>
                    <a:bodyPr wrap="square"/>
                    <a:lstStyle/>
                    <a:p>
                      <a:pPr algn="ctr"/>
                      <a:r>
                        <a:rPr sz="1200" b="0" i="0">
                          <a:solidFill>
                            <a:srgbClr val="233142"/>
                          </a:solidFill>
                          <a:latin typeface="Aptos"/>
                          <a:ea typeface="Aptos"/>
                          <a:cs typeface="Aptos"/>
                        </a:rPr>
                        <a:t>−0.043</a:t>
                      </a:r>
                    </a:p>
                  </a:txBody>
                  <a:tcPr marL="73152" marR="73152" marT="27432" marB="27432" anchor="ctr">
                    <a:solidFill>
                      <a:srgbClr val="FFFFFF"/>
                    </a:solidFill>
                  </a:tcPr>
                </a:tc>
                <a:tc>
                  <a:txBody>
                    <a:bodyPr wrap="square"/>
                    <a:lstStyle/>
                    <a:p>
                      <a:pPr algn="ctr"/>
                      <a:r>
                        <a:rPr sz="1200" b="0" i="0">
                          <a:solidFill>
                            <a:srgbClr val="233142"/>
                          </a:solidFill>
                          <a:latin typeface="Aptos"/>
                          <a:ea typeface="Aptos"/>
                          <a:cs typeface="Aptos"/>
                        </a:rPr>
                        <a:t>+0.049</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−0.015</a:t>
                      </a:r>
                    </a:p>
                  </a:txBody>
                  <a:tcPr marL="73152" marR="73152" marT="27432" marB="27432" anchor="ctr">
                    <a:solidFill>
                      <a:srgbClr val="FFFFFF"/>
                    </a:solidFill>
                  </a:tcPr>
                </a:tc>
                <a:tc>
                  <a:txBody>
                    <a:bodyPr wrap="square"/>
                    <a:lstStyle/>
                    <a:p>
                      <a:pPr algn="ctr"/>
                      <a:r>
                        <a:rPr sz="1200" b="0" i="0">
                          <a:solidFill>
                            <a:srgbClr val="233142"/>
                          </a:solidFill>
                          <a:latin typeface="Aptos"/>
                          <a:ea typeface="Aptos"/>
                          <a:cs typeface="Aptos"/>
                        </a:rPr>
                        <a:t>−0.090</a:t>
                      </a:r>
                    </a:p>
                  </a:txBody>
                  <a:tcPr marL="73152" marR="73152" marT="27432" marB="27432" anchor="ctr">
                    <a:solidFill>
                      <a:srgbClr val="F2C4C1"/>
                    </a:solidFill>
                  </a:tcPr>
                </a:tc>
              </a:tr>
              <a:tr h="457200">
                <a:tc>
                  <a:txBody>
                    <a:bodyPr wrap="square"/>
                    <a:lstStyle/>
                    <a:p>
                      <a:pPr algn="l"/>
                      <a:r>
                        <a:rPr sz="1200" b="1" i="0">
                          <a:solidFill>
                            <a:srgbClr val="233142"/>
                          </a:solidFill>
                          <a:latin typeface="Aptos"/>
                          <a:ea typeface="Aptos"/>
                          <a:cs typeface="Aptos"/>
                        </a:rPr>
                        <a:t>Oracle</a:t>
                      </a:r>
                    </a:p>
                  </a:txBody>
                  <a:tcPr marL="73152" marR="73152" marT="27432" marB="27432" anchor="ctr">
                    <a:solidFill>
                      <a:srgbClr val="FFFFFF"/>
                    </a:solidFill>
                  </a:tcPr>
                </a:tc>
                <a:tc>
                  <a:txBody>
                    <a:bodyPr wrap="square"/>
                    <a:lstStyle/>
                    <a:p>
                      <a:pPr algn="ctr"/>
                      <a:r>
                        <a:rPr sz="1200" b="0" i="0">
                          <a:solidFill>
                            <a:srgbClr val="233142"/>
                          </a:solidFill>
                          <a:latin typeface="Aptos"/>
                          <a:ea typeface="Aptos"/>
                          <a:cs typeface="Aptos"/>
                        </a:rPr>
                        <a:t>+0.552</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+0.581</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+0.552</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+0.552</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+0.552</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+0.581</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+0.552</a:t>
                      </a:r>
                    </a:p>
                  </a:txBody>
                  <a:tcPr marL="73152" marR="73152" marT="27432" marB="27432" anchor="ctr">
                    <a:solidFill>
                      <a:srgbClr val="BFE3C9"/>
                    </a:solidFill>
                  </a:tcPr>
                </a:tc>
                <a:tc>
                  <a:txBody>
                    <a:bodyPr wrap="square"/>
                    <a:lstStyle/>
                    <a:p>
                      <a:pPr algn="ctr"/>
                      <a:r>
                        <a:rPr sz="1200" b="0" i="0">
                          <a:solidFill>
                            <a:srgbClr val="233142"/>
                          </a:solidFill>
                          <a:latin typeface="Aptos"/>
                          <a:ea typeface="Aptos"/>
                          <a:cs typeface="Aptos"/>
                        </a:rPr>
                        <a:t>+0.552</a:t>
                      </a:r>
                    </a:p>
                  </a:txBody>
                  <a:tcPr marL="73152" marR="73152" marT="27432" marB="27432" anchor="ctr">
                    <a:solidFill>
                      <a:srgbClr val="BFE3C9"/>
                    </a:solidFill>
                  </a:tcPr>
                </a:tc>
              </a:tr>
            </a:tbl>
          </a:graphicData>
        </a:graphic>
      </p:graphicFrame>
      <p:sp>
        <p:nvSpPr>
          <p:cNvPr id="7" name="TextBox 6"/>
          <p:cNvSpPr txBox="1"/>
          <p:nvPr/>
        </p:nvSpPr>
        <p:spPr>
          <a:xfrm>
            <a:off x="685800" y="5166360"/>
            <a:ext cx="10835640" cy="292608"/>
          </a:xfrm>
          <a:prstGeom prst="rect">
            <a:avLst/>
          </a:prstGeom>
          <a:noFill/>
        </p:spPr>
        <p:txBody>
          <a:bodyPr wrap="square" lIns="36576" rIns="36576" tIns="36576" bIns="36576" anchor="t">
            <a:noAutofit/>
          </a:bodyPr>
          <a:lstStyle/>
          <a:p>
            <a:pPr algn="ctr"/>
            <a:r>
              <a:rPr sz="1200" b="1" i="0">
                <a:solidFill>
                  <a:srgbClr val="5A6573"/>
                </a:solidFill>
                <a:latin typeface="Aptos"/>
                <a:ea typeface="Aptos"/>
                <a:cs typeface="Aptos"/>
              </a:rPr>
              <a:t>Mean pp versus same-seed Best-Fit (n = 100); “-B” = prior-fused variant. Green / red: 95% interval above / below zero.</a:t>
            </a:r>
          </a:p>
        </p:txBody>
      </p:sp>
      <p:sp>
        <p:nvSpPr>
          <p:cNvPr id="8" name="TextBox 7"/>
          <p:cNvSpPr txBox="1"/>
          <p:nvPr/>
        </p:nvSpPr>
        <p:spPr>
          <a:xfrm>
            <a:off x="685800" y="5577840"/>
            <a:ext cx="10835640" cy="292608"/>
          </a:xfrm>
          <a:prstGeom prst="rect">
            <a:avLst/>
          </a:prstGeom>
          <a:noFill/>
        </p:spPr>
        <p:txBody>
          <a:bodyPr wrap="square" lIns="36576" rIns="36576" tIns="36576" bIns="36576" anchor="t">
            <a:noAutofit/>
          </a:bodyPr>
          <a:lstStyle/>
          <a:p>
            <a:pPr algn="ctr"/>
            <a:r>
              <a:rPr sz="1200" b="1" i="0">
                <a:solidFill>
                  <a:srgbClr val="5A6573"/>
                </a:solidFill>
                <a:latin typeface="Aptos"/>
                <a:ea typeface="Aptos"/>
                <a:cs typeface="Aptos"/>
              </a:rPr>
              <a:t>Under the default predictor and the Oracle the fused variants equal their base policies by construction.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2026-10-28T11:32:11.3300000Z</dcterms:created>
  <dcterms:modified xsi:type="dcterms:W3CDTF">2026-10-28T11:32:11.3310000Z</dcterms:modified>
</coreProperties>
</file>