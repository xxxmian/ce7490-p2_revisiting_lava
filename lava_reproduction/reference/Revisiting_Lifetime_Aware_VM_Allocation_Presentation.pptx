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537667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960120"/>
            <a:ext cx="5760720" cy="12344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233142"/>
                </a:solidFill>
                <a:latin typeface="Aptos"/>
              </a:rPr>
              <a:t>Revisiting Lifetime-Aware
VM Allocation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331720"/>
            <a:ext cx="5577840" cy="8229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2F5D8A"/>
                </a:solidFill>
                <a:latin typeface="Aptos"/>
              </a:rPr>
              <a:t>Prediction Sensitivity and Host-Level
Confidence-Aware 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401568"/>
            <a:ext cx="539496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6B7785"/>
                </a:solidFill>
                <a:latin typeface="Aptos"/>
              </a:rPr>
              <a:t>From reproduction → negative result → mechanism-driven improvement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187952"/>
            <a:ext cx="2057400" cy="347472"/>
          </a:xfrm>
          <a:prstGeom prst="roundRect">
            <a:avLst/>
          </a:prstGeom>
          <a:solidFill>
            <a:srgbClr val="2F5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206240"/>
            <a:ext cx="205740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MLSys 2025 reproduction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4187952"/>
            <a:ext cx="1828800" cy="347472"/>
          </a:xfrm>
          <a:prstGeom prst="roundRect">
            <a:avLst/>
          </a:prstGeom>
          <a:solidFill>
            <a:srgbClr val="3E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60" y="4206240"/>
            <a:ext cx="182880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20 paired test seeds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645152"/>
            <a:ext cx="2331720" cy="347472"/>
          </a:xfrm>
          <a:prstGeom prst="round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663440"/>
            <a:ext cx="2331720" cy="2743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95% confidence intervals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806440"/>
            <a:ext cx="36576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Aptos"/>
              </a:rPr>
              <a:t>Course Project Author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144768"/>
            <a:ext cx="36576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6B7785"/>
                </a:solidFill>
                <a:latin typeface="Aptos"/>
              </a:rPr>
              <a:t>Frozen artifact: 377cbb1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02920" cy="34747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D9822B"/>
                </a:solidFill>
                <a:latin typeface="Apto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56032"/>
            <a:ext cx="105613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233142"/>
                </a:solidFill>
                <a:latin typeface="Aptos"/>
              </a:rPr>
              <a:t>The problem: packing today can fragment tomorrow</a:t>
            </a:r>
          </a:p>
        </p:txBody>
      </p:sp>
      <p:pic>
        <p:nvPicPr>
          <p:cNvPr id="4" name="Picture 3" descr="fragmentation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6583680" cy="4160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498079" y="1188720"/>
            <a:ext cx="406908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98079" y="1188720"/>
            <a:ext cx="64008" cy="1143000"/>
          </a:xfrm>
          <a:prstGeom prst="rect">
            <a:avLst/>
          </a:prstGeom>
          <a:solidFill>
            <a:srgbClr val="2F5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62671" y="1298448"/>
            <a:ext cx="377647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2F5D8A"/>
                </a:solidFill>
                <a:latin typeface="Aptos"/>
              </a:rPr>
              <a:t>Multidimensional fragmentation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62671" y="1664208"/>
            <a:ext cx="3776472" cy="5760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233142"/>
                </a:solidFill>
                <a:latin typeface="Aptos"/>
              </a:rPr>
              <a:t>CPU and memory can remain individually free but unusable together.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2560320"/>
            <a:ext cx="406908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79" y="2560320"/>
            <a:ext cx="64008" cy="11430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1" y="2670048"/>
            <a:ext cx="377647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D9822B"/>
                </a:solidFill>
                <a:latin typeface="Aptos"/>
              </a:rPr>
              <a:t>Time is the hidden dimension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1" y="3035808"/>
            <a:ext cx="3776472" cy="5760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233142"/>
                </a:solidFill>
                <a:latin typeface="Aptos"/>
              </a:rPr>
              <a:t>VMs that fit equally well may exit hours—or months—apart.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3931920"/>
            <a:ext cx="406908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98079" y="3931920"/>
            <a:ext cx="64008" cy="1143000"/>
          </a:xfrm>
          <a:prstGeom prst="rect">
            <a:avLst/>
          </a:prstGeom>
          <a:solidFill>
            <a:srgbClr val="3E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1" y="4041648"/>
            <a:ext cx="377647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3E7C59"/>
                </a:solidFill>
                <a:latin typeface="Aptos"/>
              </a:rPr>
              <a:t>Operational consequence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1" y="4407408"/>
            <a:ext cx="3776472" cy="5760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233142"/>
                </a:solidFill>
                <a:latin typeface="Aptos"/>
              </a:rPr>
              <a:t>Fewer empty hosts means lower obtainability, less maintenance flexibility, and weaker energy opportunities.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650992"/>
            <a:ext cx="106984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233142"/>
                </a:solidFill>
                <a:latin typeface="Aptos"/>
              </a:rPr>
              <a:t>Research objective: maximize time-weighted empty-host percentage without rejecting VMs.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28816"/>
            <a:ext cx="393192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B7785"/>
                </a:solidFill>
                <a:latin typeface="Aptos"/>
              </a:rPr>
              <a:t>LAVA reproduction · commit 377cbb1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B7785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02920" cy="34747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D9822B"/>
                </a:solidFill>
                <a:latin typeface="Apto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56032"/>
            <a:ext cx="105613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233142"/>
                </a:solidFill>
                <a:latin typeface="Aptos"/>
              </a:rPr>
              <a:t>What LAVA adds to conventional bin packing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260604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64008" cy="1828800"/>
          </a:xfrm>
          <a:prstGeom prst="rect">
            <a:avLst/>
          </a:prstGeom>
          <a:solidFill>
            <a:srgbClr val="2F5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252728"/>
            <a:ext cx="231343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2F5D8A"/>
                </a:solidFill>
                <a:latin typeface="Aptos"/>
              </a:rPr>
              <a:t>1 · Distributional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618488"/>
            <a:ext cx="2313432" cy="1261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233142"/>
                </a:solidFill>
                <a:latin typeface="Aptos"/>
              </a:rPr>
              <a:t>Predict remaining-lifetime distributions rather than a single permanent label.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143000"/>
            <a:ext cx="260604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9000" y="1143000"/>
            <a:ext cx="64008" cy="18288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1252728"/>
            <a:ext cx="231343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D9822B"/>
                </a:solidFill>
                <a:latin typeface="Aptos"/>
              </a:rPr>
              <a:t>2 · Re-prediction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1618488"/>
            <a:ext cx="2313432" cy="1261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233142"/>
                </a:solidFill>
                <a:latin typeface="Aptos"/>
              </a:rPr>
              <a:t>Condition on uptime so initially unpredictable long-lived VMs can be corrected later.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143000"/>
            <a:ext cx="260604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143000"/>
            <a:ext cx="64008" cy="1828800"/>
          </a:xfrm>
          <a:prstGeom prst="rect">
            <a:avLst/>
          </a:prstGeom>
          <a:solidFill>
            <a:srgbClr val="3E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1" y="1252728"/>
            <a:ext cx="231343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3E7C59"/>
                </a:solidFill>
                <a:latin typeface="Aptos"/>
              </a:rPr>
              <a:t>3 · Host lifecycle state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1" y="1618488"/>
            <a:ext cx="2313432" cy="1261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233142"/>
                </a:solidFill>
                <a:latin typeface="Aptos"/>
              </a:rPr>
              <a:t>Hosts move from empty → open → recycling and adapt their lifetime class.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143000"/>
            <a:ext cx="246888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98280" y="1143000"/>
            <a:ext cx="64008" cy="1828800"/>
          </a:xfrm>
          <a:prstGeom prst="rect">
            <a:avLst/>
          </a:prstGeom>
          <a:solidFill>
            <a:srgbClr val="2F5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62872" y="1252728"/>
            <a:ext cx="217627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2F5D8A"/>
                </a:solidFill>
                <a:latin typeface="Aptos"/>
              </a:rPr>
              <a:t>4 · Temporal placement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1618488"/>
            <a:ext cx="2176272" cy="12618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233142"/>
                </a:solidFill>
                <a:latin typeface="Aptos"/>
              </a:rPr>
              <a:t>Prefer placements that allow host cohorts to exit together.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886200"/>
            <a:ext cx="123444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2F5D8A"/>
                </a:solidFill>
                <a:latin typeface="Aptos"/>
              </a:rPr>
              <a:t>empty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886200"/>
            <a:ext cx="123444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D9822B"/>
                </a:solidFill>
                <a:latin typeface="Aptos"/>
              </a:rPr>
              <a:t>open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3886200"/>
            <a:ext cx="155448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3E7C59"/>
                </a:solidFill>
                <a:latin typeface="Aptos"/>
              </a:rPr>
              <a:t>recycling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194560" y="4133087"/>
            <a:ext cx="1920240" cy="0"/>
          </a:xfrm>
          <a:prstGeom prst="line">
            <a:avLst/>
          </a:prstGeom>
          <a:ln w="19050">
            <a:solidFill>
              <a:srgbClr val="6B77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440680" y="4133087"/>
            <a:ext cx="2011680" cy="0"/>
          </a:xfrm>
          <a:prstGeom prst="line">
            <a:avLst/>
          </a:prstGeom>
          <a:ln w="19050">
            <a:solidFill>
              <a:srgbClr val="6B77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560320" y="3840480"/>
            <a:ext cx="10058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0">
                <a:solidFill>
                  <a:srgbClr val="6B7785"/>
                </a:solidFill>
                <a:latin typeface="Aptos"/>
              </a:rPr>
              <a:t>first VM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60" y="3840480"/>
            <a:ext cx="1645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0">
                <a:solidFill>
                  <a:srgbClr val="6B7785"/>
                </a:solidFill>
                <a:latin typeface="Aptos"/>
              </a:rPr>
              <a:t>≥90% CPU or memory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74519" y="4892040"/>
            <a:ext cx="841248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874519" y="4892040"/>
            <a:ext cx="64008" cy="914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39112" y="5001768"/>
            <a:ext cx="8119871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D9822B"/>
                </a:solidFill>
                <a:latin typeface="Aptos"/>
              </a:rPr>
              <a:t>Adaptation to mistakes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39112" y="5367527"/>
            <a:ext cx="8119871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233142"/>
                </a:solidFill>
                <a:latin typeface="Aptos"/>
              </a:rPr>
              <a:t>Residual cohorts lower the host class when they depart; missed deadlines raise it when VMs outlive their prediction.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28816"/>
            <a:ext cx="393192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B7785"/>
                </a:solidFill>
                <a:latin typeface="Aptos"/>
              </a:rPr>
              <a:t>LAVA reproduction · commit 377cbb1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B7785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02920" cy="34747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D9822B"/>
                </a:solidFill>
                <a:latin typeface="Apto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56032"/>
            <a:ext cx="105613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233142"/>
                </a:solidFill>
                <a:latin typeface="Aptos"/>
              </a:rPr>
              <a:t>What this project reproduces—and what it does not</a:t>
            </a:r>
          </a:p>
        </p:txBody>
      </p:sp>
      <p:pic>
        <p:nvPicPr>
          <p:cNvPr id="4" name="Picture 3" descr="experiment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51560"/>
            <a:ext cx="10698480" cy="3520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4617720"/>
            <a:ext cx="342900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4617720"/>
            <a:ext cx="64008" cy="1234440"/>
          </a:xfrm>
          <a:prstGeom prst="rect">
            <a:avLst/>
          </a:prstGeom>
          <a:solidFill>
            <a:srgbClr val="3E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4727448"/>
            <a:ext cx="313639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3E7C59"/>
                </a:solidFill>
                <a:latin typeface="Aptos"/>
              </a:rPr>
              <a:t>Reproduced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5093208"/>
            <a:ext cx="3136392" cy="6675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233142"/>
                </a:solidFill>
                <a:latin typeface="Aptos"/>
              </a:rPr>
              <a:t>Public algorithms, two-dimensional constraints, re-prediction, host states, controlled noise, paired statistics.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4617720"/>
            <a:ext cx="342900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4617720"/>
            <a:ext cx="64008" cy="1234440"/>
          </a:xfrm>
          <a:prstGeom prst="rect">
            <a:avLst/>
          </a:prstGeom>
          <a:solidFill>
            <a:srgbClr val="B6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4727448"/>
            <a:ext cx="313639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B64A4A"/>
                </a:solidFill>
                <a:latin typeface="Aptos"/>
              </a:rPr>
              <a:t>Not reproducible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5093208"/>
            <a:ext cx="3136392" cy="6675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233142"/>
                </a:solidFill>
                <a:latin typeface="Aptos"/>
              </a:rPr>
              <a:t>Borg source, Google production traces, private features, hierarchical scores, rollout and warm-up behavior.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4617720"/>
            <a:ext cx="342900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4617720"/>
            <a:ext cx="64008" cy="1234440"/>
          </a:xfrm>
          <a:prstGeom prst="rect">
            <a:avLst/>
          </a:prstGeom>
          <a:solidFill>
            <a:srgbClr val="2F5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4727448"/>
            <a:ext cx="313639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2F5D8A"/>
                </a:solidFill>
                <a:latin typeface="Aptos"/>
              </a:rPr>
              <a:t>Claim boundary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5093208"/>
            <a:ext cx="3136392" cy="6675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233142"/>
                </a:solidFill>
                <a:latin typeface="Aptos"/>
              </a:rPr>
              <a:t>Mechanistic reproduction and comparative synthetic evidence—not numerical replication of Google results.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28816"/>
            <a:ext cx="393192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B7785"/>
                </a:solidFill>
                <a:latin typeface="Aptos"/>
              </a:rPr>
              <a:t>LAVA reproduction · commit 377cbb1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B7785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02920" cy="34747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D9822B"/>
                </a:solidFill>
                <a:latin typeface="Apto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56032"/>
            <a:ext cx="105613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233142"/>
                </a:solidFill>
                <a:latin typeface="Aptos"/>
              </a:rPr>
              <a:t>Methods compared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315468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64008" cy="1874519"/>
          </a:xfrm>
          <a:prstGeom prst="rect">
            <a:avLst/>
          </a:prstGeom>
          <a:solidFill>
            <a:srgbClr val="2F5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298448"/>
            <a:ext cx="286207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2F5D8A"/>
                </a:solidFill>
                <a:latin typeface="Aptos"/>
              </a:rPr>
              <a:t>Best-Fit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664208"/>
            <a:ext cx="2862072" cy="130759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33142"/>
                </a:solidFill>
                <a:latin typeface="Aptos"/>
              </a:rPr>
              <a:t>Resource-only baseline
Minimize residual CPU/memory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188720"/>
            <a:ext cx="315468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60520" y="1188720"/>
            <a:ext cx="64008" cy="1874519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5112" y="1298448"/>
            <a:ext cx="286207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D9822B"/>
                </a:solidFill>
                <a:latin typeface="Aptos"/>
              </a:rPr>
              <a:t>LA-Binary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5112" y="1664208"/>
            <a:ext cx="2862072" cy="130759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33142"/>
                </a:solidFill>
                <a:latin typeface="Aptos"/>
              </a:rPr>
              <a:t>One-shot short/long label
Then Best-Fit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1188720"/>
            <a:ext cx="315468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80960" y="1188720"/>
            <a:ext cx="64008" cy="1874519"/>
          </a:xfrm>
          <a:prstGeom prst="rect">
            <a:avLst/>
          </a:prstGeom>
          <a:solidFill>
            <a:srgbClr val="3E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45552" y="1298448"/>
            <a:ext cx="286207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3E7C59"/>
                </a:solidFill>
                <a:latin typeface="Aptos"/>
              </a:rPr>
              <a:t>NILAS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45552" y="1664208"/>
            <a:ext cx="2862072" cy="130759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33142"/>
                </a:solidFill>
                <a:latin typeface="Aptos"/>
              </a:rPr>
              <a:t>Re-predicted temporal cost
Then Best-Fit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57600"/>
            <a:ext cx="315468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657600"/>
            <a:ext cx="64008" cy="1874519"/>
          </a:xfrm>
          <a:prstGeom prst="rect">
            <a:avLst/>
          </a:prstGeom>
          <a:solidFill>
            <a:srgbClr val="2F5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1" y="3767328"/>
            <a:ext cx="286207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2F5D8A"/>
                </a:solidFill>
                <a:latin typeface="Aptos"/>
              </a:rPr>
              <a:t>LAVA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4133087"/>
            <a:ext cx="2862072" cy="130759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33142"/>
                </a:solidFill>
                <a:latin typeface="Aptos"/>
              </a:rPr>
              <a:t>Lifetime classes + host states
Adapt to outliving VMs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60520" y="3657600"/>
            <a:ext cx="315468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60520" y="3657600"/>
            <a:ext cx="64008" cy="1874519"/>
          </a:xfrm>
          <a:prstGeom prst="rect">
            <a:avLst/>
          </a:prstGeom>
          <a:solidFill>
            <a:srgbClr val="B6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25112" y="3767328"/>
            <a:ext cx="286207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B64A4A"/>
                </a:solidFill>
                <a:latin typeface="Aptos"/>
              </a:rPr>
              <a:t>VM-Level 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5112" y="4133087"/>
            <a:ext cx="2862072" cy="130759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33142"/>
                </a:solidFill>
                <a:latin typeface="Aptos"/>
              </a:rPr>
              <a:t>Per-arrival LAVA / Best-Fit switch
Negative result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80960" y="3657600"/>
            <a:ext cx="315468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80960" y="3657600"/>
            <a:ext cx="64008" cy="1874519"/>
          </a:xfrm>
          <a:prstGeom prst="rect">
            <a:avLst/>
          </a:prstGeom>
          <a:solidFill>
            <a:srgbClr val="3E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45552" y="3767328"/>
            <a:ext cx="286207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3E7C59"/>
                </a:solidFill>
                <a:latin typeface="Aptos"/>
              </a:rPr>
              <a:t>Host-Level 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45552" y="4133087"/>
            <a:ext cx="2862072" cy="130759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33142"/>
                </a:solidFill>
                <a:latin typeface="Aptos"/>
              </a:rPr>
              <a:t>Stable mode per non-empty host
Final improvement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28816"/>
            <a:ext cx="393192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B7785"/>
                </a:solidFill>
                <a:latin typeface="Aptos"/>
              </a:rPr>
              <a:t>LAVA reproduction · commit 377cbb1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B7785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02920" cy="34747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D9822B"/>
                </a:solidFill>
                <a:latin typeface="Aptos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56032"/>
            <a:ext cx="105613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233142"/>
                </a:solidFill>
                <a:latin typeface="Aptos"/>
              </a:rPr>
              <a:t>Prediction quality is experimentally controlled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43000"/>
            <a:ext cx="329184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64008" cy="1234440"/>
          </a:xfrm>
          <a:prstGeom prst="rect">
            <a:avLst/>
          </a:prstGeom>
          <a:solidFill>
            <a:srgbClr val="3E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252728"/>
            <a:ext cx="299923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3E7C59"/>
                </a:solidFill>
                <a:latin typeface="Aptos"/>
              </a:rPr>
              <a:t>Correct bucket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618488"/>
            <a:ext cx="2999232" cy="6675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33142"/>
                </a:solidFill>
                <a:latin typeface="Aptos"/>
              </a:rPr>
              <a:t>Log10-domain Gaussian error
σ = 0.001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329184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651760"/>
            <a:ext cx="64008" cy="1234440"/>
          </a:xfrm>
          <a:prstGeom prst="rect">
            <a:avLst/>
          </a:prstGeom>
          <a:solidFill>
            <a:srgbClr val="B6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2761488"/>
            <a:ext cx="299923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B64A4A"/>
                </a:solidFill>
                <a:latin typeface="Aptos"/>
              </a:rPr>
              <a:t>Incorrect bucket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3127248"/>
            <a:ext cx="2999232" cy="6675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33142"/>
                </a:solidFill>
                <a:latin typeface="Aptos"/>
              </a:rPr>
              <a:t>Log10-domain Gaussian error
σ =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160520"/>
            <a:ext cx="329184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160520"/>
            <a:ext cx="64008" cy="1234440"/>
          </a:xfrm>
          <a:prstGeom prst="rect">
            <a:avLst/>
          </a:prstGeom>
          <a:solidFill>
            <a:srgbClr val="2F5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4270248"/>
            <a:ext cx="299923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2F5D8A"/>
                </a:solidFill>
                <a:latin typeface="Aptos"/>
              </a:rPr>
              <a:t>No information leakage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4636008"/>
            <a:ext cx="2999232" cy="6675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233142"/>
                </a:solidFill>
                <a:latin typeface="Aptos"/>
              </a:rPr>
              <a:t>Scheduler sees only the noisy prediction and calibration model—not realized lifetime or hidden bucket.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234440"/>
            <a:ext cx="9144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B64A4A"/>
                </a:solidFill>
                <a:latin typeface="Aptos"/>
              </a:rPr>
              <a:t>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1234440"/>
            <a:ext cx="9144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D9822B"/>
                </a:solidFill>
                <a:latin typeface="Aptos"/>
              </a:rPr>
              <a:t>25%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1234440"/>
            <a:ext cx="9144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2F5D8A"/>
                </a:solidFill>
                <a:latin typeface="Aptos"/>
              </a:rPr>
              <a:t>50%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1234440"/>
            <a:ext cx="9144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3E7C59"/>
                </a:solidFill>
                <a:latin typeface="Aptos"/>
              </a:rPr>
              <a:t>75%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1234440"/>
            <a:ext cx="10972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3E7C59"/>
                </a:solidFill>
                <a:latin typeface="Aptos"/>
              </a:rPr>
              <a:t>100%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349240" y="1444752"/>
            <a:ext cx="548640" cy="0"/>
          </a:xfrm>
          <a:prstGeom prst="line">
            <a:avLst/>
          </a:prstGeom>
          <a:ln w="19050">
            <a:solidFill>
              <a:srgbClr val="6B77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583680" y="1444752"/>
            <a:ext cx="548640" cy="0"/>
          </a:xfrm>
          <a:prstGeom prst="line">
            <a:avLst/>
          </a:prstGeom>
          <a:ln w="19050">
            <a:solidFill>
              <a:srgbClr val="6B77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818120" y="1444752"/>
            <a:ext cx="548640" cy="0"/>
          </a:xfrm>
          <a:prstGeom prst="line">
            <a:avLst/>
          </a:prstGeom>
          <a:ln w="19050">
            <a:solidFill>
              <a:srgbClr val="6B77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052560" y="1444752"/>
            <a:ext cx="548640" cy="0"/>
          </a:xfrm>
          <a:prstGeom prst="line">
            <a:avLst/>
          </a:prstGeom>
          <a:ln w="19050">
            <a:solidFill>
              <a:srgbClr val="6B77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617720" y="2194560"/>
            <a:ext cx="662940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17720" y="2194560"/>
            <a:ext cx="64008" cy="1325880"/>
          </a:xfrm>
          <a:prstGeom prst="rect">
            <a:avLst/>
          </a:prstGeom>
          <a:solidFill>
            <a:srgbClr val="2F5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82312" y="2304288"/>
            <a:ext cx="633679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F5D8A"/>
                </a:solidFill>
                <a:latin typeface="Aptos"/>
              </a:rPr>
              <a:t>Default synthetic predictor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82312" y="2670048"/>
            <a:ext cx="6336792" cy="7589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33142"/>
                </a:solidFill>
                <a:latin typeface="Aptos"/>
              </a:rPr>
              <a:t>Profile-specific two-exponential mixtures estimate E[T−u | T&gt;u] and the probability mass inside the predicted lifetime class.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17720" y="3794760"/>
            <a:ext cx="310896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17720" y="3794760"/>
            <a:ext cx="64008" cy="141732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82312" y="3904488"/>
            <a:ext cx="281635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D9822B"/>
                </a:solidFill>
                <a:latin typeface="Aptos"/>
              </a:rPr>
              <a:t>Strict Oracle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82312" y="4270248"/>
            <a:ext cx="2816352" cy="8503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233142"/>
                </a:solidFill>
                <a:latin typeface="Aptos"/>
              </a:rPr>
              <a:t>Uses realized remaining lifetime to measure algorithmic headroom.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55279" y="3794760"/>
            <a:ext cx="329184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955279" y="3794760"/>
            <a:ext cx="64008" cy="1417320"/>
          </a:xfrm>
          <a:prstGeom prst="rect">
            <a:avLst/>
          </a:prstGeom>
          <a:solidFill>
            <a:srgbClr val="3E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19871" y="3904488"/>
            <a:ext cx="299923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3E7C59"/>
                </a:solidFill>
                <a:latin typeface="Aptos"/>
              </a:rPr>
              <a:t>Statistical protocol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19871" y="4270248"/>
            <a:ext cx="2999232" cy="8503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233142"/>
                </a:solidFill>
                <a:latin typeface="Aptos"/>
              </a:rPr>
              <a:t>20 paired seeds · identical traces · two-sided Student-t 95% CI.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528816"/>
            <a:ext cx="393192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B7785"/>
                </a:solidFill>
                <a:latin typeface="Aptos"/>
              </a:rPr>
              <a:t>LAVA reproduction · commit 377cbb1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B7785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02920" cy="34747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D9822B"/>
                </a:solidFill>
                <a:latin typeface="Aptos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56032"/>
            <a:ext cx="105613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233142"/>
                </a:solidFill>
                <a:latin typeface="Aptos"/>
              </a:rPr>
              <a:t>RQ1 · LAVA requires sufficiently accurate predictions</a:t>
            </a:r>
          </a:p>
        </p:txBody>
      </p:sp>
      <p:pic>
        <p:nvPicPr>
          <p:cNvPr id="4" name="Picture 3" descr="accuracy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78992"/>
            <a:ext cx="7635240" cy="45262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458200" y="1188720"/>
            <a:ext cx="306324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58200" y="1188720"/>
            <a:ext cx="64008" cy="1234440"/>
          </a:xfrm>
          <a:prstGeom prst="rect">
            <a:avLst/>
          </a:prstGeom>
          <a:solidFill>
            <a:srgbClr val="3E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22792" y="1298448"/>
            <a:ext cx="277063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3E7C59"/>
                </a:solidFill>
                <a:latin typeface="Aptos"/>
              </a:rPr>
              <a:t>First significant 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22792" y="1664208"/>
            <a:ext cx="2770632" cy="6675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33142"/>
                </a:solidFill>
                <a:latin typeface="Aptos"/>
              </a:rPr>
              <a:t>85% accuracy
+0.161 pp [0.021, 0.302]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2697480"/>
            <a:ext cx="306324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58200" y="2697480"/>
            <a:ext cx="64008" cy="123444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22792" y="2807208"/>
            <a:ext cx="277063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D9822B"/>
                </a:solidFill>
                <a:latin typeface="Aptos"/>
              </a:rPr>
              <a:t>Default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22792" y="3172968"/>
            <a:ext cx="2770632" cy="6675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33142"/>
                </a:solidFill>
                <a:latin typeface="Aptos"/>
              </a:rPr>
              <a:t>−0.026 pp
CI crosses zero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58200" y="4206240"/>
            <a:ext cx="306324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58200" y="4206240"/>
            <a:ext cx="64008" cy="1234440"/>
          </a:xfrm>
          <a:prstGeom prst="rect">
            <a:avLst/>
          </a:prstGeom>
          <a:solidFill>
            <a:srgbClr val="2F5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22792" y="4315968"/>
            <a:ext cx="277063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2F5D8A"/>
                </a:solidFill>
                <a:latin typeface="Aptos"/>
              </a:rPr>
              <a:t>Oracle headroom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22792" y="4681727"/>
            <a:ext cx="2770632" cy="6675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33142"/>
                </a:solidFill>
                <a:latin typeface="Aptos"/>
              </a:rPr>
              <a:t>+0.721 pp
[0.548, 0.894]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806440"/>
            <a:ext cx="107899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233142"/>
                </a:solidFill>
                <a:latin typeface="Aptos"/>
              </a:rPr>
              <a:t>Prediction quality is not a model-only metric; it changes the scheduler's conclusion.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28816"/>
            <a:ext cx="393192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B7785"/>
                </a:solidFill>
                <a:latin typeface="Aptos"/>
              </a:rPr>
              <a:t>LAVA reproduction · commit 377cbb1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B7785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02920" cy="34747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D9822B"/>
                </a:solidFill>
                <a:latin typeface="Aptos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56032"/>
            <a:ext cx="105613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233142"/>
                </a:solidFill>
                <a:latin typeface="Aptos"/>
              </a:rPr>
              <a:t>The accuracy sweep creates the innovation motive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3108960" cy="6858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3400" b="1">
                <a:solidFill>
                  <a:srgbClr val="D9822B"/>
                </a:solidFill>
                <a:latin typeface="Aptos"/>
              </a:rPr>
              <a:t>−0.026 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3108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6B7785"/>
                </a:solidFill>
                <a:latin typeface="Aptos"/>
              </a:rPr>
              <a:t>Default synthetic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143000"/>
            <a:ext cx="3108960" cy="6858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3400" b="1">
                <a:solidFill>
                  <a:srgbClr val="3E7C59"/>
                </a:solidFill>
                <a:latin typeface="Aptos"/>
              </a:rPr>
              <a:t>+0.721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108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6B7785"/>
                </a:solidFill>
                <a:latin typeface="Aptos"/>
              </a:rPr>
              <a:t>Strict Oracle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143000"/>
            <a:ext cx="2743200" cy="6858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3400" b="1">
                <a:solidFill>
                  <a:srgbClr val="2F5D8A"/>
                </a:solidFill>
                <a:latin typeface="Aptos"/>
              </a:rPr>
              <a:t>85%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828800"/>
            <a:ext cx="27432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6B7785"/>
                </a:solidFill>
                <a:latin typeface="Aptos"/>
              </a:rPr>
              <a:t>First significant controlled level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788920"/>
            <a:ext cx="342900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4008" cy="2057400"/>
          </a:xfrm>
          <a:prstGeom prst="rect">
            <a:avLst/>
          </a:prstGeom>
          <a:solidFill>
            <a:srgbClr val="2F5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898648"/>
            <a:ext cx="313639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2F5D8A"/>
                </a:solidFill>
                <a:latin typeface="Aptos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3264408"/>
            <a:ext cx="3136392" cy="1490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33142"/>
                </a:solidFill>
                <a:latin typeface="Aptos"/>
              </a:rPr>
              <a:t>Accurate lifetime information can help, but the default predictor does not realize that potential.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788920"/>
            <a:ext cx="342900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2788920"/>
            <a:ext cx="64008" cy="2057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3712" y="2898648"/>
            <a:ext cx="313639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D9822B"/>
                </a:solidFill>
                <a:latin typeface="Aptos"/>
              </a:rPr>
              <a:t>Hypothesis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3264408"/>
            <a:ext cx="3136392" cy="1490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33142"/>
                </a:solidFill>
                <a:latin typeface="Aptos"/>
              </a:rPr>
              <a:t>Use prediction confidence to decide when lifetime-aware placement is trustworthy.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2788920"/>
            <a:ext cx="342900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2788920"/>
            <a:ext cx="64008" cy="2057400"/>
          </a:xfrm>
          <a:prstGeom prst="rect">
            <a:avLst/>
          </a:prstGeom>
          <a:solidFill>
            <a:srgbClr val="B6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65592" y="2898648"/>
            <a:ext cx="313639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B64A4A"/>
                </a:solidFill>
                <a:latin typeface="Aptos"/>
              </a:rPr>
              <a:t>Constraint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5592" y="3264408"/>
            <a:ext cx="3136392" cy="1490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33142"/>
                </a:solidFill>
                <a:latin typeface="Aptos"/>
              </a:rPr>
              <a:t>Confidence cannot use realized future lifetime or the injected correct/incorrect label.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623560"/>
            <a:ext cx="103327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233142"/>
                </a:solidFill>
                <a:latin typeface="Aptos"/>
              </a:rPr>
              <a:t>Next question: where should the policy switch live—at the VM or the host?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28816"/>
            <a:ext cx="393192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B7785"/>
                </a:solidFill>
                <a:latin typeface="Aptos"/>
              </a:rPr>
              <a:t>LAVA reproduction · commit 377cbb1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B7785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02920" cy="34747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D9822B"/>
                </a:solidFill>
                <a:latin typeface="Aptos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56032"/>
            <a:ext cx="105613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233142"/>
                </a:solidFill>
                <a:latin typeface="Aptos"/>
              </a:rPr>
              <a:t>Attempt 1 · VM-Level Confidence-Aware LAVA</a:t>
            </a:r>
          </a:p>
        </p:txBody>
      </p:sp>
      <p:pic>
        <p:nvPicPr>
          <p:cNvPr id="4" name="Picture 3" descr="vm_gate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97280"/>
            <a:ext cx="6766560" cy="42976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280160"/>
            <a:ext cx="384048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589520" y="1280160"/>
            <a:ext cx="64008" cy="1143000"/>
          </a:xfrm>
          <a:prstGeom prst="rect">
            <a:avLst/>
          </a:prstGeom>
          <a:solidFill>
            <a:srgbClr val="2F5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54112" y="1389888"/>
            <a:ext cx="354787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F5D8A"/>
                </a:solidFill>
                <a:latin typeface="Aptos"/>
              </a:rPr>
              <a:t>Decision rule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54112" y="1755648"/>
            <a:ext cx="3547872" cy="5760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33142"/>
                </a:solidFill>
                <a:latin typeface="Aptos"/>
              </a:rPr>
              <a:t>High confidence → LAVA
Low confidence → Best-Fit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2697480"/>
            <a:ext cx="384048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89520" y="2697480"/>
            <a:ext cx="64008" cy="11430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54112" y="2807208"/>
            <a:ext cx="354787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D9822B"/>
                </a:solidFill>
                <a:latin typeface="Aptos"/>
              </a:rPr>
              <a:t>Held-out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54112" y="3172968"/>
            <a:ext cx="3547872" cy="5760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33142"/>
                </a:solidFill>
                <a:latin typeface="Aptos"/>
              </a:rPr>
              <a:t>No significant improvement over LAVA. High-quality groups simply pass every VM.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4114800"/>
            <a:ext cx="384048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89520" y="4114800"/>
            <a:ext cx="64008" cy="1143000"/>
          </a:xfrm>
          <a:prstGeom prst="rect">
            <a:avLst/>
          </a:prstGeom>
          <a:solidFill>
            <a:srgbClr val="B6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54112" y="4224528"/>
            <a:ext cx="354787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B64A4A"/>
                </a:solidFill>
                <a:latin typeface="Aptos"/>
              </a:rPr>
              <a:t>Why keep the negative result?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54112" y="4590288"/>
            <a:ext cx="3547872" cy="5760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233142"/>
                </a:solidFill>
                <a:latin typeface="Aptos"/>
              </a:rPr>
              <a:t>It reveals that per-request confidence gating is incompatible with stateful host lifecycle management.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28816"/>
            <a:ext cx="393192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B7785"/>
                </a:solidFill>
                <a:latin typeface="Aptos"/>
              </a:rPr>
              <a:t>LAVA reproduction · commit 377cbb1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B7785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02920" cy="34747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D9822B"/>
                </a:solidFill>
                <a:latin typeface="Aptos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56032"/>
            <a:ext cx="105613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233142"/>
                </a:solidFill>
                <a:latin typeface="Aptos"/>
              </a:rPr>
              <a:t>Failure diagnosis · the policy switch contaminates host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2468880" cy="6583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3100" b="1">
                <a:solidFill>
                  <a:srgbClr val="B64A4A"/>
                </a:solidFill>
                <a:latin typeface="Aptos"/>
              </a:rPr>
              <a:t>252.58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10512"/>
            <a:ext cx="24688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6B7785"/>
                </a:solidFill>
                <a:latin typeface="Aptos"/>
              </a:rPr>
              <a:t>switches per 1,000 VMs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37560" y="1143000"/>
            <a:ext cx="2468880" cy="6583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3100" b="1">
                <a:solidFill>
                  <a:srgbClr val="D9822B"/>
                </a:solidFill>
                <a:latin typeface="Aptos"/>
              </a:rPr>
              <a:t>552.85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1810512"/>
            <a:ext cx="24688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6B7785"/>
                </a:solidFill>
                <a:latin typeface="Aptos"/>
              </a:rPr>
              <a:t>Best-Fit → LAVA host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143000"/>
            <a:ext cx="2468880" cy="6583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3100" b="1">
                <a:solidFill>
                  <a:srgbClr val="2F5D8A"/>
                </a:solidFill>
                <a:latin typeface="Aptos"/>
              </a:rPr>
              <a:t>235.55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810512"/>
            <a:ext cx="24688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6B7785"/>
                </a:solidFill>
                <a:latin typeface="Aptos"/>
              </a:rPr>
              <a:t>LAVA → baseline host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1143000"/>
            <a:ext cx="2468880" cy="6583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3100" b="1">
                <a:solidFill>
                  <a:srgbClr val="3E7C59"/>
                </a:solidFill>
                <a:latin typeface="Aptos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1810512"/>
            <a:ext cx="24688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6B7785"/>
                </a:solidFill>
                <a:latin typeface="Aptos"/>
              </a:rPr>
              <a:t>scheduling failures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788920"/>
            <a:ext cx="516636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788920"/>
            <a:ext cx="64008" cy="1965960"/>
          </a:xfrm>
          <a:prstGeom prst="rect">
            <a:avLst/>
          </a:prstGeom>
          <a:solidFill>
            <a:srgbClr val="B6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2898648"/>
            <a:ext cx="487375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B64A4A"/>
                </a:solidFill>
                <a:latin typeface="Aptos"/>
              </a:rPr>
              <a:t>Mechanism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3264408"/>
            <a:ext cx="4873752" cy="139903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33142"/>
                </a:solidFill>
                <a:latin typeface="Aptos"/>
              </a:rPr>
              <a:t>LAVA assumes hosts represent lifetime cohorts. A low-confidence Best-Fit decision can inject an incompatible VM; later high-confidence decisions cannot undo that history.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788920"/>
            <a:ext cx="516636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2788920"/>
            <a:ext cx="64008" cy="1965960"/>
          </a:xfrm>
          <a:prstGeom prst="rect">
            <a:avLst/>
          </a:prstGeom>
          <a:solidFill>
            <a:srgbClr val="3E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2898648"/>
            <a:ext cx="487375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3E7C59"/>
                </a:solidFill>
                <a:latin typeface="Aptos"/>
              </a:rPr>
              <a:t>New hypothesis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3264408"/>
            <a:ext cx="4873752" cy="139903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33142"/>
                </a:solidFill>
                <a:latin typeface="Aptos"/>
              </a:rPr>
              <a:t>Keep confidence decisions, but isolate their effects: once a host enters baseline or lifetime-aware mode, retain that mode until the host becomes empty.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532120"/>
            <a:ext cx="103327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233142"/>
                </a:solidFill>
                <a:latin typeface="Aptos"/>
              </a:rPr>
              <a:t>The redesign follows measured failure evidence—not a search for favorable parameters.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28816"/>
            <a:ext cx="393192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B7785"/>
                </a:solidFill>
                <a:latin typeface="Aptos"/>
              </a:rPr>
              <a:t>LAVA reproduction · commit 377cbb1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B7785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02920" cy="34747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D9822B"/>
                </a:solidFill>
                <a:latin typeface="Aptos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56032"/>
            <a:ext cx="105613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233142"/>
                </a:solidFill>
                <a:latin typeface="Aptos"/>
              </a:rPr>
              <a:t>Attempt 2 · Host-Level Confidence-Aware LAVA</a:t>
            </a:r>
          </a:p>
        </p:txBody>
      </p:sp>
      <p:pic>
        <p:nvPicPr>
          <p:cNvPr id="4" name="Picture 3" descr="algorithm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05840"/>
            <a:ext cx="7543800" cy="50749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321040" y="1234440"/>
            <a:ext cx="32461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321040" y="1234440"/>
            <a:ext cx="64008" cy="1143000"/>
          </a:xfrm>
          <a:prstGeom prst="rect">
            <a:avLst/>
          </a:prstGeom>
          <a:solidFill>
            <a:srgbClr val="3E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85632" y="1344168"/>
            <a:ext cx="295351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3E7C59"/>
                </a:solidFill>
                <a:latin typeface="Aptos"/>
              </a:rPr>
              <a:t>Stable host mode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85632" y="1709928"/>
            <a:ext cx="2953512" cy="5760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233142"/>
                </a:solidFill>
                <a:latin typeface="Aptos"/>
              </a:rPr>
              <a:t>A non-empty host does not switch between lifetime-aware and baseline scheduling.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2651760"/>
            <a:ext cx="32461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21040" y="2651760"/>
            <a:ext cx="64008" cy="1143000"/>
          </a:xfrm>
          <a:prstGeom prst="rect">
            <a:avLst/>
          </a:prstGeom>
          <a:solidFill>
            <a:srgbClr val="2F5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85632" y="2761488"/>
            <a:ext cx="295351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2F5D8A"/>
                </a:solidFill>
                <a:latin typeface="Aptos"/>
              </a:rPr>
              <a:t>Natural reset 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3127248"/>
            <a:ext cx="2953512" cy="5760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233142"/>
                </a:solidFill>
                <a:latin typeface="Aptos"/>
              </a:rPr>
              <a:t>Mode ends only when the host becomes empty—the same boundary used by LAVA state.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4069080"/>
            <a:ext cx="32461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1040" y="4069080"/>
            <a:ext cx="64008" cy="11430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85632" y="4178808"/>
            <a:ext cx="295351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D9822B"/>
                </a:solidFill>
                <a:latin typeface="Aptos"/>
              </a:rPr>
              <a:t>Admission fairness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4544568"/>
            <a:ext cx="2953512" cy="5760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233142"/>
                </a:solidFill>
                <a:latin typeface="Aptos"/>
              </a:rPr>
              <a:t>Cross-mode placement remains a capacity fallback, so the algorithm does not reject extra VMs.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28816"/>
            <a:ext cx="393192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B7785"/>
                </a:solidFill>
                <a:latin typeface="Aptos"/>
              </a:rPr>
              <a:t>LAVA reproduction · commit 377cbb1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B7785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02920" cy="34747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D9822B"/>
                </a:solidFill>
                <a:latin typeface="Aptos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56032"/>
            <a:ext cx="105613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233142"/>
                </a:solidFill>
                <a:latin typeface="Aptos"/>
              </a:rPr>
              <a:t>Host isolation removes the measured failure mechanism</a:t>
            </a:r>
          </a:p>
        </p:txBody>
      </p:sp>
      <p:pic>
        <p:nvPicPr>
          <p:cNvPr id="4" name="Picture 3" descr="host_mode_interfe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97280"/>
            <a:ext cx="6858000" cy="44348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772400" y="1325880"/>
            <a:ext cx="361188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1325880"/>
            <a:ext cx="64008" cy="1234440"/>
          </a:xfrm>
          <a:prstGeom prst="rect">
            <a:avLst/>
          </a:prstGeom>
          <a:solidFill>
            <a:srgbClr val="2F5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36992" y="1435607"/>
            <a:ext cx="331927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2F5D8A"/>
                </a:solidFill>
                <a:latin typeface="Aptos"/>
              </a:rPr>
              <a:t>Same confidence sequence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801368"/>
            <a:ext cx="3319272" cy="6675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33142"/>
                </a:solidFill>
                <a:latin typeface="Aptos"/>
              </a:rPr>
              <a:t>Both algorithms see 252.58 gate changes per 1,000 VMs.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2788920"/>
            <a:ext cx="361188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0" y="2788920"/>
            <a:ext cx="64008" cy="123444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36992" y="2898648"/>
            <a:ext cx="331927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D9822B"/>
                </a:solidFill>
                <a:latin typeface="Aptos"/>
              </a:rPr>
              <a:t>Only routing changes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36992" y="3264408"/>
            <a:ext cx="3319272" cy="6675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33142"/>
                </a:solidFill>
                <a:latin typeface="Aptos"/>
              </a:rPr>
              <a:t>VM-Level mixes policies inside hosts; Host-Level isolates modes.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4251960"/>
            <a:ext cx="361188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4251960"/>
            <a:ext cx="64008" cy="1234440"/>
          </a:xfrm>
          <a:prstGeom prst="rect">
            <a:avLst/>
          </a:prstGeom>
          <a:solidFill>
            <a:srgbClr val="3E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36992" y="4361688"/>
            <a:ext cx="331927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3E7C59"/>
                </a:solidFill>
                <a:latin typeface="Aptos"/>
              </a:rPr>
              <a:t>Controlled mechanism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36992" y="4727448"/>
            <a:ext cx="3319272" cy="6675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33142"/>
                </a:solidFill>
                <a:latin typeface="Aptos"/>
              </a:rPr>
              <a:t>Cross-mode placements fall from hundreds per trace to zero.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28816"/>
            <a:ext cx="393192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B7785"/>
                </a:solidFill>
                <a:latin typeface="Aptos"/>
              </a:rPr>
              <a:t>LAVA reproduction · commit 377cbb1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B7785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02920" cy="34747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D9822B"/>
                </a:solidFill>
                <a:latin typeface="Aptos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56032"/>
            <a:ext cx="105613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233142"/>
                </a:solidFill>
                <a:latin typeface="Aptos"/>
              </a:rPr>
              <a:t>Final held-out result · significant improvement</a:t>
            </a:r>
          </a:p>
        </p:txBody>
      </p:sp>
      <p:pic>
        <p:nvPicPr>
          <p:cNvPr id="4" name="Picture 3" descr="host_lev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51560"/>
            <a:ext cx="6812280" cy="44805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635240" y="1188720"/>
            <a:ext cx="3749039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35240" y="1188720"/>
            <a:ext cx="64008" cy="1234440"/>
          </a:xfrm>
          <a:prstGeom prst="rect">
            <a:avLst/>
          </a:prstGeom>
          <a:solidFill>
            <a:srgbClr val="3E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9831" y="1298448"/>
            <a:ext cx="345643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3E7C59"/>
                </a:solidFill>
                <a:latin typeface="Aptos"/>
              </a:rPr>
              <a:t>vs Best-Fit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99831" y="1664208"/>
            <a:ext cx="3456432" cy="6675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33142"/>
                </a:solidFill>
                <a:latin typeface="Aptos"/>
              </a:rPr>
              <a:t>+0.241 pp
95% CI [0.125, 0.357]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2697480"/>
            <a:ext cx="3749039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35240" y="2697480"/>
            <a:ext cx="64008" cy="1234440"/>
          </a:xfrm>
          <a:prstGeom prst="rect">
            <a:avLst/>
          </a:prstGeom>
          <a:solidFill>
            <a:srgbClr val="2F5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9831" y="2807208"/>
            <a:ext cx="345643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F5D8A"/>
                </a:solidFill>
                <a:latin typeface="Aptos"/>
              </a:rPr>
              <a:t>vs original LAVA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9831" y="3172968"/>
            <a:ext cx="3456432" cy="6675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33142"/>
                </a:solidFill>
                <a:latin typeface="Aptos"/>
              </a:rPr>
              <a:t>+0.285 pp
95% CI [0.112, 0.459]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4206240"/>
            <a:ext cx="3749039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35240" y="4206240"/>
            <a:ext cx="64008" cy="123444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99831" y="4315968"/>
            <a:ext cx="345643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D9822B"/>
                </a:solidFill>
                <a:latin typeface="Aptos"/>
              </a:rPr>
              <a:t>vs VM-Level CA-LAVA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9831" y="4681727"/>
            <a:ext cx="3456432" cy="6675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33142"/>
                </a:solidFill>
                <a:latin typeface="Aptos"/>
              </a:rPr>
              <a:t>+0.190 pp
95% CI [0.004, 0.375]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806440"/>
            <a:ext cx="106070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6B7785"/>
                </a:solidFill>
                <a:latin typeface="Aptos"/>
              </a:rPr>
              <a:t>New test seeds 20–39 · threshold fixed on validation seeds 200–205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28816"/>
            <a:ext cx="393192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B7785"/>
                </a:solidFill>
                <a:latin typeface="Aptos"/>
              </a:rPr>
              <a:t>LAVA reproduction · commit 377cbb1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B7785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02920" cy="34747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D9822B"/>
                </a:solidFill>
                <a:latin typeface="Aptos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56032"/>
            <a:ext cx="105613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233142"/>
                </a:solidFill>
                <a:latin typeface="Aptos"/>
              </a:rPr>
              <a:t>Ablation, controls, and limitations</a:t>
            </a:r>
          </a:p>
        </p:txBody>
      </p:sp>
      <p:pic>
        <p:nvPicPr>
          <p:cNvPr id="4" name="Picture 3" descr="threshold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5897880" cy="3840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720840" y="1143000"/>
            <a:ext cx="224028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20840" y="1143000"/>
            <a:ext cx="64008" cy="1371600"/>
          </a:xfrm>
          <a:prstGeom prst="rect">
            <a:avLst/>
          </a:prstGeom>
          <a:solidFill>
            <a:srgbClr val="2F5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85431" y="1252728"/>
            <a:ext cx="194767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2F5D8A"/>
                </a:solidFill>
                <a:latin typeface="Aptos"/>
              </a:rPr>
              <a:t>Validation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85431" y="1618488"/>
            <a:ext cx="1947672" cy="8046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233142"/>
                </a:solidFill>
                <a:latin typeface="Aptos"/>
              </a:rPr>
              <a:t>τ = 0.3 selected before final test.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89720" y="1143000"/>
            <a:ext cx="233172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89720" y="1143000"/>
            <a:ext cx="64008" cy="1371600"/>
          </a:xfrm>
          <a:prstGeom prst="rect">
            <a:avLst/>
          </a:prstGeom>
          <a:solidFill>
            <a:srgbClr val="3E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54312" y="1252728"/>
            <a:ext cx="203911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3E7C59"/>
                </a:solidFill>
                <a:latin typeface="Aptos"/>
              </a:rPr>
              <a:t>Fair admission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54312" y="1618488"/>
            <a:ext cx="2039112" cy="8046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233142"/>
                </a:solidFill>
                <a:latin typeface="Aptos"/>
              </a:rPr>
              <a:t>0 failures; equal accepted VMs; no oversubscription.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2743200"/>
            <a:ext cx="224028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20840" y="2743200"/>
            <a:ext cx="64008" cy="13716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85431" y="2852928"/>
            <a:ext cx="194767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D9822B"/>
                </a:solidFill>
                <a:latin typeface="Aptos"/>
              </a:rPr>
              <a:t>Preserved gains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85431" y="3218688"/>
            <a:ext cx="1947672" cy="8046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233142"/>
                </a:solidFill>
                <a:latin typeface="Aptos"/>
              </a:rPr>
              <a:t>Host-Level equals LAVA at 50%+ and Oracle.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2743200"/>
            <a:ext cx="233172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89720" y="2743200"/>
            <a:ext cx="64008" cy="1371600"/>
          </a:xfrm>
          <a:prstGeom prst="rect">
            <a:avLst/>
          </a:prstGeom>
          <a:solidFill>
            <a:srgbClr val="B6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54312" y="2852928"/>
            <a:ext cx="203911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B64A4A"/>
                </a:solidFill>
                <a:latin typeface="Aptos"/>
              </a:rPr>
              <a:t>Main limitation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54312" y="3218688"/>
            <a:ext cx="2039112" cy="8046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233142"/>
                </a:solidFill>
                <a:latin typeface="Aptos"/>
              </a:rPr>
              <a:t>Synthetic traces and only three predictor profiles.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0840" y="4343400"/>
            <a:ext cx="480060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20840" y="4343400"/>
            <a:ext cx="64008" cy="1097280"/>
          </a:xfrm>
          <a:prstGeom prst="rect">
            <a:avLst/>
          </a:prstGeom>
          <a:solidFill>
            <a:srgbClr val="2F5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85431" y="4453128"/>
            <a:ext cx="450799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2F5D8A"/>
                </a:solidFill>
                <a:latin typeface="Aptos"/>
              </a:rPr>
              <a:t>Claim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85431" y="4818888"/>
            <a:ext cx="4507992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233142"/>
                </a:solidFill>
                <a:latin typeface="Aptos"/>
              </a:rPr>
              <a:t>Mechanistic synthetic evidence—not a numerical reproduction of Google's production deployment.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28816"/>
            <a:ext cx="393192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B7785"/>
                </a:solidFill>
                <a:latin typeface="Aptos"/>
              </a:rPr>
              <a:t>LAVA reproduction · commit 377cbb1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B7785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02920" cy="34747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D9822B"/>
                </a:solidFill>
                <a:latin typeface="Aptos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56032"/>
            <a:ext cx="105613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233142"/>
                </a:solidFill>
                <a:latin typeface="Aptos"/>
              </a:rPr>
              <a:t>Takeaways</a:t>
            </a:r>
          </a:p>
        </p:txBody>
      </p:sp>
      <p:pic>
        <p:nvPicPr>
          <p:cNvPr id="4" name="Picture 3" descr="research_ar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51560"/>
            <a:ext cx="6629400" cy="3429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43800" y="1143000"/>
            <a:ext cx="388620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543800" y="1143000"/>
            <a:ext cx="64008" cy="1143000"/>
          </a:xfrm>
          <a:prstGeom prst="rect">
            <a:avLst/>
          </a:prstGeom>
          <a:solidFill>
            <a:srgbClr val="2F5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08392" y="1252728"/>
            <a:ext cx="359359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2F5D8A"/>
                </a:solidFill>
                <a:latin typeface="Aptos"/>
              </a:rPr>
              <a:t>1 · Prediction quality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08392" y="1618488"/>
            <a:ext cx="3593592" cy="5760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233142"/>
                </a:solidFill>
                <a:latin typeface="Aptos"/>
              </a:rPr>
              <a:t>85% is the first tested significant LAVA point; Oracle reveals larger headroom.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2514600"/>
            <a:ext cx="388620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43800" y="2514600"/>
            <a:ext cx="64008" cy="11430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08392" y="2624328"/>
            <a:ext cx="359359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D9822B"/>
                </a:solidFill>
                <a:latin typeface="Aptos"/>
              </a:rPr>
              <a:t>2 · Uncertainty alone is insufficient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08392" y="2990088"/>
            <a:ext cx="3593592" cy="5760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233142"/>
                </a:solidFill>
                <a:latin typeface="Aptos"/>
              </a:rPr>
              <a:t>VM-level confidence gating does not significantly improve LAVA.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3886200"/>
            <a:ext cx="388620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43800" y="3886200"/>
            <a:ext cx="64008" cy="1143000"/>
          </a:xfrm>
          <a:prstGeom prst="rect">
            <a:avLst/>
          </a:prstGeom>
          <a:solidFill>
            <a:srgbClr val="3E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08392" y="3995928"/>
            <a:ext cx="359359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3E7C59"/>
                </a:solidFill>
                <a:latin typeface="Aptos"/>
              </a:rPr>
              <a:t>3 · Match policy to state granularity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4361688"/>
            <a:ext cx="3593592" cy="5760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233142"/>
                </a:solidFill>
                <a:latin typeface="Aptos"/>
              </a:rPr>
              <a:t>Host-level isolation turns the same confidence sequence into a significant gain.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623560"/>
            <a:ext cx="1065276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233142"/>
                </a:solidFill>
                <a:latin typeface="Aptos"/>
              </a:rPr>
              <a:t>Prediction uncertainty becomes actionable only when the control policy preserves host-level state.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28816"/>
            <a:ext cx="393192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B7785"/>
                </a:solidFill>
                <a:latin typeface="Aptos"/>
              </a:rPr>
              <a:t>LAVA reproduction · commit 377cbb1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B7785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